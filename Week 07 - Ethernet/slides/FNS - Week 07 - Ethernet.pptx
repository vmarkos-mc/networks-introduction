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5143500" cx="9144000"/>
  <p:notesSz cx="6858000" cy="9144000"/>
  <p:embeddedFontLst>
    <p:embeddedFont>
      <p:font typeface="Raleway"/>
      <p:regular r:id="rId52"/>
      <p:bold r:id="rId53"/>
      <p:italic r:id="rId54"/>
      <p:boldItalic r:id="rId55"/>
    </p:embeddedFont>
    <p:embeddedFont>
      <p:font typeface="Lato"/>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0" roundtripDataSignature="AMtx7mgnQFViQwR976z43VXtxFOy+5m7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C60715-47B6-4866-A46D-6CA47C33E79F}">
  <a:tblStyle styleId="{FFC60715-47B6-4866-A46D-6CA47C33E79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customschemas.google.com/relationships/presentationmetadata" Target="meta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Raleway-bold.fntdata"/><Relationship Id="rId52" Type="http://schemas.openxmlformats.org/officeDocument/2006/relationships/font" Target="fonts/Raleway-regular.fntdata"/><Relationship Id="rId11" Type="http://schemas.openxmlformats.org/officeDocument/2006/relationships/slide" Target="slides/slide5.xml"/><Relationship Id="rId55" Type="http://schemas.openxmlformats.org/officeDocument/2006/relationships/font" Target="fonts/Raleway-boldItalic.fntdata"/><Relationship Id="rId10" Type="http://schemas.openxmlformats.org/officeDocument/2006/relationships/slide" Target="slides/slide4.xml"/><Relationship Id="rId54" Type="http://schemas.openxmlformats.org/officeDocument/2006/relationships/font" Target="fonts/Raleway-italic.fntdata"/><Relationship Id="rId13" Type="http://schemas.openxmlformats.org/officeDocument/2006/relationships/slide" Target="slides/slide7.xml"/><Relationship Id="rId57" Type="http://schemas.openxmlformats.org/officeDocument/2006/relationships/font" Target="fonts/Lato-bold.fntdata"/><Relationship Id="rId12" Type="http://schemas.openxmlformats.org/officeDocument/2006/relationships/slide" Target="slides/slide6.xml"/><Relationship Id="rId56" Type="http://schemas.openxmlformats.org/officeDocument/2006/relationships/font" Target="fonts/Lato-regular.fntdata"/><Relationship Id="rId15" Type="http://schemas.openxmlformats.org/officeDocument/2006/relationships/slide" Target="slides/slide9.xml"/><Relationship Id="rId59" Type="http://schemas.openxmlformats.org/officeDocument/2006/relationships/font" Target="fonts/Lato-boldItalic.fntdata"/><Relationship Id="rId14" Type="http://schemas.openxmlformats.org/officeDocument/2006/relationships/slide" Target="slides/slide8.xml"/><Relationship Id="rId58" Type="http://schemas.openxmlformats.org/officeDocument/2006/relationships/font" Target="fonts/Lat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9" name="Google Shape;419;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6" name="Google Shape;42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6" name="Google Shape;446;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3" name="Google Shape;453;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47"/>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47"/>
          <p:cNvGrpSpPr/>
          <p:nvPr/>
        </p:nvGrpSpPr>
        <p:grpSpPr>
          <a:xfrm>
            <a:off x="830392" y="1191256"/>
            <a:ext cx="745763" cy="45826"/>
            <a:chOff x="4580561" y="2589004"/>
            <a:chExt cx="1064464" cy="25200"/>
          </a:xfrm>
        </p:grpSpPr>
        <p:sp>
          <p:nvSpPr>
            <p:cNvPr id="12" name="Google Shape;12;p4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4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47"/>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Font typeface="Lato"/>
              <a:buNone/>
              <a:defRPr sz="4200">
                <a:latin typeface="Lato"/>
                <a:ea typeface="Lato"/>
                <a:cs typeface="Lato"/>
                <a:sym typeface="Lato"/>
              </a:defRPr>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47"/>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4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
        <p:nvSpPr>
          <p:cNvPr id="17" name="Google Shape;17;p47"/>
          <p:cNvSpPr txBox="1"/>
          <p:nvPr/>
        </p:nvSpPr>
        <p:spPr>
          <a:xfrm>
            <a:off x="6590950" y="3866975"/>
            <a:ext cx="1945500" cy="73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8" name="Google Shape;18;p47"/>
          <p:cNvSpPr txBox="1"/>
          <p:nvPr>
            <p:ph idx="2" type="subTitle"/>
          </p:nvPr>
        </p:nvSpPr>
        <p:spPr>
          <a:xfrm>
            <a:off x="6057025" y="3821800"/>
            <a:ext cx="2360700" cy="1121700"/>
          </a:xfrm>
          <a:prstGeom prst="rect">
            <a:avLst/>
          </a:prstGeom>
          <a:noFill/>
          <a:ln>
            <a:noFill/>
          </a:ln>
        </p:spPr>
        <p:txBody>
          <a:bodyPr anchorCtr="0" anchor="t" bIns="91425" lIns="91425" spcFirstLastPara="1" rIns="91425" wrap="square" tIns="91425">
            <a:normAutofit/>
          </a:bodyPr>
          <a:lstStyle>
            <a:lvl1pPr lvl="0" algn="r">
              <a:lnSpc>
                <a:spcPct val="115000"/>
              </a:lnSpc>
              <a:spcBef>
                <a:spcPts val="0"/>
              </a:spcBef>
              <a:spcAft>
                <a:spcPts val="0"/>
              </a:spcAft>
              <a:buSzPts val="1300"/>
              <a:buNone/>
              <a:defRPr/>
            </a:lvl1pPr>
            <a:lvl2pPr lvl="1" algn="l">
              <a:lnSpc>
                <a:spcPct val="115000"/>
              </a:lnSpc>
              <a:spcBef>
                <a:spcPts val="0"/>
              </a:spcBef>
              <a:spcAft>
                <a:spcPts val="0"/>
              </a:spcAft>
              <a:buSzPts val="1100"/>
              <a:buNone/>
              <a:defRPr/>
            </a:lvl2pPr>
            <a:lvl3pPr lvl="2" algn="l">
              <a:lnSpc>
                <a:spcPct val="115000"/>
              </a:lnSpc>
              <a:spcBef>
                <a:spcPts val="0"/>
              </a:spcBef>
              <a:spcAft>
                <a:spcPts val="0"/>
              </a:spcAft>
              <a:buSzPts val="1100"/>
              <a:buNone/>
              <a:defRPr/>
            </a:lvl3pPr>
            <a:lvl4pPr lvl="3" algn="l">
              <a:lnSpc>
                <a:spcPct val="115000"/>
              </a:lnSpc>
              <a:spcBef>
                <a:spcPts val="0"/>
              </a:spcBef>
              <a:spcAft>
                <a:spcPts val="0"/>
              </a:spcAft>
              <a:buSzPts val="1100"/>
              <a:buNone/>
              <a:defRPr/>
            </a:lvl4pPr>
            <a:lvl5pPr lvl="4" algn="l">
              <a:lnSpc>
                <a:spcPct val="115000"/>
              </a:lnSpc>
              <a:spcBef>
                <a:spcPts val="0"/>
              </a:spcBef>
              <a:spcAft>
                <a:spcPts val="0"/>
              </a:spcAft>
              <a:buSzPts val="1100"/>
              <a:buNone/>
              <a:defRPr/>
            </a:lvl5pPr>
            <a:lvl6pPr lvl="5" algn="l">
              <a:lnSpc>
                <a:spcPct val="115000"/>
              </a:lnSpc>
              <a:spcBef>
                <a:spcPts val="0"/>
              </a:spcBef>
              <a:spcAft>
                <a:spcPts val="0"/>
              </a:spcAft>
              <a:buSzPts val="1100"/>
              <a:buNone/>
              <a:defRPr/>
            </a:lvl6pPr>
            <a:lvl7pPr lvl="6" algn="l">
              <a:lnSpc>
                <a:spcPct val="115000"/>
              </a:lnSpc>
              <a:spcBef>
                <a:spcPts val="0"/>
              </a:spcBef>
              <a:spcAft>
                <a:spcPts val="0"/>
              </a:spcAft>
              <a:buSzPts val="1100"/>
              <a:buNone/>
              <a:defRPr/>
            </a:lvl7pPr>
            <a:lvl8pPr lvl="7" algn="l">
              <a:lnSpc>
                <a:spcPct val="115000"/>
              </a:lnSpc>
              <a:spcBef>
                <a:spcPts val="0"/>
              </a:spcBef>
              <a:spcAft>
                <a:spcPts val="0"/>
              </a:spcAft>
              <a:buSzPts val="1100"/>
              <a:buNone/>
              <a:defRPr/>
            </a:lvl8pPr>
            <a:lvl9pPr lvl="8" algn="l">
              <a:lnSpc>
                <a:spcPct val="115000"/>
              </a:lnSpc>
              <a:spcBef>
                <a:spcPts val="0"/>
              </a:spcBef>
              <a:spcAft>
                <a:spcPts val="0"/>
              </a:spcAft>
              <a:buSzPts val="11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48"/>
          <p:cNvGrpSpPr/>
          <p:nvPr/>
        </p:nvGrpSpPr>
        <p:grpSpPr>
          <a:xfrm>
            <a:off x="830392" y="1191256"/>
            <a:ext cx="745763" cy="45826"/>
            <a:chOff x="4580561" y="2589004"/>
            <a:chExt cx="1064464" cy="25200"/>
          </a:xfrm>
        </p:grpSpPr>
        <p:sp>
          <p:nvSpPr>
            <p:cNvPr id="21" name="Google Shape;21;p4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4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48"/>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Font typeface="Lato"/>
              <a:buNone/>
              <a:defRPr sz="3600">
                <a:solidFill>
                  <a:schemeClr val="lt1"/>
                </a:solidFill>
                <a:latin typeface="Lato"/>
                <a:ea typeface="Lato"/>
                <a:cs typeface="Lato"/>
                <a:sym typeface="Lato"/>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4" name="Google Shape;24;p4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ύριο μέρος - Προσοχή! 1">
  <p:cSld name="TITLE_AND_BODY_1_1_1">
    <p:bg>
      <p:bgPr>
        <a:solidFill>
          <a:schemeClr val="lt2"/>
        </a:solidFill>
      </p:bgPr>
    </p:bg>
    <p:spTree>
      <p:nvGrpSpPr>
        <p:cNvPr id="25" name="Shape 25"/>
        <p:cNvGrpSpPr/>
        <p:nvPr/>
      </p:nvGrpSpPr>
      <p:grpSpPr>
        <a:xfrm>
          <a:off x="0" y="0"/>
          <a:ext cx="0" cy="0"/>
          <a:chOff x="0" y="0"/>
          <a:chExt cx="0" cy="0"/>
        </a:xfrm>
      </p:grpSpPr>
      <p:sp>
        <p:nvSpPr>
          <p:cNvPr id="26" name="Google Shape;26;p49"/>
          <p:cNvSpPr/>
          <p:nvPr/>
        </p:nvSpPr>
        <p:spPr>
          <a:xfrm>
            <a:off x="0" y="0"/>
            <a:ext cx="9144000" cy="4878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l" sz="1400" u="none" cap="none" strike="noStrike">
                <a:solidFill>
                  <a:schemeClr val="lt1"/>
                </a:solidFill>
                <a:latin typeface="Arial"/>
                <a:ea typeface="Arial"/>
                <a:cs typeface="Arial"/>
                <a:sym typeface="Arial"/>
              </a:rPr>
              <a:t>Quick Revision</a:t>
            </a:r>
            <a:endParaRPr b="1" i="0" sz="1400" u="none" cap="none" strike="noStrike">
              <a:solidFill>
                <a:schemeClr val="lt1"/>
              </a:solidFill>
              <a:latin typeface="Arial"/>
              <a:ea typeface="Arial"/>
              <a:cs typeface="Arial"/>
              <a:sym typeface="Arial"/>
            </a:endParaRPr>
          </a:p>
        </p:txBody>
      </p:sp>
      <p:grpSp>
        <p:nvGrpSpPr>
          <p:cNvPr id="27" name="Google Shape;27;p49"/>
          <p:cNvGrpSpPr/>
          <p:nvPr/>
        </p:nvGrpSpPr>
        <p:grpSpPr>
          <a:xfrm>
            <a:off x="830392" y="1191256"/>
            <a:ext cx="745763" cy="45826"/>
            <a:chOff x="4580561" y="2589004"/>
            <a:chExt cx="1064464" cy="25200"/>
          </a:xfrm>
        </p:grpSpPr>
        <p:sp>
          <p:nvSpPr>
            <p:cNvPr id="28" name="Google Shape;28;p4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49"/>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1" name="Google Shape;31;p49"/>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2" name="Google Shape;32;p4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 name="Shape 33"/>
        <p:cNvGrpSpPr/>
        <p:nvPr/>
      </p:nvGrpSpPr>
      <p:grpSpPr>
        <a:xfrm>
          <a:off x="0" y="0"/>
          <a:ext cx="0" cy="0"/>
          <a:chOff x="0" y="0"/>
          <a:chExt cx="0" cy="0"/>
        </a:xfrm>
      </p:grpSpPr>
      <p:sp>
        <p:nvSpPr>
          <p:cNvPr id="34" name="Google Shape;34;p5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 name="Google Shape;35;p50"/>
          <p:cNvGrpSpPr/>
          <p:nvPr/>
        </p:nvGrpSpPr>
        <p:grpSpPr>
          <a:xfrm>
            <a:off x="830392" y="1191256"/>
            <a:ext cx="745763" cy="45826"/>
            <a:chOff x="4580561" y="2589004"/>
            <a:chExt cx="1064464" cy="25200"/>
          </a:xfrm>
        </p:grpSpPr>
        <p:sp>
          <p:nvSpPr>
            <p:cNvPr id="36" name="Google Shape;36;p5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5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 name="Google Shape;38;p50"/>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9" name="Google Shape;39;p50"/>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0" name="Google Shape;40;p5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5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3" name="Google Shape;43;p51"/>
          <p:cNvGrpSpPr/>
          <p:nvPr/>
        </p:nvGrpSpPr>
        <p:grpSpPr>
          <a:xfrm>
            <a:off x="830392" y="1191256"/>
            <a:ext cx="745763" cy="45826"/>
            <a:chOff x="4580561" y="2589004"/>
            <a:chExt cx="1064464" cy="25200"/>
          </a:xfrm>
        </p:grpSpPr>
        <p:sp>
          <p:nvSpPr>
            <p:cNvPr id="44" name="Google Shape;44;p5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 name="Google Shape;46;p51"/>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7" name="Google Shape;47;p51"/>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48" name="Google Shape;48;p51"/>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9" name="Google Shape;49;p5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ύριο μέρος - Εκτός ύλης">
  <p:cSld name="TITLE_AND_BODY_1">
    <p:bg>
      <p:bgPr>
        <a:solidFill>
          <a:schemeClr val="lt2"/>
        </a:solidFill>
      </p:bgPr>
    </p:bg>
    <p:spTree>
      <p:nvGrpSpPr>
        <p:cNvPr id="50" name="Shape 50"/>
        <p:cNvGrpSpPr/>
        <p:nvPr/>
      </p:nvGrpSpPr>
      <p:grpSpPr>
        <a:xfrm>
          <a:off x="0" y="0"/>
          <a:ext cx="0" cy="0"/>
          <a:chOff x="0" y="0"/>
          <a:chExt cx="0" cy="0"/>
        </a:xfrm>
      </p:grpSpPr>
      <p:sp>
        <p:nvSpPr>
          <p:cNvPr id="51" name="Google Shape;51;p52"/>
          <p:cNvSpPr/>
          <p:nvPr/>
        </p:nvSpPr>
        <p:spPr>
          <a:xfrm>
            <a:off x="0" y="0"/>
            <a:ext cx="9144000" cy="4878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l" sz="1400" u="none" cap="none" strike="noStrike">
                <a:solidFill>
                  <a:schemeClr val="lt1"/>
                </a:solidFill>
                <a:latin typeface="Arial"/>
                <a:ea typeface="Arial"/>
                <a:cs typeface="Arial"/>
                <a:sym typeface="Arial"/>
              </a:rPr>
              <a:t>Not relevant for the assessment of the module!</a:t>
            </a:r>
            <a:endParaRPr b="1" i="0" sz="1400" u="none" cap="none" strike="noStrike">
              <a:solidFill>
                <a:schemeClr val="lt1"/>
              </a:solidFill>
              <a:latin typeface="Arial"/>
              <a:ea typeface="Arial"/>
              <a:cs typeface="Arial"/>
              <a:sym typeface="Arial"/>
            </a:endParaRPr>
          </a:p>
        </p:txBody>
      </p:sp>
      <p:grpSp>
        <p:nvGrpSpPr>
          <p:cNvPr id="52" name="Google Shape;52;p52"/>
          <p:cNvGrpSpPr/>
          <p:nvPr/>
        </p:nvGrpSpPr>
        <p:grpSpPr>
          <a:xfrm>
            <a:off x="830392" y="1191256"/>
            <a:ext cx="745763" cy="45826"/>
            <a:chOff x="4580561" y="2589004"/>
            <a:chExt cx="1064464" cy="25200"/>
          </a:xfrm>
        </p:grpSpPr>
        <p:sp>
          <p:nvSpPr>
            <p:cNvPr id="53" name="Google Shape;53;p5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5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5" name="Google Shape;55;p52"/>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6" name="Google Shape;56;p52"/>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7" name="Google Shape;57;p5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ύριο μέρος - Προσοχή!">
  <p:cSld name="TITLE_AND_BODY_1_1">
    <p:bg>
      <p:bgPr>
        <a:solidFill>
          <a:schemeClr val="lt2"/>
        </a:solidFill>
      </p:bgPr>
    </p:bg>
    <p:spTree>
      <p:nvGrpSpPr>
        <p:cNvPr id="58" name="Shape 58"/>
        <p:cNvGrpSpPr/>
        <p:nvPr/>
      </p:nvGrpSpPr>
      <p:grpSpPr>
        <a:xfrm>
          <a:off x="0" y="0"/>
          <a:ext cx="0" cy="0"/>
          <a:chOff x="0" y="0"/>
          <a:chExt cx="0" cy="0"/>
        </a:xfrm>
      </p:grpSpPr>
      <p:sp>
        <p:nvSpPr>
          <p:cNvPr id="59" name="Google Shape;59;p53"/>
          <p:cNvSpPr/>
          <p:nvPr/>
        </p:nvSpPr>
        <p:spPr>
          <a:xfrm>
            <a:off x="0" y="0"/>
            <a:ext cx="9144000" cy="487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l" sz="1400" u="none" cap="none" strike="noStrike">
                <a:solidFill>
                  <a:schemeClr val="lt1"/>
                </a:solidFill>
                <a:latin typeface="Arial"/>
                <a:ea typeface="Arial"/>
                <a:cs typeface="Arial"/>
                <a:sym typeface="Arial"/>
              </a:rPr>
              <a:t>Heads up!</a:t>
            </a:r>
            <a:endParaRPr b="1" i="0" sz="1400" u="none" cap="none" strike="noStrike">
              <a:solidFill>
                <a:schemeClr val="lt1"/>
              </a:solidFill>
              <a:latin typeface="Arial"/>
              <a:ea typeface="Arial"/>
              <a:cs typeface="Arial"/>
              <a:sym typeface="Arial"/>
            </a:endParaRPr>
          </a:p>
        </p:txBody>
      </p:sp>
      <p:grpSp>
        <p:nvGrpSpPr>
          <p:cNvPr id="60" name="Google Shape;60;p53"/>
          <p:cNvGrpSpPr/>
          <p:nvPr/>
        </p:nvGrpSpPr>
        <p:grpSpPr>
          <a:xfrm>
            <a:off x="830392" y="1191256"/>
            <a:ext cx="745763" cy="45826"/>
            <a:chOff x="4580561" y="2589004"/>
            <a:chExt cx="1064464" cy="25200"/>
          </a:xfrm>
        </p:grpSpPr>
        <p:sp>
          <p:nvSpPr>
            <p:cNvPr id="61" name="Google Shape;61;p5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5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 name="Google Shape;63;p53"/>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4" name="Google Shape;64;p53"/>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5" name="Google Shape;65;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6" name="Shape 66"/>
        <p:cNvGrpSpPr/>
        <p:nvPr/>
      </p:nvGrpSpPr>
      <p:grpSpPr>
        <a:xfrm>
          <a:off x="0" y="0"/>
          <a:ext cx="0" cy="0"/>
          <a:chOff x="0" y="0"/>
          <a:chExt cx="0" cy="0"/>
        </a:xfrm>
      </p:grpSpPr>
      <p:sp>
        <p:nvSpPr>
          <p:cNvPr id="67" name="Google Shape;67;p5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8" name="Google Shape;68;p54"/>
          <p:cNvGrpSpPr/>
          <p:nvPr/>
        </p:nvGrpSpPr>
        <p:grpSpPr>
          <a:xfrm>
            <a:off x="830392" y="1191256"/>
            <a:ext cx="745763" cy="45826"/>
            <a:chOff x="4580561" y="2589004"/>
            <a:chExt cx="1064464" cy="25200"/>
          </a:xfrm>
        </p:grpSpPr>
        <p:sp>
          <p:nvSpPr>
            <p:cNvPr id="69" name="Google Shape;69;p5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5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1" name="Google Shape;71;p54"/>
          <p:cNvSpPr txBox="1"/>
          <p:nvPr>
            <p:ph type="title"/>
          </p:nvPr>
        </p:nvSpPr>
        <p:spPr>
          <a:xfrm>
            <a:off x="727800" y="571925"/>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2" name="Google Shape;72;p54"/>
          <p:cNvSpPr txBox="1"/>
          <p:nvPr>
            <p:ph idx="1" type="body"/>
          </p:nvPr>
        </p:nvSpPr>
        <p:spPr>
          <a:xfrm>
            <a:off x="729325" y="1474150"/>
            <a:ext cx="3774300" cy="286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3" name="Google Shape;73;p54"/>
          <p:cNvSpPr txBox="1"/>
          <p:nvPr>
            <p:ph idx="2" type="body"/>
          </p:nvPr>
        </p:nvSpPr>
        <p:spPr>
          <a:xfrm>
            <a:off x="4643600" y="1474075"/>
            <a:ext cx="3774300" cy="286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4" name="Google Shape;74;p5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5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7" name="Google Shape;77;p55"/>
          <p:cNvGrpSpPr/>
          <p:nvPr/>
        </p:nvGrpSpPr>
        <p:grpSpPr>
          <a:xfrm>
            <a:off x="830392" y="1191256"/>
            <a:ext cx="745763" cy="45826"/>
            <a:chOff x="4580561" y="2589004"/>
            <a:chExt cx="1064464" cy="25200"/>
          </a:xfrm>
        </p:grpSpPr>
        <p:sp>
          <p:nvSpPr>
            <p:cNvPr id="78" name="Google Shape;78;p5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5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0" name="Google Shape;80;p55"/>
          <p:cNvSpPr txBox="1"/>
          <p:nvPr>
            <p:ph type="title"/>
          </p:nvPr>
        </p:nvSpPr>
        <p:spPr>
          <a:xfrm>
            <a:off x="727800" y="571925"/>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81" name="Google Shape;81;p5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2" name="Shape 82"/>
        <p:cNvGrpSpPr/>
        <p:nvPr/>
      </p:nvGrpSpPr>
      <p:grpSpPr>
        <a:xfrm>
          <a:off x="0" y="0"/>
          <a:ext cx="0" cy="0"/>
          <a:chOff x="0" y="0"/>
          <a:chExt cx="0" cy="0"/>
        </a:xfrm>
      </p:grpSpPr>
      <p:sp>
        <p:nvSpPr>
          <p:cNvPr id="83" name="Google Shape;83;p5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4" name="Google Shape;84;p56"/>
          <p:cNvGrpSpPr/>
          <p:nvPr/>
        </p:nvGrpSpPr>
        <p:grpSpPr>
          <a:xfrm>
            <a:off x="830392" y="1191256"/>
            <a:ext cx="745763" cy="45826"/>
            <a:chOff x="4580561" y="2589004"/>
            <a:chExt cx="1064464" cy="25200"/>
          </a:xfrm>
        </p:grpSpPr>
        <p:sp>
          <p:nvSpPr>
            <p:cNvPr id="85" name="Google Shape;85;p5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5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7" name="Google Shape;87;p56"/>
          <p:cNvSpPr txBox="1"/>
          <p:nvPr>
            <p:ph type="title"/>
          </p:nvPr>
        </p:nvSpPr>
        <p:spPr>
          <a:xfrm>
            <a:off x="721225" y="523413"/>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Font typeface="Lato"/>
              <a:buNone/>
              <a:defRPr sz="2600">
                <a:latin typeface="Lato"/>
                <a:ea typeface="Lato"/>
                <a:cs typeface="Lato"/>
                <a:sym typeface="Lato"/>
              </a:defRPr>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88" name="Google Shape;88;p56"/>
          <p:cNvSpPr txBox="1"/>
          <p:nvPr>
            <p:ph idx="1" type="body"/>
          </p:nvPr>
        </p:nvSpPr>
        <p:spPr>
          <a:xfrm>
            <a:off x="721225" y="1452775"/>
            <a:ext cx="3300900" cy="2926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89" name="Google Shape;89;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90" name="Shape 90"/>
        <p:cNvGrpSpPr/>
        <p:nvPr/>
      </p:nvGrpSpPr>
      <p:grpSpPr>
        <a:xfrm>
          <a:off x="0" y="0"/>
          <a:ext cx="0" cy="0"/>
          <a:chOff x="0" y="0"/>
          <a:chExt cx="0" cy="0"/>
        </a:xfrm>
      </p:grpSpPr>
      <p:grpSp>
        <p:nvGrpSpPr>
          <p:cNvPr id="91" name="Google Shape;91;p57"/>
          <p:cNvGrpSpPr/>
          <p:nvPr/>
        </p:nvGrpSpPr>
        <p:grpSpPr>
          <a:xfrm>
            <a:off x="830392" y="4169130"/>
            <a:ext cx="745763" cy="45826"/>
            <a:chOff x="4580561" y="2589004"/>
            <a:chExt cx="1064464" cy="25200"/>
          </a:xfrm>
        </p:grpSpPr>
        <p:sp>
          <p:nvSpPr>
            <p:cNvPr id="92" name="Google Shape;92;p5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5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4" name="Google Shape;94;p57"/>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Font typeface="Lato"/>
              <a:buNone/>
              <a:defRPr sz="3600">
                <a:solidFill>
                  <a:schemeClr val="lt1"/>
                </a:solidFill>
                <a:latin typeface="Lato"/>
                <a:ea typeface="Lato"/>
                <a:cs typeface="Lato"/>
                <a:sym typeface="Lato"/>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95" name="Google Shape;95;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6" name="Shape 96"/>
        <p:cNvGrpSpPr/>
        <p:nvPr/>
      </p:nvGrpSpPr>
      <p:grpSpPr>
        <a:xfrm>
          <a:off x="0" y="0"/>
          <a:ext cx="0" cy="0"/>
          <a:chOff x="0" y="0"/>
          <a:chExt cx="0" cy="0"/>
        </a:xfrm>
      </p:grpSpPr>
      <p:sp>
        <p:nvSpPr>
          <p:cNvPr id="97" name="Google Shape;97;p58"/>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98" name="Google Shape;98;p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99" name="Shape 99"/>
        <p:cNvGrpSpPr/>
        <p:nvPr/>
      </p:nvGrpSpPr>
      <p:grpSpPr>
        <a:xfrm>
          <a:off x="0" y="0"/>
          <a:ext cx="0" cy="0"/>
          <a:chOff x="0" y="0"/>
          <a:chExt cx="0" cy="0"/>
        </a:xfrm>
      </p:grpSpPr>
      <p:grpSp>
        <p:nvGrpSpPr>
          <p:cNvPr id="100" name="Google Shape;100;p59"/>
          <p:cNvGrpSpPr/>
          <p:nvPr/>
        </p:nvGrpSpPr>
        <p:grpSpPr>
          <a:xfrm>
            <a:off x="830392" y="4169130"/>
            <a:ext cx="745763" cy="45826"/>
            <a:chOff x="4580561" y="2589004"/>
            <a:chExt cx="1064464" cy="25200"/>
          </a:xfrm>
        </p:grpSpPr>
        <p:sp>
          <p:nvSpPr>
            <p:cNvPr id="101" name="Google Shape;101;p59"/>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59"/>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 name="Google Shape;103;p59"/>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Font typeface="Lato"/>
              <a:buNone/>
              <a:defRPr sz="8000">
                <a:solidFill>
                  <a:schemeClr val="lt1"/>
                </a:solidFill>
                <a:latin typeface="Lato"/>
                <a:ea typeface="Lato"/>
                <a:cs typeface="Lato"/>
                <a:sym typeface="Lato"/>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104" name="Google Shape;104;p59"/>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105" name="Google Shape;105;p5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6" name="Shape 106"/>
        <p:cNvGrpSpPr/>
        <p:nvPr/>
      </p:nvGrpSpPr>
      <p:grpSpPr>
        <a:xfrm>
          <a:off x="0" y="0"/>
          <a:ext cx="0" cy="0"/>
          <a:chOff x="0" y="0"/>
          <a:chExt cx="0" cy="0"/>
        </a:xfrm>
      </p:grpSpPr>
      <p:sp>
        <p:nvSpPr>
          <p:cNvPr id="107" name="Google Shape;107;p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4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4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hyperlink" Target="https://www.learnabhi.com/difference-between-utp-stp-coaxial-and-fiber-optic-cable/" TargetMode="Externa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hyperlink" Target="https://en.wikipedia.org/wiki/Total_internal_reflection" TargetMode="Externa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hyperlink" Target="https://www.youtube.com/watch?v=nlKu93Gb6GQ&amp;list=PLvUOx2WG6R7PlKlERb5zceXxHfC4P7gJn"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hyperlink" Target="https://skillsforall.com/course/getting-started-cisco-packet-tracer" TargetMode="External"/><Relationship Id="rId4" Type="http://schemas.openxmlformats.org/officeDocument/2006/relationships/hyperlink" Target="https://skillsforall.com/course/exploring-networking-cisco-packet-tracer?courseLang=en-US" TargetMode="External"/><Relationship Id="rId5" Type="http://schemas.openxmlformats.org/officeDocument/2006/relationships/hyperlink" Target="https://skillsforall.com/course/exploring-iot-cisco-packet-tracer?courseLang=en-US" TargetMode="External"/><Relationship Id="rId6" Type="http://schemas.openxmlformats.org/officeDocument/2006/relationships/hyperlink" Target="https://skillsforall.com/career-path/network-technician?courseLang=en-U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hyperlink" Target="https://forms.gle/6q2tuByroaan8kWH8" TargetMode="External"/><Relationship Id="rId4" Type="http://schemas.openxmlformats.org/officeDocument/2006/relationships/hyperlink" Target="https://forms.gle/6q2tuByroaan8kWH8" TargetMode="External"/><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l"/>
              <a:t>Fundamentals of Networks and Security</a:t>
            </a:r>
            <a:endParaRPr/>
          </a:p>
        </p:txBody>
      </p:sp>
      <p:sp>
        <p:nvSpPr>
          <p:cNvPr id="113" name="Google Shape;113;p1"/>
          <p:cNvSpPr txBox="1"/>
          <p:nvPr>
            <p:ph idx="1" type="subTitle"/>
          </p:nvPr>
        </p:nvSpPr>
        <p:spPr>
          <a:xfrm>
            <a:off x="729625" y="3172900"/>
            <a:ext cx="7688100" cy="828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l"/>
              <a:t>Vassilis Markos</a:t>
            </a:r>
            <a:endParaRPr/>
          </a:p>
          <a:p>
            <a:pPr indent="0" lvl="0" marL="0" rtl="0" algn="l">
              <a:lnSpc>
                <a:spcPct val="100000"/>
              </a:lnSpc>
              <a:spcBef>
                <a:spcPts val="0"/>
              </a:spcBef>
              <a:spcAft>
                <a:spcPts val="0"/>
              </a:spcAft>
              <a:buSzPts val="1600"/>
              <a:buNone/>
            </a:pPr>
            <a:r>
              <a:rPr lang="el"/>
              <a:t>Mediterranean College</a:t>
            </a:r>
            <a:endParaRPr/>
          </a:p>
        </p:txBody>
      </p:sp>
      <p:sp>
        <p:nvSpPr>
          <p:cNvPr id="114" name="Google Shape;114;p1"/>
          <p:cNvSpPr txBox="1"/>
          <p:nvPr/>
        </p:nvSpPr>
        <p:spPr>
          <a:xfrm>
            <a:off x="6029600" y="4001275"/>
            <a:ext cx="2388000" cy="6162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Lato"/>
              <a:ea typeface="Lato"/>
              <a:cs typeface="Lato"/>
              <a:sym typeface="Lato"/>
            </a:endParaRPr>
          </a:p>
        </p:txBody>
      </p:sp>
      <p:sp>
        <p:nvSpPr>
          <p:cNvPr id="115" name="Google Shape;115;p1"/>
          <p:cNvSpPr txBox="1"/>
          <p:nvPr>
            <p:ph idx="2" type="subTitle"/>
          </p:nvPr>
        </p:nvSpPr>
        <p:spPr>
          <a:xfrm>
            <a:off x="6057025" y="3821800"/>
            <a:ext cx="2360700" cy="1121700"/>
          </a:xfrm>
          <a:prstGeom prst="rect">
            <a:avLst/>
          </a:prstGeom>
          <a:noFill/>
          <a:ln>
            <a:noFill/>
          </a:ln>
        </p:spPr>
        <p:txBody>
          <a:bodyPr anchorCtr="0" anchor="t" bIns="91425" lIns="91425" spcFirstLastPara="1" rIns="91425" wrap="square" tIns="91425">
            <a:normAutofit/>
          </a:bodyPr>
          <a:lstStyle/>
          <a:p>
            <a:pPr indent="0" lvl="0" marL="0" rtl="0" algn="r">
              <a:lnSpc>
                <a:spcPct val="115000"/>
              </a:lnSpc>
              <a:spcBef>
                <a:spcPts val="0"/>
              </a:spcBef>
              <a:spcAft>
                <a:spcPts val="1200"/>
              </a:spcAft>
              <a:buSzPts val="1300"/>
              <a:buNone/>
            </a:pPr>
            <a:r>
              <a:rPr lang="el"/>
              <a:t>Week 07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l"/>
              <a:t>A Quick Revision</a:t>
            </a:r>
            <a:endParaRPr/>
          </a:p>
        </p:txBody>
      </p:sp>
      <p:sp>
        <p:nvSpPr>
          <p:cNvPr id="121" name="Google Shape;121;p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last time… 1 / n</a:t>
            </a:r>
            <a:endParaRPr/>
          </a:p>
        </p:txBody>
      </p:sp>
      <p:sp>
        <p:nvSpPr>
          <p:cNvPr id="127" name="Google Shape;127;p3"/>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Name some things to consider when buying network equipment.</a:t>
            </a:r>
            <a:endParaRPr b="1"/>
          </a:p>
          <a:p>
            <a:pPr indent="0" lvl="0" marL="457200" rtl="0" algn="l">
              <a:lnSpc>
                <a:spcPct val="115000"/>
              </a:lnSpc>
              <a:spcBef>
                <a:spcPts val="1200"/>
              </a:spcBef>
              <a:spcAft>
                <a:spcPts val="0"/>
              </a:spcAft>
              <a:buSzPts val="1600"/>
              <a:buNone/>
            </a:pPr>
            <a:r>
              <a:rPr lang="el"/>
              <a:t>A few things to take into account are:</a:t>
            </a:r>
            <a:endParaRPr/>
          </a:p>
          <a:p>
            <a:pPr indent="-330200" lvl="0" marL="914400" rtl="0" algn="l">
              <a:lnSpc>
                <a:spcPct val="115000"/>
              </a:lnSpc>
              <a:spcBef>
                <a:spcPts val="1200"/>
              </a:spcBef>
              <a:spcAft>
                <a:spcPts val="0"/>
              </a:spcAft>
              <a:buSzPts val="1600"/>
              <a:buChar char="○"/>
            </a:pPr>
            <a:r>
              <a:rPr lang="el"/>
              <a:t>Cost</a:t>
            </a:r>
            <a:endParaRPr/>
          </a:p>
          <a:p>
            <a:pPr indent="-330200" lvl="0" marL="914400" rtl="0" algn="l">
              <a:lnSpc>
                <a:spcPct val="115000"/>
              </a:lnSpc>
              <a:spcBef>
                <a:spcPts val="0"/>
              </a:spcBef>
              <a:spcAft>
                <a:spcPts val="0"/>
              </a:spcAft>
              <a:buSzPts val="1600"/>
              <a:buChar char="○"/>
            </a:pPr>
            <a:r>
              <a:rPr lang="el"/>
              <a:t>Connectivity (e.g., ports on switches / routers)</a:t>
            </a:r>
            <a:endParaRPr/>
          </a:p>
          <a:p>
            <a:pPr indent="-330200" lvl="0" marL="914400" rtl="0" algn="l">
              <a:lnSpc>
                <a:spcPct val="115000"/>
              </a:lnSpc>
              <a:spcBef>
                <a:spcPts val="0"/>
              </a:spcBef>
              <a:spcAft>
                <a:spcPts val="0"/>
              </a:spcAft>
              <a:buSzPts val="1600"/>
              <a:buChar char="○"/>
            </a:pPr>
            <a:r>
              <a:rPr lang="el"/>
              <a:t>Availability</a:t>
            </a:r>
            <a:endParaRPr/>
          </a:p>
          <a:p>
            <a:pPr indent="-330200" lvl="0" marL="914400" rtl="0" algn="l">
              <a:lnSpc>
                <a:spcPct val="115000"/>
              </a:lnSpc>
              <a:spcBef>
                <a:spcPts val="0"/>
              </a:spcBef>
              <a:spcAft>
                <a:spcPts val="0"/>
              </a:spcAft>
              <a:buSzPts val="1600"/>
              <a:buChar char="○"/>
            </a:pPr>
            <a:r>
              <a:rPr lang="el"/>
              <a:t>Usability</a:t>
            </a:r>
            <a:endParaRPr/>
          </a:p>
          <a:p>
            <a:pPr indent="-330200" lvl="0" marL="914400" rtl="0" algn="l">
              <a:lnSpc>
                <a:spcPct val="115000"/>
              </a:lnSpc>
              <a:spcBef>
                <a:spcPts val="0"/>
              </a:spcBef>
              <a:spcAft>
                <a:spcPts val="0"/>
              </a:spcAft>
              <a:buSzPts val="1600"/>
              <a:buChar char="○"/>
            </a:pPr>
            <a:r>
              <a:rPr lang="el"/>
              <a:t>The future.</a:t>
            </a:r>
            <a:endParaRPr/>
          </a:p>
        </p:txBody>
      </p:sp>
      <p:sp>
        <p:nvSpPr>
          <p:cNvPr id="128" name="Google Shape;128;p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4"/>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last time… 2 / n</a:t>
            </a:r>
            <a:endParaRPr/>
          </a:p>
        </p:txBody>
      </p:sp>
      <p:sp>
        <p:nvSpPr>
          <p:cNvPr id="134" name="Google Shape;134;p4"/>
          <p:cNvSpPr txBox="1"/>
          <p:nvPr>
            <p:ph idx="1" type="body"/>
          </p:nvPr>
        </p:nvSpPr>
        <p:spPr>
          <a:xfrm>
            <a:off x="729450" y="1378000"/>
            <a:ext cx="7688700" cy="37656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Why install a firewall between two departments of the same business?</a:t>
            </a:r>
            <a:endParaRPr b="1"/>
          </a:p>
          <a:p>
            <a:pPr indent="0" lvl="0" marL="457200" rtl="0" algn="l">
              <a:lnSpc>
                <a:spcPct val="115000"/>
              </a:lnSpc>
              <a:spcBef>
                <a:spcPts val="1200"/>
              </a:spcBef>
              <a:spcAft>
                <a:spcPts val="0"/>
              </a:spcAft>
              <a:buSzPts val="1600"/>
              <a:buNone/>
            </a:pPr>
            <a:r>
              <a:rPr lang="el"/>
              <a:t>Some reasons include:</a:t>
            </a:r>
            <a:endParaRPr/>
          </a:p>
          <a:p>
            <a:pPr indent="-330200" lvl="1" marL="914400" rtl="0" algn="l">
              <a:lnSpc>
                <a:spcPct val="115000"/>
              </a:lnSpc>
              <a:spcBef>
                <a:spcPts val="1200"/>
              </a:spcBef>
              <a:spcAft>
                <a:spcPts val="0"/>
              </a:spcAft>
              <a:buSzPts val="1600"/>
              <a:buChar char="○"/>
            </a:pPr>
            <a:r>
              <a:rPr lang="el"/>
              <a:t>To avoid potential damage at one place spreading to others.</a:t>
            </a:r>
            <a:endParaRPr/>
          </a:p>
          <a:p>
            <a:pPr indent="-330200" lvl="1" marL="914400" rtl="0" algn="l">
              <a:lnSpc>
                <a:spcPct val="115000"/>
              </a:lnSpc>
              <a:spcBef>
                <a:spcPts val="0"/>
              </a:spcBef>
              <a:spcAft>
                <a:spcPts val="0"/>
              </a:spcAft>
              <a:buSzPts val="1600"/>
              <a:buChar char="○"/>
            </a:pPr>
            <a:r>
              <a:rPr lang="el"/>
              <a:t>To avoid internal breaches.</a:t>
            </a:r>
            <a:endParaRPr/>
          </a:p>
          <a:p>
            <a:pPr indent="-330200" lvl="1" marL="914400" rtl="0" algn="l">
              <a:lnSpc>
                <a:spcPct val="115000"/>
              </a:lnSpc>
              <a:spcBef>
                <a:spcPts val="0"/>
              </a:spcBef>
              <a:spcAft>
                <a:spcPts val="0"/>
              </a:spcAft>
              <a:buSzPts val="1600"/>
              <a:buChar char="○"/>
            </a:pPr>
            <a:r>
              <a:rPr lang="el"/>
              <a:t>To ensure people at your business do (only) what they are supposed to.</a:t>
            </a:r>
            <a:endParaRPr/>
          </a:p>
          <a:p>
            <a:pPr indent="-330200" lvl="0" marL="457200" rtl="0" algn="l">
              <a:lnSpc>
                <a:spcPct val="115000"/>
              </a:lnSpc>
              <a:spcBef>
                <a:spcPts val="0"/>
              </a:spcBef>
              <a:spcAft>
                <a:spcPts val="0"/>
              </a:spcAft>
              <a:buSzPts val="1600"/>
              <a:buChar char="●"/>
            </a:pPr>
            <a:r>
              <a:rPr b="1" lang="el"/>
              <a:t>How to protect network devices against physical damage?</a:t>
            </a:r>
            <a:endParaRPr b="1"/>
          </a:p>
          <a:p>
            <a:pPr indent="0" lvl="0" marL="0" rtl="0" algn="l">
              <a:lnSpc>
                <a:spcPct val="115000"/>
              </a:lnSpc>
              <a:spcBef>
                <a:spcPts val="1200"/>
              </a:spcBef>
              <a:spcAft>
                <a:spcPts val="0"/>
              </a:spcAft>
              <a:buSzPts val="1600"/>
              <a:buNone/>
            </a:pPr>
            <a:r>
              <a:rPr lang="el"/>
              <a:t>	Some ways are:</a:t>
            </a:r>
            <a:endParaRPr/>
          </a:p>
          <a:p>
            <a:pPr indent="-330200" lvl="1" marL="914400" rtl="0" algn="l">
              <a:lnSpc>
                <a:spcPct val="115000"/>
              </a:lnSpc>
              <a:spcBef>
                <a:spcPts val="1200"/>
              </a:spcBef>
              <a:spcAft>
                <a:spcPts val="0"/>
              </a:spcAft>
              <a:buSzPts val="1600"/>
              <a:buChar char="○"/>
            </a:pPr>
            <a:r>
              <a:rPr lang="el"/>
              <a:t>Physical containers (put your precious machines in protective boxes)</a:t>
            </a:r>
            <a:endParaRPr/>
          </a:p>
          <a:p>
            <a:pPr indent="-330200" lvl="1" marL="914400" rtl="0" algn="l">
              <a:lnSpc>
                <a:spcPct val="115000"/>
              </a:lnSpc>
              <a:spcBef>
                <a:spcPts val="0"/>
              </a:spcBef>
              <a:spcAft>
                <a:spcPts val="0"/>
              </a:spcAft>
              <a:buSzPts val="1600"/>
              <a:buChar char="○"/>
            </a:pPr>
            <a:r>
              <a:rPr lang="el"/>
              <a:t>Choose places with limited access (e.g., areas where you can observe, or where there is no free access or where access is noticeable).</a:t>
            </a:r>
            <a:endParaRPr/>
          </a:p>
        </p:txBody>
      </p:sp>
      <p:sp>
        <p:nvSpPr>
          <p:cNvPr id="135" name="Google Shape;135;p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last time… 3 / n</a:t>
            </a:r>
            <a:endParaRPr/>
          </a:p>
        </p:txBody>
      </p:sp>
      <p:sp>
        <p:nvSpPr>
          <p:cNvPr id="141" name="Google Shape;141;p5"/>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Which things you should consider when placing equipment?</a:t>
            </a:r>
            <a:endParaRPr b="1"/>
          </a:p>
          <a:p>
            <a:pPr indent="0" lvl="0" marL="0" rtl="0" algn="l">
              <a:lnSpc>
                <a:spcPct val="115000"/>
              </a:lnSpc>
              <a:spcBef>
                <a:spcPts val="1200"/>
              </a:spcBef>
              <a:spcAft>
                <a:spcPts val="0"/>
              </a:spcAft>
              <a:buSzPts val="1600"/>
              <a:buNone/>
            </a:pPr>
            <a:r>
              <a:rPr lang="el"/>
              <a:t>	Some important things include:</a:t>
            </a:r>
            <a:endParaRPr/>
          </a:p>
          <a:p>
            <a:pPr indent="-330200" lvl="0" marL="914400" rtl="0" algn="l">
              <a:lnSpc>
                <a:spcPct val="115000"/>
              </a:lnSpc>
              <a:spcBef>
                <a:spcPts val="1200"/>
              </a:spcBef>
              <a:spcAft>
                <a:spcPts val="0"/>
              </a:spcAft>
              <a:buSzPts val="1600"/>
              <a:buChar char="○"/>
            </a:pPr>
            <a:r>
              <a:rPr lang="el"/>
              <a:t>Heat and voltage.</a:t>
            </a:r>
            <a:endParaRPr/>
          </a:p>
          <a:p>
            <a:pPr indent="-330200" lvl="0" marL="914400" rtl="0" algn="l">
              <a:lnSpc>
                <a:spcPct val="115000"/>
              </a:lnSpc>
              <a:spcBef>
                <a:spcPts val="0"/>
              </a:spcBef>
              <a:spcAft>
                <a:spcPts val="0"/>
              </a:spcAft>
              <a:buSzPts val="1600"/>
              <a:buChar char="○"/>
            </a:pPr>
            <a:r>
              <a:rPr lang="el"/>
              <a:t>Physical distance.</a:t>
            </a:r>
            <a:endParaRPr/>
          </a:p>
          <a:p>
            <a:pPr indent="-330200" lvl="0" marL="914400" rtl="0" algn="l">
              <a:lnSpc>
                <a:spcPct val="115000"/>
              </a:lnSpc>
              <a:spcBef>
                <a:spcPts val="0"/>
              </a:spcBef>
              <a:spcAft>
                <a:spcPts val="0"/>
              </a:spcAft>
              <a:buSzPts val="1600"/>
              <a:buChar char="○"/>
            </a:pPr>
            <a:r>
              <a:rPr lang="el"/>
              <a:t>Cost and complexity.</a:t>
            </a:r>
            <a:endParaRPr/>
          </a:p>
          <a:p>
            <a:pPr indent="-330200" lvl="0" marL="914400" rtl="0" algn="l">
              <a:lnSpc>
                <a:spcPct val="115000"/>
              </a:lnSpc>
              <a:spcBef>
                <a:spcPts val="0"/>
              </a:spcBef>
              <a:spcAft>
                <a:spcPts val="0"/>
              </a:spcAft>
              <a:buSzPts val="1600"/>
              <a:buChar char="○"/>
            </a:pPr>
            <a:r>
              <a:rPr lang="el"/>
              <a:t>RFI / EMI.</a:t>
            </a:r>
            <a:endParaRPr/>
          </a:p>
          <a:p>
            <a:pPr indent="-330200" lvl="0" marL="914400" rtl="0" algn="l">
              <a:lnSpc>
                <a:spcPct val="115000"/>
              </a:lnSpc>
              <a:spcBef>
                <a:spcPts val="0"/>
              </a:spcBef>
              <a:spcAft>
                <a:spcPts val="0"/>
              </a:spcAft>
              <a:buSzPts val="1600"/>
              <a:buChar char="○"/>
            </a:pPr>
            <a:r>
              <a:rPr lang="el"/>
              <a:t>Reliability.</a:t>
            </a:r>
            <a:endParaRPr/>
          </a:p>
        </p:txBody>
      </p:sp>
      <p:sp>
        <p:nvSpPr>
          <p:cNvPr id="142" name="Google Shape;142;p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6"/>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last time… 4 / n</a:t>
            </a:r>
            <a:endParaRPr/>
          </a:p>
        </p:txBody>
      </p:sp>
      <p:sp>
        <p:nvSpPr>
          <p:cNvPr id="148" name="Google Shape;148;p6"/>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Best and worst practices about trunking include…</a:t>
            </a:r>
            <a:endParaRPr b="1"/>
          </a:p>
          <a:p>
            <a:pPr indent="0" lvl="0" marL="0" rtl="0" algn="l">
              <a:lnSpc>
                <a:spcPct val="115000"/>
              </a:lnSpc>
              <a:spcBef>
                <a:spcPts val="1200"/>
              </a:spcBef>
              <a:spcAft>
                <a:spcPts val="0"/>
              </a:spcAft>
              <a:buSzPts val="1600"/>
              <a:buNone/>
            </a:pPr>
            <a:r>
              <a:t/>
            </a:r>
            <a:endParaRPr b="1"/>
          </a:p>
          <a:p>
            <a:pPr indent="-330200" lvl="1" marL="914400" rtl="0" algn="l">
              <a:lnSpc>
                <a:spcPct val="115000"/>
              </a:lnSpc>
              <a:spcBef>
                <a:spcPts val="1200"/>
              </a:spcBef>
              <a:spcAft>
                <a:spcPts val="0"/>
              </a:spcAft>
              <a:buSzPts val="1600"/>
              <a:buChar char="○"/>
            </a:pPr>
            <a:r>
              <a:rPr lang="el"/>
              <a:t>Passing a trunk through a wall to connect adjacent rooms.</a:t>
            </a:r>
            <a:endParaRPr/>
          </a:p>
          <a:p>
            <a:pPr indent="-330200" lvl="1" marL="914400" rtl="0" algn="l">
              <a:lnSpc>
                <a:spcPct val="115000"/>
              </a:lnSpc>
              <a:spcBef>
                <a:spcPts val="0"/>
              </a:spcBef>
              <a:spcAft>
                <a:spcPts val="0"/>
              </a:spcAft>
              <a:buSzPts val="1600"/>
              <a:buChar char="○"/>
            </a:pPr>
            <a:r>
              <a:rPr lang="el"/>
              <a:t>You can do so through a ceiling to connect adjacent floors.</a:t>
            </a:r>
            <a:endParaRPr/>
          </a:p>
          <a:p>
            <a:pPr indent="-330200" lvl="1" marL="914400" rtl="0" algn="l">
              <a:lnSpc>
                <a:spcPct val="115000"/>
              </a:lnSpc>
              <a:spcBef>
                <a:spcPts val="0"/>
              </a:spcBef>
              <a:spcAft>
                <a:spcPts val="0"/>
              </a:spcAft>
              <a:buSzPts val="1600"/>
              <a:buChar char="○"/>
            </a:pPr>
            <a:r>
              <a:rPr lang="el"/>
              <a:t>You cannot do so through doors (guess why).</a:t>
            </a:r>
            <a:endParaRPr/>
          </a:p>
          <a:p>
            <a:pPr indent="-330200" lvl="1" marL="914400" rtl="0" algn="l">
              <a:lnSpc>
                <a:spcPct val="115000"/>
              </a:lnSpc>
              <a:spcBef>
                <a:spcPts val="0"/>
              </a:spcBef>
              <a:spcAft>
                <a:spcPts val="0"/>
              </a:spcAft>
              <a:buSzPts val="1600"/>
              <a:buChar char="○"/>
            </a:pPr>
            <a:r>
              <a:rPr lang="el"/>
              <a:t>Take advantage of </a:t>
            </a:r>
            <a:r>
              <a:rPr b="1" lang="el"/>
              <a:t>ceiling voids! </a:t>
            </a:r>
            <a:r>
              <a:rPr lang="el"/>
              <a:t>(the gap between the actual and false ceilings).</a:t>
            </a:r>
            <a:endParaRPr/>
          </a:p>
          <a:p>
            <a:pPr indent="0" lvl="0" marL="0" rtl="0" algn="l">
              <a:lnSpc>
                <a:spcPct val="115000"/>
              </a:lnSpc>
              <a:spcBef>
                <a:spcPts val="1200"/>
              </a:spcBef>
              <a:spcAft>
                <a:spcPts val="1200"/>
              </a:spcAft>
              <a:buSzPts val="1600"/>
              <a:buNone/>
            </a:pPr>
            <a:r>
              <a:t/>
            </a:r>
            <a:endParaRPr/>
          </a:p>
        </p:txBody>
      </p:sp>
      <p:sp>
        <p:nvSpPr>
          <p:cNvPr id="149" name="Google Shape;149;p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7"/>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l"/>
              <a:t>Ethernet Protocol</a:t>
            </a:r>
            <a:endParaRPr/>
          </a:p>
        </p:txBody>
      </p:sp>
      <p:sp>
        <p:nvSpPr>
          <p:cNvPr id="155" name="Google Shape;155;p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8"/>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Ethernet Protocol (802.3)</a:t>
            </a:r>
            <a:endParaRPr/>
          </a:p>
        </p:txBody>
      </p:sp>
      <p:sp>
        <p:nvSpPr>
          <p:cNvPr id="161" name="Google Shape;161;p8"/>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Ethernet Protocol → LAN (the most popular choice)</a:t>
            </a:r>
            <a:endParaRPr/>
          </a:p>
          <a:p>
            <a:pPr indent="-330200" lvl="0" marL="457200" rtl="0" algn="l">
              <a:lnSpc>
                <a:spcPct val="115000"/>
              </a:lnSpc>
              <a:spcBef>
                <a:spcPts val="0"/>
              </a:spcBef>
              <a:spcAft>
                <a:spcPts val="0"/>
              </a:spcAft>
              <a:buSzPts val="1600"/>
              <a:buChar char="●"/>
            </a:pPr>
            <a:r>
              <a:rPr lang="el"/>
              <a:t>In which layers do you think Ethernet operates?</a:t>
            </a:r>
            <a:endParaRPr/>
          </a:p>
          <a:p>
            <a:pPr indent="-330200" lvl="1" marL="914400" rtl="0" algn="l">
              <a:lnSpc>
                <a:spcPct val="115000"/>
              </a:lnSpc>
              <a:spcBef>
                <a:spcPts val="0"/>
              </a:spcBef>
              <a:spcAft>
                <a:spcPts val="0"/>
              </a:spcAft>
              <a:buSzPts val="1600"/>
              <a:buChar char="○"/>
            </a:pPr>
            <a:r>
              <a:rPr lang="el"/>
              <a:t>Layer 1 (physical), since it is related signal transmission (remember the cables?)</a:t>
            </a:r>
            <a:endParaRPr/>
          </a:p>
          <a:p>
            <a:pPr indent="-330200" lvl="1" marL="914400" rtl="0" algn="l">
              <a:lnSpc>
                <a:spcPct val="115000"/>
              </a:lnSpc>
              <a:spcBef>
                <a:spcPts val="0"/>
              </a:spcBef>
              <a:spcAft>
                <a:spcPts val="0"/>
              </a:spcAft>
              <a:buSzPts val="1600"/>
              <a:buChar char="○"/>
            </a:pPr>
            <a:r>
              <a:rPr lang="el"/>
              <a:t>Layer 2 (data link), since it connects physical devices (implements the LAN).</a:t>
            </a:r>
            <a:endParaRPr/>
          </a:p>
          <a:p>
            <a:pPr indent="-330200" lvl="0" marL="457200" rtl="0" algn="l">
              <a:lnSpc>
                <a:spcPct val="115000"/>
              </a:lnSpc>
              <a:spcBef>
                <a:spcPts val="0"/>
              </a:spcBef>
              <a:spcAft>
                <a:spcPts val="0"/>
              </a:spcAft>
              <a:buSzPts val="1600"/>
              <a:buChar char="●"/>
            </a:pPr>
            <a:r>
              <a:rPr lang="el"/>
              <a:t>Supported bandwidths: 10/100/1,000/10,000/40,000/100,000 Mbps.</a:t>
            </a:r>
            <a:endParaRPr/>
          </a:p>
        </p:txBody>
      </p:sp>
      <p:sp>
        <p:nvSpPr>
          <p:cNvPr id="162" name="Google Shape;162;p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9"/>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Cables (Once again)</a:t>
            </a:r>
            <a:endParaRPr/>
          </a:p>
        </p:txBody>
      </p:sp>
      <p:sp>
        <p:nvSpPr>
          <p:cNvPr id="168" name="Google Shape;168;p9"/>
          <p:cNvSpPr txBox="1"/>
          <p:nvPr>
            <p:ph idx="1" type="body"/>
          </p:nvPr>
        </p:nvSpPr>
        <p:spPr>
          <a:xfrm>
            <a:off x="729450" y="1378000"/>
            <a:ext cx="7688700" cy="1239900"/>
          </a:xfrm>
          <a:prstGeom prst="rect">
            <a:avLst/>
          </a:prstGeom>
          <a:noFill/>
          <a:ln>
            <a:noFill/>
          </a:ln>
        </p:spPr>
        <p:txBody>
          <a:bodyPr anchorCtr="0" anchor="t" bIns="91425" lIns="91425" spcFirstLastPara="1" rIns="91425" wrap="square" tIns="91425">
            <a:normAutofit lnSpcReduction="10000"/>
          </a:bodyPr>
          <a:lstStyle/>
          <a:p>
            <a:pPr indent="-330200" lvl="0" marL="457200" rtl="0" algn="l">
              <a:lnSpc>
                <a:spcPct val="115000"/>
              </a:lnSpc>
              <a:spcBef>
                <a:spcPts val="0"/>
              </a:spcBef>
              <a:spcAft>
                <a:spcPts val="0"/>
              </a:spcAft>
              <a:buSzPts val="1600"/>
              <a:buChar char="●"/>
            </a:pPr>
            <a:r>
              <a:rPr lang="el"/>
              <a:t>UTP: Unshielded Twisted Pair cables</a:t>
            </a:r>
            <a:endParaRPr/>
          </a:p>
          <a:p>
            <a:pPr indent="-330200" lvl="0" marL="457200" rtl="0" algn="l">
              <a:lnSpc>
                <a:spcPct val="115000"/>
              </a:lnSpc>
              <a:spcBef>
                <a:spcPts val="0"/>
              </a:spcBef>
              <a:spcAft>
                <a:spcPts val="0"/>
              </a:spcAft>
              <a:buSzPts val="1600"/>
              <a:buChar char="●"/>
            </a:pPr>
            <a:r>
              <a:rPr lang="el"/>
              <a:t>STP: Shielded Twisted Pair cables</a:t>
            </a:r>
            <a:endParaRPr/>
          </a:p>
          <a:p>
            <a:pPr indent="-330200" lvl="0" marL="457200" rtl="0" algn="l">
              <a:lnSpc>
                <a:spcPct val="115000"/>
              </a:lnSpc>
              <a:spcBef>
                <a:spcPts val="0"/>
              </a:spcBef>
              <a:spcAft>
                <a:spcPts val="0"/>
              </a:spcAft>
              <a:buSzPts val="1600"/>
              <a:buChar char="●"/>
            </a:pPr>
            <a:r>
              <a:rPr lang="el"/>
              <a:t>Coax: Coaxial Cables</a:t>
            </a:r>
            <a:endParaRPr/>
          </a:p>
          <a:p>
            <a:pPr indent="-330200" lvl="0" marL="457200" rtl="0" algn="l">
              <a:lnSpc>
                <a:spcPct val="115000"/>
              </a:lnSpc>
              <a:spcBef>
                <a:spcPts val="0"/>
              </a:spcBef>
              <a:spcAft>
                <a:spcPts val="0"/>
              </a:spcAft>
              <a:buSzPts val="1600"/>
              <a:buChar char="●"/>
            </a:pPr>
            <a:r>
              <a:rPr lang="el"/>
              <a:t>Fibre optics</a:t>
            </a:r>
            <a:endParaRPr/>
          </a:p>
        </p:txBody>
      </p:sp>
      <p:sp>
        <p:nvSpPr>
          <p:cNvPr id="169" name="Google Shape;169;p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170" name="Google Shape;170;p9"/>
          <p:cNvPicPr preferRelativeResize="0"/>
          <p:nvPr/>
        </p:nvPicPr>
        <p:blipFill rotWithShape="1">
          <a:blip r:embed="rId3">
            <a:alphaModFix/>
          </a:blip>
          <a:srcRect b="0" l="0" r="0" t="0"/>
          <a:stretch/>
        </p:blipFill>
        <p:spPr>
          <a:xfrm>
            <a:off x="729450" y="2617900"/>
            <a:ext cx="3783373" cy="2411900"/>
          </a:xfrm>
          <a:prstGeom prst="rect">
            <a:avLst/>
          </a:prstGeom>
          <a:noFill/>
          <a:ln>
            <a:noFill/>
          </a:ln>
        </p:spPr>
      </p:pic>
      <p:pic>
        <p:nvPicPr>
          <p:cNvPr id="171" name="Google Shape;171;p9"/>
          <p:cNvPicPr preferRelativeResize="0"/>
          <p:nvPr/>
        </p:nvPicPr>
        <p:blipFill rotWithShape="1">
          <a:blip r:embed="rId4">
            <a:alphaModFix/>
          </a:blip>
          <a:srcRect b="0" l="0" r="0" t="0"/>
          <a:stretch/>
        </p:blipFill>
        <p:spPr>
          <a:xfrm>
            <a:off x="4892448" y="2760588"/>
            <a:ext cx="3718679" cy="212652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Copper vs Copper</a:t>
            </a:r>
            <a:endParaRPr/>
          </a:p>
        </p:txBody>
      </p:sp>
      <p:sp>
        <p:nvSpPr>
          <p:cNvPr id="177" name="Google Shape;177;p10"/>
          <p:cNvSpPr txBox="1"/>
          <p:nvPr>
            <p:ph idx="1" type="body"/>
          </p:nvPr>
        </p:nvSpPr>
        <p:spPr>
          <a:xfrm>
            <a:off x="729450" y="3899375"/>
            <a:ext cx="7688700" cy="7908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0"/>
              </a:spcBef>
              <a:spcAft>
                <a:spcPts val="1200"/>
              </a:spcAft>
              <a:buSzPct val="108108"/>
              <a:buNone/>
            </a:pPr>
            <a:r>
              <a:rPr lang="el"/>
              <a:t>Resource: </a:t>
            </a:r>
            <a:r>
              <a:rPr lang="el" u="sng">
                <a:solidFill>
                  <a:schemeClr val="hlink"/>
                </a:solidFill>
                <a:hlinkClick r:id="rId3"/>
              </a:rPr>
              <a:t>https://www.learnabhi.com/difference-between-utp-stp-coaxial-and-fiber-optic-cable/</a:t>
            </a:r>
            <a:endParaRPr/>
          </a:p>
        </p:txBody>
      </p:sp>
      <p:sp>
        <p:nvSpPr>
          <p:cNvPr id="178" name="Google Shape;178;p1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179" name="Google Shape;179;p10"/>
          <p:cNvPicPr preferRelativeResize="0"/>
          <p:nvPr/>
        </p:nvPicPr>
        <p:blipFill rotWithShape="1">
          <a:blip r:embed="rId4">
            <a:alphaModFix/>
          </a:blip>
          <a:srcRect b="0" l="0" r="0" t="0"/>
          <a:stretch/>
        </p:blipFill>
        <p:spPr>
          <a:xfrm>
            <a:off x="587588" y="1408450"/>
            <a:ext cx="7972425" cy="2266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1"/>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(Copper) CAT Numbers</a:t>
            </a:r>
            <a:endParaRPr/>
          </a:p>
        </p:txBody>
      </p:sp>
      <p:sp>
        <p:nvSpPr>
          <p:cNvPr id="185" name="Google Shape;185;p1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graphicFrame>
        <p:nvGraphicFramePr>
          <p:cNvPr id="186" name="Google Shape;186;p11"/>
          <p:cNvGraphicFramePr/>
          <p:nvPr/>
        </p:nvGraphicFramePr>
        <p:xfrm>
          <a:off x="952500" y="1420025"/>
          <a:ext cx="3000000" cy="3000000"/>
        </p:xfrm>
        <a:graphic>
          <a:graphicData uri="http://schemas.openxmlformats.org/drawingml/2006/table">
            <a:tbl>
              <a:tblPr>
                <a:noFill/>
                <a:tableStyleId>{FFC60715-47B6-4866-A46D-6CA47C33E79F}</a:tableStyleId>
              </a:tblPr>
              <a:tblGrid>
                <a:gridCol w="1809750"/>
                <a:gridCol w="1809750"/>
                <a:gridCol w="1809750"/>
                <a:gridCol w="180975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l" sz="1400" u="none" cap="none" strike="noStrike">
                          <a:solidFill>
                            <a:schemeClr val="lt2"/>
                          </a:solidFill>
                        </a:rPr>
                        <a:t>Category</a:t>
                      </a:r>
                      <a:endParaRPr b="1" sz="1400" u="none" cap="none" strike="noStrike">
                        <a:solidFill>
                          <a:schemeClr val="lt2"/>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l" sz="1400" u="none" cap="none" strike="noStrike">
                          <a:solidFill>
                            <a:schemeClr val="lt2"/>
                          </a:solidFill>
                        </a:rPr>
                        <a:t>Shielding</a:t>
                      </a:r>
                      <a:endParaRPr b="1" sz="1400" u="none" cap="none" strike="noStrike">
                        <a:solidFill>
                          <a:schemeClr val="lt2"/>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l" sz="1400" u="none" cap="none" strike="noStrike">
                          <a:solidFill>
                            <a:schemeClr val="lt2"/>
                          </a:solidFill>
                        </a:rPr>
                        <a:t>Max Speed (@100m) (Mbps)</a:t>
                      </a:r>
                      <a:endParaRPr b="1" sz="1400" u="none" cap="none" strike="noStrike">
                        <a:solidFill>
                          <a:schemeClr val="lt2"/>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l" sz="1400" u="none" cap="none" strike="noStrike">
                          <a:solidFill>
                            <a:schemeClr val="lt2"/>
                          </a:solidFill>
                        </a:rPr>
                        <a:t>Max Bandwidth (MHz)</a:t>
                      </a:r>
                      <a:endParaRPr b="1" sz="1400" u="none" cap="none" strike="noStrike">
                        <a:solidFill>
                          <a:schemeClr val="lt2"/>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CAT 3</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Unshielded</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10</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16</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CAT 5</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Unshielded</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10 / 100</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100</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CAT 5e</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Unshielded</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1,000</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100</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CAT 6</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Shielded / Unshielded</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1,000</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&gt;250</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CAT 6a</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Shielded</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10,000</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500</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CAT 7</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Shielded</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100,000</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l" sz="1400" u="none" cap="none" strike="noStrike">
                          <a:solidFill>
                            <a:schemeClr val="accent1"/>
                          </a:solidFill>
                        </a:rPr>
                        <a:t>600</a:t>
                      </a:r>
                      <a:endParaRPr sz="1400" u="none" cap="none" strike="noStrike">
                        <a:solidFill>
                          <a:schemeClr val="accent1"/>
                        </a:solidFill>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2"/>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(Reminder) The anatomy of an optic fibre</a:t>
            </a:r>
            <a:endParaRPr/>
          </a:p>
        </p:txBody>
      </p:sp>
      <p:sp>
        <p:nvSpPr>
          <p:cNvPr id="192" name="Google Shape;192;p12"/>
          <p:cNvSpPr txBox="1"/>
          <p:nvPr>
            <p:ph idx="1" type="body"/>
          </p:nvPr>
        </p:nvSpPr>
        <p:spPr>
          <a:xfrm>
            <a:off x="729450" y="1378000"/>
            <a:ext cx="7688700" cy="21675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sz="1600"/>
              <a:t>Core:</a:t>
            </a:r>
            <a:r>
              <a:rPr lang="el" sz="1600"/>
              <a:t> Where the light travels.</a:t>
            </a:r>
            <a:endParaRPr sz="1600"/>
          </a:p>
          <a:p>
            <a:pPr indent="-330200" lvl="0" marL="457200" rtl="0" algn="l">
              <a:lnSpc>
                <a:spcPct val="115000"/>
              </a:lnSpc>
              <a:spcBef>
                <a:spcPts val="0"/>
              </a:spcBef>
              <a:spcAft>
                <a:spcPts val="0"/>
              </a:spcAft>
              <a:buSzPts val="1600"/>
              <a:buChar char="●"/>
            </a:pPr>
            <a:r>
              <a:rPr b="1" lang="el" sz="1600"/>
              <a:t>Cladding:</a:t>
            </a:r>
            <a:r>
              <a:rPr lang="el" sz="1600"/>
              <a:t> Surrounds the core to keep light there via “</a:t>
            </a:r>
            <a:r>
              <a:rPr lang="el" sz="1600" u="sng">
                <a:solidFill>
                  <a:schemeClr val="hlink"/>
                </a:solidFill>
                <a:hlinkClick r:id="rId3"/>
              </a:rPr>
              <a:t>total internal reflection</a:t>
            </a:r>
            <a:r>
              <a:rPr lang="el" sz="1600"/>
              <a:t>”.</a:t>
            </a:r>
            <a:endParaRPr sz="1600"/>
          </a:p>
          <a:p>
            <a:pPr indent="-330200" lvl="0" marL="457200" rtl="0" algn="l">
              <a:lnSpc>
                <a:spcPct val="115000"/>
              </a:lnSpc>
              <a:spcBef>
                <a:spcPts val="0"/>
              </a:spcBef>
              <a:spcAft>
                <a:spcPts val="0"/>
              </a:spcAft>
              <a:buSzPts val="1600"/>
              <a:buChar char="●"/>
            </a:pPr>
            <a:r>
              <a:rPr b="1" lang="el" sz="1600"/>
              <a:t>Coating:</a:t>
            </a:r>
            <a:r>
              <a:rPr lang="el" sz="1600"/>
              <a:t> Reinforces its internals, usually plastic.</a:t>
            </a:r>
            <a:endParaRPr sz="1600"/>
          </a:p>
          <a:p>
            <a:pPr indent="-330200" lvl="0" marL="457200" rtl="0" algn="l">
              <a:lnSpc>
                <a:spcPct val="115000"/>
              </a:lnSpc>
              <a:spcBef>
                <a:spcPts val="0"/>
              </a:spcBef>
              <a:spcAft>
                <a:spcPts val="0"/>
              </a:spcAft>
              <a:buSzPts val="1600"/>
              <a:buChar char="●"/>
            </a:pPr>
            <a:r>
              <a:rPr b="1" lang="el" sz="1600"/>
              <a:t>Strengthening fibers:</a:t>
            </a:r>
            <a:r>
              <a:rPr lang="el" sz="1600"/>
              <a:t> “Cushion” that protects the core against tensions.</a:t>
            </a:r>
            <a:endParaRPr sz="1600"/>
          </a:p>
          <a:p>
            <a:pPr indent="-330200" lvl="0" marL="457200" rtl="0" algn="l">
              <a:lnSpc>
                <a:spcPct val="115000"/>
              </a:lnSpc>
              <a:spcBef>
                <a:spcPts val="0"/>
              </a:spcBef>
              <a:spcAft>
                <a:spcPts val="0"/>
              </a:spcAft>
              <a:buSzPts val="1600"/>
              <a:buChar char="●"/>
            </a:pPr>
            <a:r>
              <a:rPr b="1" lang="el" sz="1600"/>
              <a:t>Cable Jacket:</a:t>
            </a:r>
            <a:r>
              <a:rPr lang="el" sz="1600"/>
              <a:t> More protection (from the environment, us etc).</a:t>
            </a:r>
            <a:endParaRPr sz="1600"/>
          </a:p>
        </p:txBody>
      </p:sp>
      <p:sp>
        <p:nvSpPr>
          <p:cNvPr id="193" name="Google Shape;193;p1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194" name="Google Shape;194;p12"/>
          <p:cNvPicPr preferRelativeResize="0"/>
          <p:nvPr/>
        </p:nvPicPr>
        <p:blipFill rotWithShape="1">
          <a:blip r:embed="rId4">
            <a:alphaModFix/>
          </a:blip>
          <a:srcRect b="0" l="0" r="0" t="0"/>
          <a:stretch/>
        </p:blipFill>
        <p:spPr>
          <a:xfrm>
            <a:off x="2190750" y="3545413"/>
            <a:ext cx="4762500" cy="1343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3"/>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(Reminder) How many modes ( = colours)?</a:t>
            </a:r>
            <a:endParaRPr/>
          </a:p>
        </p:txBody>
      </p:sp>
      <p:sp>
        <p:nvSpPr>
          <p:cNvPr id="200" name="Google Shape;200;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201" name="Google Shape;201;p13"/>
          <p:cNvPicPr preferRelativeResize="0"/>
          <p:nvPr/>
        </p:nvPicPr>
        <p:blipFill rotWithShape="1">
          <a:blip r:embed="rId3">
            <a:alphaModFix/>
          </a:blip>
          <a:srcRect b="0" l="0" r="0" t="0"/>
          <a:stretch/>
        </p:blipFill>
        <p:spPr>
          <a:xfrm flipH="1">
            <a:off x="7177352" y="1377999"/>
            <a:ext cx="1907648" cy="1907648"/>
          </a:xfrm>
          <a:prstGeom prst="rect">
            <a:avLst/>
          </a:prstGeom>
          <a:noFill/>
          <a:ln>
            <a:noFill/>
          </a:ln>
        </p:spPr>
      </p:pic>
      <p:graphicFrame>
        <p:nvGraphicFramePr>
          <p:cNvPr id="202" name="Google Shape;202;p13"/>
          <p:cNvGraphicFramePr/>
          <p:nvPr/>
        </p:nvGraphicFramePr>
        <p:xfrm>
          <a:off x="952500" y="1378075"/>
          <a:ext cx="3000000" cy="3000000"/>
        </p:xfrm>
        <a:graphic>
          <a:graphicData uri="http://schemas.openxmlformats.org/drawingml/2006/table">
            <a:tbl>
              <a:tblPr>
                <a:noFill/>
                <a:tableStyleId>{FFC60715-47B6-4866-A46D-6CA47C33E79F}</a:tableStyleId>
              </a:tblPr>
              <a:tblGrid>
                <a:gridCol w="2985525"/>
                <a:gridCol w="2985525"/>
              </a:tblGrid>
              <a:tr h="412975">
                <a:tc>
                  <a:txBody>
                    <a:bodyPr/>
                    <a:lstStyle/>
                    <a:p>
                      <a:pPr indent="0" lvl="0" marL="0" marR="0" rtl="0" algn="l">
                        <a:lnSpc>
                          <a:spcPct val="100000"/>
                        </a:lnSpc>
                        <a:spcBef>
                          <a:spcPts val="0"/>
                        </a:spcBef>
                        <a:spcAft>
                          <a:spcPts val="0"/>
                        </a:spcAft>
                        <a:buClr>
                          <a:srgbClr val="000000"/>
                        </a:buClr>
                        <a:buSzPts val="1600"/>
                        <a:buFont typeface="Arial"/>
                        <a:buNone/>
                      </a:pPr>
                      <a:r>
                        <a:rPr b="1" lang="el" sz="1600" u="none" cap="none" strike="noStrike">
                          <a:solidFill>
                            <a:schemeClr val="accent1"/>
                          </a:solidFill>
                        </a:rPr>
                        <a:t>Monomode</a:t>
                      </a:r>
                      <a:r>
                        <a:rPr lang="el" sz="1600" u="none" cap="none" strike="noStrike">
                          <a:solidFill>
                            <a:schemeClr val="accent1"/>
                          </a:solidFill>
                        </a:rPr>
                        <a:t> fibre</a:t>
                      </a:r>
                      <a:endParaRPr sz="1600" u="none" cap="none" strike="noStrike">
                        <a:solidFill>
                          <a:schemeClr val="accen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b="1" lang="el" sz="1600" u="none" cap="none" strike="noStrike">
                          <a:solidFill>
                            <a:schemeClr val="accent1"/>
                          </a:solidFill>
                        </a:rPr>
                        <a:t>Multimode</a:t>
                      </a:r>
                      <a:r>
                        <a:rPr lang="el" sz="1600" u="none" cap="none" strike="noStrike">
                          <a:solidFill>
                            <a:schemeClr val="accent1"/>
                          </a:solidFill>
                        </a:rPr>
                        <a:t> fibre</a:t>
                      </a:r>
                      <a:endParaRPr sz="1600" u="none" cap="none" strike="noStrike">
                        <a:solidFill>
                          <a:schemeClr val="accent1"/>
                        </a:solidFill>
                      </a:endParaRPr>
                    </a:p>
                  </a:txBody>
                  <a:tcPr marT="91425" marB="91425" marR="91425" marL="91425"/>
                </a:tc>
              </a:tr>
              <a:tr h="412975">
                <a:tc>
                  <a:txBody>
                    <a:bodyPr/>
                    <a:lstStyle/>
                    <a:p>
                      <a:pPr indent="0" lvl="0" marL="0" marR="0" rtl="0" algn="l">
                        <a:lnSpc>
                          <a:spcPct val="100000"/>
                        </a:lnSpc>
                        <a:spcBef>
                          <a:spcPts val="0"/>
                        </a:spcBef>
                        <a:spcAft>
                          <a:spcPts val="0"/>
                        </a:spcAft>
                        <a:buClr>
                          <a:srgbClr val="000000"/>
                        </a:buClr>
                        <a:buSzPts val="1600"/>
                        <a:buFont typeface="Arial"/>
                        <a:buNone/>
                      </a:pPr>
                      <a:r>
                        <a:rPr lang="el" sz="1600" u="none" cap="none" strike="noStrike">
                          <a:solidFill>
                            <a:schemeClr val="accent1"/>
                          </a:solidFill>
                        </a:rPr>
                        <a:t>Driven by expensive laser</a:t>
                      </a:r>
                      <a:endParaRPr sz="1600" u="none" cap="none" strike="noStrike">
                        <a:solidFill>
                          <a:schemeClr val="accen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l" sz="1600" u="none" cap="none" strike="noStrike">
                          <a:solidFill>
                            <a:schemeClr val="accent1"/>
                          </a:solidFill>
                        </a:rPr>
                        <a:t>Driven by cheaper lasers</a:t>
                      </a:r>
                      <a:endParaRPr sz="1600" u="none" cap="none" strike="noStrike">
                        <a:solidFill>
                          <a:schemeClr val="accent1"/>
                        </a:solidFill>
                      </a:endParaRPr>
                    </a:p>
                  </a:txBody>
                  <a:tcPr marT="91425" marB="91425" marR="91425" marL="91425"/>
                </a:tc>
              </a:tr>
              <a:tr h="412975">
                <a:tc>
                  <a:txBody>
                    <a:bodyPr/>
                    <a:lstStyle/>
                    <a:p>
                      <a:pPr indent="0" lvl="0" marL="0" marR="0" rtl="0" algn="l">
                        <a:lnSpc>
                          <a:spcPct val="100000"/>
                        </a:lnSpc>
                        <a:spcBef>
                          <a:spcPts val="0"/>
                        </a:spcBef>
                        <a:spcAft>
                          <a:spcPts val="0"/>
                        </a:spcAft>
                        <a:buClr>
                          <a:srgbClr val="000000"/>
                        </a:buClr>
                        <a:buSzPts val="1600"/>
                        <a:buFont typeface="Arial"/>
                        <a:buNone/>
                      </a:pPr>
                      <a:r>
                        <a:rPr lang="el" sz="1600" u="none" cap="none" strike="noStrike">
                          <a:solidFill>
                            <a:schemeClr val="accent1"/>
                          </a:solidFill>
                        </a:rPr>
                        <a:t>Pure light (one colour)</a:t>
                      </a:r>
                      <a:endParaRPr sz="1600" u="none" cap="none" strike="noStrike">
                        <a:solidFill>
                          <a:schemeClr val="accen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l" sz="1600" u="none" cap="none" strike="noStrike">
                          <a:solidFill>
                            <a:schemeClr val="accent1"/>
                          </a:solidFill>
                        </a:rPr>
                        <a:t>Many similar colours</a:t>
                      </a:r>
                      <a:endParaRPr sz="1600" u="none" cap="none" strike="noStrike">
                        <a:solidFill>
                          <a:schemeClr val="accent1"/>
                        </a:solidFill>
                      </a:endParaRPr>
                    </a:p>
                  </a:txBody>
                  <a:tcPr marT="91425" marB="91425" marR="91425" marL="91425"/>
                </a:tc>
              </a:tr>
              <a:tr h="412975">
                <a:tc>
                  <a:txBody>
                    <a:bodyPr/>
                    <a:lstStyle/>
                    <a:p>
                      <a:pPr indent="0" lvl="0" marL="0" marR="0" rtl="0" algn="l">
                        <a:lnSpc>
                          <a:spcPct val="100000"/>
                        </a:lnSpc>
                        <a:spcBef>
                          <a:spcPts val="0"/>
                        </a:spcBef>
                        <a:spcAft>
                          <a:spcPts val="0"/>
                        </a:spcAft>
                        <a:buClr>
                          <a:srgbClr val="000000"/>
                        </a:buClr>
                        <a:buSzPts val="1600"/>
                        <a:buFont typeface="Arial"/>
                        <a:buNone/>
                      </a:pPr>
                      <a:r>
                        <a:rPr lang="el" sz="1600" u="none" cap="none" strike="noStrike">
                          <a:solidFill>
                            <a:schemeClr val="accent1"/>
                          </a:solidFill>
                        </a:rPr>
                        <a:t>Long distance, high bandwidth</a:t>
                      </a:r>
                      <a:endParaRPr sz="1600" u="none" cap="none" strike="noStrike">
                        <a:solidFill>
                          <a:schemeClr val="accen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l" sz="1600" u="none" cap="none" strike="noStrike">
                          <a:solidFill>
                            <a:schemeClr val="accent1"/>
                          </a:solidFill>
                        </a:rPr>
                        <a:t>Long distance, high bandwidth</a:t>
                      </a:r>
                      <a:endParaRPr sz="1600" u="none" cap="none" strike="noStrike">
                        <a:solidFill>
                          <a:schemeClr val="accent1"/>
                        </a:solidFill>
                      </a:endParaRPr>
                    </a:p>
                  </a:txBody>
                  <a:tcPr marT="91425" marB="91425" marR="91425" marL="91425"/>
                </a:tc>
              </a:tr>
              <a:tr h="412975">
                <a:tc>
                  <a:txBody>
                    <a:bodyPr/>
                    <a:lstStyle/>
                    <a:p>
                      <a:pPr indent="0" lvl="0" marL="0" marR="0" rtl="0" algn="l">
                        <a:lnSpc>
                          <a:spcPct val="100000"/>
                        </a:lnSpc>
                        <a:spcBef>
                          <a:spcPts val="0"/>
                        </a:spcBef>
                        <a:spcAft>
                          <a:spcPts val="0"/>
                        </a:spcAft>
                        <a:buClr>
                          <a:srgbClr val="000000"/>
                        </a:buClr>
                        <a:buSzPts val="1600"/>
                        <a:buFont typeface="Arial"/>
                        <a:buNone/>
                      </a:pPr>
                      <a:r>
                        <a:rPr lang="el" sz="1600" u="none" cap="none" strike="noStrike">
                          <a:solidFill>
                            <a:schemeClr val="accent1"/>
                          </a:solidFill>
                        </a:rPr>
                        <a:t>Expensive (to buy and install)</a:t>
                      </a:r>
                      <a:endParaRPr sz="1600" u="none" cap="none" strike="noStrike">
                        <a:solidFill>
                          <a:schemeClr val="accen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l" sz="1600" u="none" cap="none" strike="noStrike">
                          <a:solidFill>
                            <a:schemeClr val="accent1"/>
                          </a:solidFill>
                        </a:rPr>
                        <a:t>Expensive (a bit less)</a:t>
                      </a:r>
                      <a:endParaRPr sz="1600" u="none" cap="none" strike="noStrike">
                        <a:solidFill>
                          <a:schemeClr val="accent1"/>
                        </a:solidFill>
                      </a:endParaRPr>
                    </a:p>
                  </a:txBody>
                  <a:tcPr marT="91425" marB="91425" marR="91425" marL="91425"/>
                </a:tc>
              </a:tr>
              <a:tr h="412975">
                <a:tc>
                  <a:txBody>
                    <a:bodyPr/>
                    <a:lstStyle/>
                    <a:p>
                      <a:pPr indent="0" lvl="0" marL="0" marR="0" rtl="0" algn="l">
                        <a:lnSpc>
                          <a:spcPct val="100000"/>
                        </a:lnSpc>
                        <a:spcBef>
                          <a:spcPts val="0"/>
                        </a:spcBef>
                        <a:spcAft>
                          <a:spcPts val="0"/>
                        </a:spcAft>
                        <a:buClr>
                          <a:srgbClr val="000000"/>
                        </a:buClr>
                        <a:buSzPts val="1600"/>
                        <a:buFont typeface="Arial"/>
                        <a:buNone/>
                      </a:pPr>
                      <a:r>
                        <a:rPr lang="el" sz="1600" u="none" cap="none" strike="noStrike">
                          <a:solidFill>
                            <a:schemeClr val="accent1"/>
                          </a:solidFill>
                        </a:rPr>
                        <a:t>Really fragile</a:t>
                      </a:r>
                      <a:endParaRPr sz="1600" u="none" cap="none" strike="noStrike">
                        <a:solidFill>
                          <a:schemeClr val="accen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l" sz="1600" u="none" cap="none" strike="noStrike">
                          <a:solidFill>
                            <a:schemeClr val="accent1"/>
                          </a:solidFill>
                        </a:rPr>
                        <a:t>Fragile (a bit less)</a:t>
                      </a:r>
                      <a:endParaRPr sz="1600" u="none" cap="none" strike="noStrike">
                        <a:solidFill>
                          <a:schemeClr val="accent1"/>
                        </a:solidFill>
                      </a:endParaRPr>
                    </a:p>
                  </a:txBody>
                  <a:tcPr marT="91425" marB="91425" marR="91425" marL="91425"/>
                </a:tc>
              </a:tr>
              <a:tr h="412975">
                <a:tc>
                  <a:txBody>
                    <a:bodyPr/>
                    <a:lstStyle/>
                    <a:p>
                      <a:pPr indent="0" lvl="0" marL="0" marR="0" rtl="0" algn="l">
                        <a:lnSpc>
                          <a:spcPct val="100000"/>
                        </a:lnSpc>
                        <a:spcBef>
                          <a:spcPts val="0"/>
                        </a:spcBef>
                        <a:spcAft>
                          <a:spcPts val="0"/>
                        </a:spcAft>
                        <a:buClr>
                          <a:srgbClr val="000000"/>
                        </a:buClr>
                        <a:buSzPts val="1600"/>
                        <a:buFont typeface="Arial"/>
                        <a:buNone/>
                      </a:pPr>
                      <a:r>
                        <a:rPr lang="el" sz="1600" u="none" cap="none" strike="noStrike">
                          <a:solidFill>
                            <a:schemeClr val="accent1"/>
                          </a:solidFill>
                        </a:rPr>
                        <a:t>Dangerous</a:t>
                      </a:r>
                      <a:endParaRPr sz="1600" u="none" cap="none" strike="noStrike">
                        <a:solidFill>
                          <a:schemeClr val="accen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l" sz="1600" u="none" cap="none" strike="noStrike">
                          <a:solidFill>
                            <a:schemeClr val="accent1"/>
                          </a:solidFill>
                        </a:rPr>
                        <a:t>Less dangerous</a:t>
                      </a:r>
                      <a:endParaRPr sz="1600" u="none" cap="none" strike="noStrike">
                        <a:solidFill>
                          <a:schemeClr val="accent1"/>
                        </a:solidFill>
                      </a:endParaRPr>
                    </a:p>
                  </a:txBody>
                  <a:tcPr marT="91425" marB="91425" marR="91425" marL="91425"/>
                </a:tc>
              </a:tr>
              <a:tr h="412975">
                <a:tc>
                  <a:txBody>
                    <a:bodyPr/>
                    <a:lstStyle/>
                    <a:p>
                      <a:pPr indent="0" lvl="0" marL="0" marR="0" rtl="0" algn="l">
                        <a:lnSpc>
                          <a:spcPct val="100000"/>
                        </a:lnSpc>
                        <a:spcBef>
                          <a:spcPts val="0"/>
                        </a:spcBef>
                        <a:spcAft>
                          <a:spcPts val="0"/>
                        </a:spcAft>
                        <a:buClr>
                          <a:srgbClr val="000000"/>
                        </a:buClr>
                        <a:buSzPts val="1600"/>
                        <a:buFont typeface="Arial"/>
                        <a:buNone/>
                      </a:pPr>
                      <a:r>
                        <a:rPr lang="el" sz="1600" u="none" cap="none" strike="noStrike">
                          <a:solidFill>
                            <a:schemeClr val="accent1"/>
                          </a:solidFill>
                        </a:rPr>
                        <a:t>Hard to terminate</a:t>
                      </a:r>
                      <a:endParaRPr sz="1600" u="none" cap="none" strike="noStrike">
                        <a:solidFill>
                          <a:schemeClr val="accen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600"/>
                        <a:buFont typeface="Arial"/>
                        <a:buNone/>
                      </a:pPr>
                      <a:r>
                        <a:rPr lang="el" sz="1600" u="none" cap="none" strike="noStrike">
                          <a:solidFill>
                            <a:schemeClr val="accent1"/>
                          </a:solidFill>
                        </a:rPr>
                        <a:t>Not so hard to terminate</a:t>
                      </a:r>
                      <a:endParaRPr sz="1600" u="none" cap="none" strike="noStrike">
                        <a:solidFill>
                          <a:schemeClr val="accent1"/>
                        </a:solidFill>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4"/>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Layer 2: LLC and MAC Sublayers</a:t>
            </a:r>
            <a:endParaRPr/>
          </a:p>
        </p:txBody>
      </p:sp>
      <p:sp>
        <p:nvSpPr>
          <p:cNvPr id="208" name="Google Shape;208;p14"/>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Logical Link Control (LLC):</a:t>
            </a:r>
            <a:endParaRPr/>
          </a:p>
          <a:p>
            <a:pPr indent="-330200" lvl="1" marL="914400" rtl="0" algn="l">
              <a:lnSpc>
                <a:spcPct val="115000"/>
              </a:lnSpc>
              <a:spcBef>
                <a:spcPts val="0"/>
              </a:spcBef>
              <a:spcAft>
                <a:spcPts val="0"/>
              </a:spcAft>
              <a:buSzPts val="1600"/>
              <a:buChar char="○"/>
            </a:pPr>
            <a:r>
              <a:rPr lang="el"/>
              <a:t>The “upper” sublayer of layer 2.</a:t>
            </a:r>
            <a:endParaRPr/>
          </a:p>
          <a:p>
            <a:pPr indent="-330200" lvl="1" marL="914400" rtl="0" algn="l">
              <a:lnSpc>
                <a:spcPct val="115000"/>
              </a:lnSpc>
              <a:spcBef>
                <a:spcPts val="0"/>
              </a:spcBef>
              <a:spcAft>
                <a:spcPts val="0"/>
              </a:spcAft>
              <a:buSzPts val="1600"/>
              <a:buChar char="○"/>
            </a:pPr>
            <a:r>
              <a:rPr lang="el"/>
              <a:t>Connection handling between lower / upper layers.</a:t>
            </a:r>
            <a:endParaRPr/>
          </a:p>
          <a:p>
            <a:pPr indent="-330200" lvl="1" marL="914400" rtl="0" algn="l">
              <a:lnSpc>
                <a:spcPct val="115000"/>
              </a:lnSpc>
              <a:spcBef>
                <a:spcPts val="0"/>
              </a:spcBef>
              <a:spcAft>
                <a:spcPts val="0"/>
              </a:spcAft>
              <a:buSzPts val="1600"/>
              <a:buChar char="○"/>
            </a:pPr>
            <a:r>
              <a:rPr lang="el"/>
              <a:t>Adds control info to help deliver the packet to destination.</a:t>
            </a:r>
            <a:endParaRPr/>
          </a:p>
          <a:p>
            <a:pPr indent="-330200" lvl="0" marL="457200" rtl="0" algn="l">
              <a:lnSpc>
                <a:spcPct val="115000"/>
              </a:lnSpc>
              <a:spcBef>
                <a:spcPts val="0"/>
              </a:spcBef>
              <a:spcAft>
                <a:spcPts val="0"/>
              </a:spcAft>
              <a:buSzPts val="1600"/>
              <a:buChar char="●"/>
            </a:pPr>
            <a:r>
              <a:rPr b="1" lang="el"/>
              <a:t>Medium Access Control (MAC):</a:t>
            </a:r>
            <a:endParaRPr/>
          </a:p>
          <a:p>
            <a:pPr indent="-330200" lvl="1" marL="914400" rtl="0" algn="l">
              <a:lnSpc>
                <a:spcPct val="115000"/>
              </a:lnSpc>
              <a:spcBef>
                <a:spcPts val="0"/>
              </a:spcBef>
              <a:spcAft>
                <a:spcPts val="0"/>
              </a:spcAft>
              <a:buSzPts val="1600"/>
              <a:buChar char="○"/>
            </a:pPr>
            <a:r>
              <a:rPr lang="el"/>
              <a:t>The “lower” sublayer of layer 2.</a:t>
            </a:r>
            <a:endParaRPr/>
          </a:p>
          <a:p>
            <a:pPr indent="-330200" lvl="1" marL="914400" rtl="0" algn="l">
              <a:lnSpc>
                <a:spcPct val="115000"/>
              </a:lnSpc>
              <a:spcBef>
                <a:spcPts val="0"/>
              </a:spcBef>
              <a:spcAft>
                <a:spcPts val="0"/>
              </a:spcAft>
              <a:buSzPts val="1600"/>
              <a:buChar char="○"/>
            </a:pPr>
            <a:r>
              <a:rPr lang="el"/>
              <a:t>Data encapsulation.</a:t>
            </a:r>
            <a:endParaRPr/>
          </a:p>
          <a:p>
            <a:pPr indent="-330200" lvl="1" marL="914400" rtl="0" algn="l">
              <a:lnSpc>
                <a:spcPct val="115000"/>
              </a:lnSpc>
              <a:spcBef>
                <a:spcPts val="0"/>
              </a:spcBef>
              <a:spcAft>
                <a:spcPts val="0"/>
              </a:spcAft>
              <a:buSzPts val="1600"/>
              <a:buChar char="○"/>
            </a:pPr>
            <a:r>
              <a:rPr lang="el"/>
              <a:t>Media access control.</a:t>
            </a:r>
            <a:endParaRPr/>
          </a:p>
          <a:p>
            <a:pPr indent="-330200" lvl="1" marL="914400" rtl="0" algn="l">
              <a:lnSpc>
                <a:spcPct val="115000"/>
              </a:lnSpc>
              <a:spcBef>
                <a:spcPts val="0"/>
              </a:spcBef>
              <a:spcAft>
                <a:spcPts val="0"/>
              </a:spcAft>
              <a:buSzPts val="1600"/>
              <a:buChar char="○"/>
            </a:pPr>
            <a:r>
              <a:rPr lang="el"/>
              <a:t>Mostly hardware.</a:t>
            </a:r>
            <a:endParaRPr/>
          </a:p>
        </p:txBody>
      </p:sp>
      <p:sp>
        <p:nvSpPr>
          <p:cNvPr id="209" name="Google Shape;209;p1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5"/>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MAC Sublayer</a:t>
            </a:r>
            <a:endParaRPr/>
          </a:p>
        </p:txBody>
      </p:sp>
      <p:sp>
        <p:nvSpPr>
          <p:cNvPr id="215" name="Google Shape;215;p15"/>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Encapsulation:</a:t>
            </a:r>
            <a:endParaRPr/>
          </a:p>
          <a:p>
            <a:pPr indent="-330200" lvl="1" marL="914400" rtl="0" algn="l">
              <a:lnSpc>
                <a:spcPct val="115000"/>
              </a:lnSpc>
              <a:spcBef>
                <a:spcPts val="0"/>
              </a:spcBef>
              <a:spcAft>
                <a:spcPts val="0"/>
              </a:spcAft>
              <a:buSzPts val="1600"/>
              <a:buChar char="○"/>
            </a:pPr>
            <a:r>
              <a:rPr lang="el"/>
              <a:t>Frame assembly / disassembly.</a:t>
            </a:r>
            <a:endParaRPr/>
          </a:p>
          <a:p>
            <a:pPr indent="-330200" lvl="1" marL="914400" rtl="0" algn="l">
              <a:lnSpc>
                <a:spcPct val="115000"/>
              </a:lnSpc>
              <a:spcBef>
                <a:spcPts val="0"/>
              </a:spcBef>
              <a:spcAft>
                <a:spcPts val="0"/>
              </a:spcAft>
              <a:buSzPts val="1600"/>
              <a:buChar char="○"/>
            </a:pPr>
            <a:r>
              <a:rPr lang="el"/>
              <a:t>Frames = Packets + MAC → This sublayer adds the needed header and trailers to the network layer PDU (usually packets).</a:t>
            </a:r>
            <a:endParaRPr/>
          </a:p>
          <a:p>
            <a:pPr indent="-330200" lvl="0" marL="457200" rtl="0" algn="l">
              <a:lnSpc>
                <a:spcPct val="115000"/>
              </a:lnSpc>
              <a:spcBef>
                <a:spcPts val="0"/>
              </a:spcBef>
              <a:spcAft>
                <a:spcPts val="0"/>
              </a:spcAft>
              <a:buSzPts val="1600"/>
              <a:buChar char="●"/>
            </a:pPr>
            <a:r>
              <a:rPr b="1" lang="el"/>
              <a:t>Header functions:</a:t>
            </a:r>
            <a:endParaRPr/>
          </a:p>
          <a:p>
            <a:pPr indent="-330200" lvl="1" marL="914400" rtl="0" algn="l">
              <a:lnSpc>
                <a:spcPct val="115000"/>
              </a:lnSpc>
              <a:spcBef>
                <a:spcPts val="0"/>
              </a:spcBef>
              <a:spcAft>
                <a:spcPts val="0"/>
              </a:spcAft>
              <a:buSzPts val="1600"/>
              <a:buChar char="○"/>
            </a:pPr>
            <a:r>
              <a:rPr lang="el"/>
              <a:t>Where frames begin / end (frame delimiting).</a:t>
            </a:r>
            <a:endParaRPr/>
          </a:p>
          <a:p>
            <a:pPr indent="-330200" lvl="1" marL="914400" rtl="0" algn="l">
              <a:lnSpc>
                <a:spcPct val="115000"/>
              </a:lnSpc>
              <a:spcBef>
                <a:spcPts val="0"/>
              </a:spcBef>
              <a:spcAft>
                <a:spcPts val="0"/>
              </a:spcAft>
              <a:buSzPts val="1600"/>
              <a:buChar char="○"/>
            </a:pPr>
            <a:r>
              <a:rPr lang="el"/>
              <a:t>Addressing (MAC address).</a:t>
            </a:r>
            <a:endParaRPr/>
          </a:p>
          <a:p>
            <a:pPr indent="-330200" lvl="1" marL="914400" rtl="0" algn="l">
              <a:lnSpc>
                <a:spcPct val="115000"/>
              </a:lnSpc>
              <a:spcBef>
                <a:spcPts val="0"/>
              </a:spcBef>
              <a:spcAft>
                <a:spcPts val="0"/>
              </a:spcAft>
              <a:buSzPts val="1600"/>
              <a:buChar char="○"/>
            </a:pPr>
            <a:r>
              <a:rPr lang="el"/>
              <a:t>Error detection (more on that in the near future).</a:t>
            </a:r>
            <a:endParaRPr/>
          </a:p>
        </p:txBody>
      </p:sp>
      <p:sp>
        <p:nvSpPr>
          <p:cNvPr id="216" name="Google Shape;216;p1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6"/>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Collision Management</a:t>
            </a:r>
            <a:endParaRPr/>
          </a:p>
        </p:txBody>
      </p:sp>
      <p:sp>
        <p:nvSpPr>
          <p:cNvPr id="222" name="Google Shape;222;p16"/>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Old-school: Carrier Sense Multiple Access - Collision Detection (CSMA/CD):</a:t>
            </a:r>
            <a:endParaRPr b="1"/>
          </a:p>
          <a:p>
            <a:pPr indent="-330200" lvl="1" marL="914400" rtl="0" algn="l">
              <a:lnSpc>
                <a:spcPct val="115000"/>
              </a:lnSpc>
              <a:spcBef>
                <a:spcPts val="0"/>
              </a:spcBef>
              <a:spcAft>
                <a:spcPts val="0"/>
              </a:spcAft>
              <a:buSzPts val="1600"/>
              <a:buChar char="○"/>
            </a:pPr>
            <a:r>
              <a:rPr lang="el"/>
              <a:t>Is there any signal carried by the medium (cable)?</a:t>
            </a:r>
            <a:endParaRPr/>
          </a:p>
          <a:p>
            <a:pPr indent="-330200" lvl="1" marL="914400" rtl="0" algn="l">
              <a:lnSpc>
                <a:spcPct val="115000"/>
              </a:lnSpc>
              <a:spcBef>
                <a:spcPts val="0"/>
              </a:spcBef>
              <a:spcAft>
                <a:spcPts val="0"/>
              </a:spcAft>
              <a:buSzPts val="1600"/>
              <a:buChar char="○"/>
            </a:pPr>
            <a:r>
              <a:rPr lang="el"/>
              <a:t>If no → send data.</a:t>
            </a:r>
            <a:endParaRPr/>
          </a:p>
          <a:p>
            <a:pPr indent="-330200" lvl="1" marL="914400" rtl="0" algn="l">
              <a:lnSpc>
                <a:spcPct val="115000"/>
              </a:lnSpc>
              <a:spcBef>
                <a:spcPts val="0"/>
              </a:spcBef>
              <a:spcAft>
                <a:spcPts val="0"/>
              </a:spcAft>
              <a:buSzPts val="1600"/>
              <a:buChar char="○"/>
            </a:pPr>
            <a:r>
              <a:rPr lang="el"/>
              <a:t>If yes → </a:t>
            </a:r>
            <a:r>
              <a:rPr b="1" lang="el">
                <a:solidFill>
                  <a:schemeClr val="accent3"/>
                </a:solidFill>
              </a:rPr>
              <a:t>collision!</a:t>
            </a:r>
            <a:endParaRPr>
              <a:solidFill>
                <a:schemeClr val="accent3"/>
              </a:solidFill>
            </a:endParaRPr>
          </a:p>
          <a:p>
            <a:pPr indent="-330200" lvl="1" marL="914400" rtl="0" algn="l">
              <a:lnSpc>
                <a:spcPct val="115000"/>
              </a:lnSpc>
              <a:spcBef>
                <a:spcPts val="0"/>
              </a:spcBef>
              <a:spcAft>
                <a:spcPts val="0"/>
              </a:spcAft>
              <a:buSzPts val="1600"/>
              <a:buChar char="○"/>
            </a:pPr>
            <a:r>
              <a:rPr lang="el"/>
              <a:t>How to solve? → </a:t>
            </a:r>
            <a:r>
              <a:rPr b="1" lang="el">
                <a:solidFill>
                  <a:schemeClr val="dk1"/>
                </a:solidFill>
              </a:rPr>
              <a:t>Wait a random amount of time.</a:t>
            </a:r>
            <a:endParaRPr/>
          </a:p>
          <a:p>
            <a:pPr indent="-330200" lvl="0" marL="457200" rtl="0" algn="l">
              <a:lnSpc>
                <a:spcPct val="115000"/>
              </a:lnSpc>
              <a:spcBef>
                <a:spcPts val="0"/>
              </a:spcBef>
              <a:spcAft>
                <a:spcPts val="0"/>
              </a:spcAft>
              <a:buSzPts val="1600"/>
              <a:buChar char="●"/>
            </a:pPr>
            <a:r>
              <a:rPr b="1" lang="el"/>
              <a:t>Ethernet 802.11: Collision Avoidance (CSMA/CA):</a:t>
            </a:r>
            <a:endParaRPr/>
          </a:p>
          <a:p>
            <a:pPr indent="-330200" lvl="1" marL="914400" rtl="0" algn="l">
              <a:lnSpc>
                <a:spcPct val="115000"/>
              </a:lnSpc>
              <a:spcBef>
                <a:spcPts val="0"/>
              </a:spcBef>
              <a:spcAft>
                <a:spcPts val="0"/>
              </a:spcAft>
              <a:buSzPts val="1600"/>
              <a:buChar char="○"/>
            </a:pPr>
            <a:r>
              <a:rPr lang="el"/>
              <a:t>Is there any signal carried by the medium (cable)?</a:t>
            </a:r>
            <a:endParaRPr/>
          </a:p>
          <a:p>
            <a:pPr indent="-330200" lvl="1" marL="914400" rtl="0" algn="l">
              <a:lnSpc>
                <a:spcPct val="115000"/>
              </a:lnSpc>
              <a:spcBef>
                <a:spcPts val="0"/>
              </a:spcBef>
              <a:spcAft>
                <a:spcPts val="0"/>
              </a:spcAft>
              <a:buSzPts val="1600"/>
              <a:buChar char="○"/>
            </a:pPr>
            <a:r>
              <a:rPr lang="el"/>
              <a:t>If no → send a notification that you want to use it.</a:t>
            </a:r>
            <a:endParaRPr/>
          </a:p>
          <a:p>
            <a:pPr indent="-330200" lvl="1" marL="914400" rtl="0" algn="l">
              <a:lnSpc>
                <a:spcPct val="115000"/>
              </a:lnSpc>
              <a:spcBef>
                <a:spcPts val="0"/>
              </a:spcBef>
              <a:spcAft>
                <a:spcPts val="0"/>
              </a:spcAft>
              <a:buSzPts val="1600"/>
              <a:buChar char="○"/>
            </a:pPr>
            <a:r>
              <a:rPr lang="el"/>
              <a:t>If no one objects → send data.</a:t>
            </a:r>
            <a:endParaRPr/>
          </a:p>
        </p:txBody>
      </p:sp>
      <p:sp>
        <p:nvSpPr>
          <p:cNvPr id="223" name="Google Shape;223;p1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7"/>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Frames and Switches</a:t>
            </a:r>
            <a:endParaRPr/>
          </a:p>
        </p:txBody>
      </p:sp>
      <p:sp>
        <p:nvSpPr>
          <p:cNvPr id="229" name="Google Shape;229;p17"/>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MAC addresses include a lot of information about a device.</a:t>
            </a:r>
            <a:endParaRPr/>
          </a:p>
          <a:p>
            <a:pPr indent="-330200" lvl="0" marL="457200" rtl="0" algn="l">
              <a:lnSpc>
                <a:spcPct val="115000"/>
              </a:lnSpc>
              <a:spcBef>
                <a:spcPts val="0"/>
              </a:spcBef>
              <a:spcAft>
                <a:spcPts val="0"/>
              </a:spcAft>
              <a:buSzPts val="1600"/>
              <a:buChar char="●"/>
            </a:pPr>
            <a:r>
              <a:rPr lang="el"/>
              <a:t>Usually, Network Interface Cards (NIC) decapsulate that information to see if it matches its destination device.</a:t>
            </a:r>
            <a:endParaRPr/>
          </a:p>
          <a:p>
            <a:pPr indent="-330200" lvl="0" marL="457200" rtl="0" algn="l">
              <a:lnSpc>
                <a:spcPct val="115000"/>
              </a:lnSpc>
              <a:spcBef>
                <a:spcPts val="0"/>
              </a:spcBef>
              <a:spcAft>
                <a:spcPts val="0"/>
              </a:spcAft>
              <a:buSzPts val="1600"/>
              <a:buChar char="●"/>
            </a:pPr>
            <a:r>
              <a:rPr lang="el"/>
              <a:t>Layer 2 switching is performed based only on the MAC address.</a:t>
            </a:r>
            <a:endParaRPr/>
          </a:p>
          <a:p>
            <a:pPr indent="-330200" lvl="0" marL="457200" rtl="0" algn="l">
              <a:lnSpc>
                <a:spcPct val="115000"/>
              </a:lnSpc>
              <a:spcBef>
                <a:spcPts val="0"/>
              </a:spcBef>
              <a:spcAft>
                <a:spcPts val="0"/>
              </a:spcAft>
              <a:buSzPts val="1600"/>
              <a:buChar char="●"/>
            </a:pPr>
            <a:r>
              <a:rPr lang="el"/>
              <a:t>Subnetting is left on routers and IP addressing…</a:t>
            </a:r>
            <a:endParaRPr/>
          </a:p>
        </p:txBody>
      </p:sp>
      <p:sp>
        <p:nvSpPr>
          <p:cNvPr id="230" name="Google Shape;230;p1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8"/>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Remembering MAC addresses</a:t>
            </a:r>
            <a:endParaRPr/>
          </a:p>
        </p:txBody>
      </p:sp>
      <p:sp>
        <p:nvSpPr>
          <p:cNvPr id="236" name="Google Shape;236;p18"/>
          <p:cNvSpPr txBox="1"/>
          <p:nvPr>
            <p:ph idx="1" type="body"/>
          </p:nvPr>
        </p:nvSpPr>
        <p:spPr>
          <a:xfrm>
            <a:off x="2481425" y="1378000"/>
            <a:ext cx="5936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Broadcast signal on port P1 from the orange machine.</a:t>
            </a:r>
            <a:endParaRPr/>
          </a:p>
          <a:p>
            <a:pPr indent="-330200" lvl="0" marL="457200" rtl="0" algn="l">
              <a:lnSpc>
                <a:spcPct val="115000"/>
              </a:lnSpc>
              <a:spcBef>
                <a:spcPts val="0"/>
              </a:spcBef>
              <a:spcAft>
                <a:spcPts val="0"/>
              </a:spcAft>
              <a:buSzPts val="1600"/>
              <a:buChar char="●"/>
            </a:pPr>
            <a:r>
              <a:rPr lang="el"/>
              <a:t>The switch stores the ingress port and the sending MAC.</a:t>
            </a:r>
            <a:endParaRPr/>
          </a:p>
          <a:p>
            <a:pPr indent="-330200" lvl="0" marL="457200" rtl="0" algn="l">
              <a:lnSpc>
                <a:spcPct val="115000"/>
              </a:lnSpc>
              <a:spcBef>
                <a:spcPts val="0"/>
              </a:spcBef>
              <a:spcAft>
                <a:spcPts val="0"/>
              </a:spcAft>
              <a:buSzPts val="1600"/>
              <a:buChar char="●"/>
            </a:pPr>
            <a:r>
              <a:rPr lang="el"/>
              <a:t>The switch broadcasts the message to all other ports (flooding).</a:t>
            </a:r>
            <a:endParaRPr/>
          </a:p>
          <a:p>
            <a:pPr indent="-330200" lvl="0" marL="457200" rtl="0" algn="l">
              <a:lnSpc>
                <a:spcPct val="115000"/>
              </a:lnSpc>
              <a:spcBef>
                <a:spcPts val="0"/>
              </a:spcBef>
              <a:spcAft>
                <a:spcPts val="0"/>
              </a:spcAft>
              <a:buSzPts val="1600"/>
              <a:buChar char="●"/>
            </a:pPr>
            <a:r>
              <a:rPr lang="el"/>
              <a:t>The blue machine responds with a unicast frame (port P2).</a:t>
            </a:r>
            <a:endParaRPr/>
          </a:p>
          <a:p>
            <a:pPr indent="-330200" lvl="0" marL="457200" rtl="0" algn="l">
              <a:lnSpc>
                <a:spcPct val="115000"/>
              </a:lnSpc>
              <a:spcBef>
                <a:spcPts val="0"/>
              </a:spcBef>
              <a:spcAft>
                <a:spcPts val="0"/>
              </a:spcAft>
              <a:buSzPts val="1600"/>
              <a:buChar char="●"/>
            </a:pPr>
            <a:r>
              <a:rPr lang="el"/>
              <a:t>The switch notes down port and MAC.</a:t>
            </a:r>
            <a:endParaRPr/>
          </a:p>
          <a:p>
            <a:pPr indent="-330200" lvl="0" marL="457200" rtl="0" algn="l">
              <a:lnSpc>
                <a:spcPct val="115000"/>
              </a:lnSpc>
              <a:spcBef>
                <a:spcPts val="0"/>
              </a:spcBef>
              <a:spcAft>
                <a:spcPts val="0"/>
              </a:spcAft>
              <a:buSzPts val="1600"/>
              <a:buChar char="●"/>
            </a:pPr>
            <a:r>
              <a:rPr lang="el"/>
              <a:t>Knowing ports and addresses of the two devices, the switch can now implement flood-less bilateral communication.</a:t>
            </a:r>
            <a:endParaRPr/>
          </a:p>
        </p:txBody>
      </p:sp>
      <p:sp>
        <p:nvSpPr>
          <p:cNvPr id="237" name="Google Shape;237;p1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grpSp>
        <p:nvGrpSpPr>
          <p:cNvPr id="238" name="Google Shape;238;p18"/>
          <p:cNvGrpSpPr/>
          <p:nvPr/>
        </p:nvGrpSpPr>
        <p:grpSpPr>
          <a:xfrm>
            <a:off x="729450" y="1650075"/>
            <a:ext cx="1407175" cy="1354300"/>
            <a:chOff x="729450" y="1650075"/>
            <a:chExt cx="1407175" cy="1354300"/>
          </a:xfrm>
        </p:grpSpPr>
        <p:sp>
          <p:nvSpPr>
            <p:cNvPr id="239" name="Google Shape;239;p18"/>
            <p:cNvSpPr/>
            <p:nvPr/>
          </p:nvSpPr>
          <p:spPr>
            <a:xfrm>
              <a:off x="1191025" y="2822575"/>
              <a:ext cx="184200" cy="1818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40" name="Google Shape;240;p18"/>
            <p:cNvSpPr/>
            <p:nvPr/>
          </p:nvSpPr>
          <p:spPr>
            <a:xfrm>
              <a:off x="729450" y="1650075"/>
              <a:ext cx="184200" cy="181800"/>
            </a:xfrm>
            <a:prstGeom prst="ellipse">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41" name="Google Shape;241;p18"/>
            <p:cNvSpPr/>
            <p:nvPr/>
          </p:nvSpPr>
          <p:spPr>
            <a:xfrm>
              <a:off x="1952425" y="2480850"/>
              <a:ext cx="184200" cy="1818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42" name="Google Shape;242;p18"/>
            <p:cNvSpPr/>
            <p:nvPr/>
          </p:nvSpPr>
          <p:spPr>
            <a:xfrm>
              <a:off x="1375225" y="2086375"/>
              <a:ext cx="184200" cy="18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243" name="Google Shape;243;p18"/>
            <p:cNvSpPr/>
            <p:nvPr/>
          </p:nvSpPr>
          <p:spPr>
            <a:xfrm>
              <a:off x="1952425" y="1650075"/>
              <a:ext cx="184200" cy="1818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cxnSp>
          <p:nvCxnSpPr>
            <p:cNvPr id="244" name="Google Shape;244;p18"/>
            <p:cNvCxnSpPr>
              <a:stCxn id="240" idx="5"/>
              <a:endCxn id="242" idx="1"/>
            </p:cNvCxnSpPr>
            <p:nvPr/>
          </p:nvCxnSpPr>
          <p:spPr>
            <a:xfrm>
              <a:off x="886675" y="1805251"/>
              <a:ext cx="515400" cy="307800"/>
            </a:xfrm>
            <a:prstGeom prst="straightConnector1">
              <a:avLst/>
            </a:prstGeom>
            <a:noFill/>
            <a:ln cap="flat" cmpd="sng" w="9525">
              <a:solidFill>
                <a:schemeClr val="dk2"/>
              </a:solidFill>
              <a:prstDash val="solid"/>
              <a:round/>
              <a:headEnd len="sm" w="sm" type="none"/>
              <a:tailEnd len="sm" w="sm" type="none"/>
            </a:ln>
          </p:spPr>
        </p:cxnSp>
        <p:cxnSp>
          <p:nvCxnSpPr>
            <p:cNvPr id="245" name="Google Shape;245;p18"/>
            <p:cNvCxnSpPr>
              <a:stCxn id="242" idx="7"/>
              <a:endCxn id="243" idx="3"/>
            </p:cNvCxnSpPr>
            <p:nvPr/>
          </p:nvCxnSpPr>
          <p:spPr>
            <a:xfrm flipH="1" rot="10800000">
              <a:off x="1532450" y="1805199"/>
              <a:ext cx="447000" cy="307800"/>
            </a:xfrm>
            <a:prstGeom prst="straightConnector1">
              <a:avLst/>
            </a:prstGeom>
            <a:noFill/>
            <a:ln cap="flat" cmpd="sng" w="9525">
              <a:solidFill>
                <a:schemeClr val="dk2"/>
              </a:solidFill>
              <a:prstDash val="solid"/>
              <a:round/>
              <a:headEnd len="sm" w="sm" type="none"/>
              <a:tailEnd len="sm" w="sm" type="none"/>
            </a:ln>
          </p:spPr>
        </p:cxnSp>
        <p:cxnSp>
          <p:nvCxnSpPr>
            <p:cNvPr id="246" name="Google Shape;246;p18"/>
            <p:cNvCxnSpPr>
              <a:stCxn id="242" idx="5"/>
              <a:endCxn id="241" idx="1"/>
            </p:cNvCxnSpPr>
            <p:nvPr/>
          </p:nvCxnSpPr>
          <p:spPr>
            <a:xfrm>
              <a:off x="1532450" y="2241551"/>
              <a:ext cx="447000" cy="265800"/>
            </a:xfrm>
            <a:prstGeom prst="straightConnector1">
              <a:avLst/>
            </a:prstGeom>
            <a:noFill/>
            <a:ln cap="flat" cmpd="sng" w="9525">
              <a:solidFill>
                <a:schemeClr val="dk2"/>
              </a:solidFill>
              <a:prstDash val="solid"/>
              <a:round/>
              <a:headEnd len="sm" w="sm" type="none"/>
              <a:tailEnd len="sm" w="sm" type="none"/>
            </a:ln>
          </p:spPr>
        </p:cxnSp>
        <p:cxnSp>
          <p:nvCxnSpPr>
            <p:cNvPr id="247" name="Google Shape;247;p18"/>
            <p:cNvCxnSpPr>
              <a:stCxn id="242" idx="4"/>
              <a:endCxn id="239" idx="0"/>
            </p:cNvCxnSpPr>
            <p:nvPr/>
          </p:nvCxnSpPr>
          <p:spPr>
            <a:xfrm flipH="1">
              <a:off x="1283125" y="2268175"/>
              <a:ext cx="184200" cy="554400"/>
            </a:xfrm>
            <a:prstGeom prst="straightConnector1">
              <a:avLst/>
            </a:prstGeom>
            <a:noFill/>
            <a:ln cap="flat" cmpd="sng" w="9525">
              <a:solidFill>
                <a:schemeClr val="dk2"/>
              </a:solidFill>
              <a:prstDash val="solid"/>
              <a:round/>
              <a:headEnd len="sm" w="sm" type="none"/>
              <a:tailEnd len="sm" w="sm" type="none"/>
            </a:ln>
          </p:spPr>
        </p:cxnSp>
        <p:sp>
          <p:nvSpPr>
            <p:cNvPr id="248" name="Google Shape;248;p18"/>
            <p:cNvSpPr txBox="1"/>
            <p:nvPr/>
          </p:nvSpPr>
          <p:spPr>
            <a:xfrm>
              <a:off x="1048450" y="1757100"/>
              <a:ext cx="3492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baseline="30000" i="0" lang="el" sz="1500" u="none" cap="none" strike="noStrike">
                  <a:solidFill>
                    <a:schemeClr val="accent1"/>
                  </a:solidFill>
                  <a:latin typeface="Lato"/>
                  <a:ea typeface="Lato"/>
                  <a:cs typeface="Lato"/>
                  <a:sym typeface="Lato"/>
                </a:rPr>
                <a:t>P1</a:t>
              </a:r>
              <a:endParaRPr b="0" baseline="30000" i="0" sz="1500" u="none" cap="none" strike="noStrike">
                <a:solidFill>
                  <a:schemeClr val="accent1"/>
                </a:solidFill>
                <a:latin typeface="Lato"/>
                <a:ea typeface="Lato"/>
                <a:cs typeface="Lato"/>
                <a:sym typeface="Lato"/>
              </a:endParaRPr>
            </a:p>
          </p:txBody>
        </p:sp>
        <p:sp>
          <p:nvSpPr>
            <p:cNvPr id="249" name="Google Shape;249;p18"/>
            <p:cNvSpPr txBox="1"/>
            <p:nvPr/>
          </p:nvSpPr>
          <p:spPr>
            <a:xfrm>
              <a:off x="1502650" y="1751350"/>
              <a:ext cx="3492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baseline="30000" i="0" lang="el" sz="1500" u="none" cap="none" strike="noStrike">
                  <a:solidFill>
                    <a:schemeClr val="accent1"/>
                  </a:solidFill>
                  <a:latin typeface="Lato"/>
                  <a:ea typeface="Lato"/>
                  <a:cs typeface="Lato"/>
                  <a:sym typeface="Lato"/>
                </a:rPr>
                <a:t>P2</a:t>
              </a:r>
              <a:endParaRPr b="0" baseline="30000" i="0" sz="1500" u="none" cap="none" strike="noStrike">
                <a:solidFill>
                  <a:schemeClr val="accent1"/>
                </a:solidFill>
                <a:latin typeface="Lato"/>
                <a:ea typeface="Lato"/>
                <a:cs typeface="Lato"/>
                <a:sym typeface="Lato"/>
              </a:endParaRPr>
            </a:p>
          </p:txBody>
        </p:sp>
        <p:sp>
          <p:nvSpPr>
            <p:cNvPr id="250" name="Google Shape;250;p18"/>
            <p:cNvSpPr txBox="1"/>
            <p:nvPr/>
          </p:nvSpPr>
          <p:spPr>
            <a:xfrm>
              <a:off x="1535275" y="2268175"/>
              <a:ext cx="3492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baseline="30000" i="0" lang="el" sz="1500" u="none" cap="none" strike="noStrike">
                  <a:solidFill>
                    <a:schemeClr val="accent1"/>
                  </a:solidFill>
                  <a:latin typeface="Lato"/>
                  <a:ea typeface="Lato"/>
                  <a:cs typeface="Lato"/>
                  <a:sym typeface="Lato"/>
                </a:rPr>
                <a:t>P3</a:t>
              </a:r>
              <a:endParaRPr b="0" baseline="30000" i="0" sz="1500" u="none" cap="none" strike="noStrike">
                <a:solidFill>
                  <a:schemeClr val="accent1"/>
                </a:solidFill>
                <a:latin typeface="Lato"/>
                <a:ea typeface="Lato"/>
                <a:cs typeface="Lato"/>
                <a:sym typeface="Lato"/>
              </a:endParaRPr>
            </a:p>
          </p:txBody>
        </p:sp>
        <p:sp>
          <p:nvSpPr>
            <p:cNvPr id="251" name="Google Shape;251;p18"/>
            <p:cNvSpPr txBox="1"/>
            <p:nvPr/>
          </p:nvSpPr>
          <p:spPr>
            <a:xfrm>
              <a:off x="1118125" y="2337613"/>
              <a:ext cx="3492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baseline="30000" i="0" lang="el" sz="1500" u="none" cap="none" strike="noStrike">
                  <a:solidFill>
                    <a:schemeClr val="accent1"/>
                  </a:solidFill>
                  <a:latin typeface="Lato"/>
                  <a:ea typeface="Lato"/>
                  <a:cs typeface="Lato"/>
                  <a:sym typeface="Lato"/>
                </a:rPr>
                <a:t>P4</a:t>
              </a:r>
              <a:endParaRPr b="0" baseline="30000" i="0" sz="1500" u="none" cap="none" strike="noStrike">
                <a:solidFill>
                  <a:schemeClr val="accent1"/>
                </a:solidFill>
                <a:latin typeface="Lato"/>
                <a:ea typeface="Lato"/>
                <a:cs typeface="Lato"/>
                <a:sym typeface="Lat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9"/>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Ethernet Frames</a:t>
            </a:r>
            <a:endParaRPr/>
          </a:p>
        </p:txBody>
      </p:sp>
      <p:sp>
        <p:nvSpPr>
          <p:cNvPr id="257" name="Google Shape;257;p19"/>
          <p:cNvSpPr txBox="1"/>
          <p:nvPr>
            <p:ph idx="1" type="body"/>
          </p:nvPr>
        </p:nvSpPr>
        <p:spPr>
          <a:xfrm>
            <a:off x="729450" y="3190400"/>
            <a:ext cx="7688700" cy="18360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64 – 1518 bytes (sometimes +4B).</a:t>
            </a:r>
            <a:endParaRPr/>
          </a:p>
          <a:p>
            <a:pPr indent="-330200" lvl="0" marL="457200" rtl="0" algn="l">
              <a:lnSpc>
                <a:spcPct val="115000"/>
              </a:lnSpc>
              <a:spcBef>
                <a:spcPts val="0"/>
              </a:spcBef>
              <a:spcAft>
                <a:spcPts val="0"/>
              </a:spcAft>
              <a:buSzPts val="1600"/>
              <a:buChar char="●"/>
            </a:pPr>
            <a:r>
              <a:rPr lang="el"/>
              <a:t>Packets out of those boundaries </a:t>
            </a:r>
            <a:r>
              <a:rPr b="1" lang="el"/>
              <a:t>are dropped</a:t>
            </a:r>
            <a:r>
              <a:rPr lang="el"/>
              <a:t>.</a:t>
            </a:r>
            <a:endParaRPr/>
          </a:p>
          <a:p>
            <a:pPr indent="-330200" lvl="0" marL="457200" rtl="0" algn="l">
              <a:lnSpc>
                <a:spcPct val="115000"/>
              </a:lnSpc>
              <a:spcBef>
                <a:spcPts val="0"/>
              </a:spcBef>
              <a:spcAft>
                <a:spcPts val="0"/>
              </a:spcAft>
              <a:buSzPts val="1600"/>
              <a:buChar char="●"/>
            </a:pPr>
            <a:r>
              <a:rPr lang="el"/>
              <a:t>NIC checks the FCS and if it is correct, it drops it, otherwise it drops the entire packet.</a:t>
            </a:r>
            <a:endParaRPr/>
          </a:p>
        </p:txBody>
      </p:sp>
      <p:sp>
        <p:nvSpPr>
          <p:cNvPr id="258" name="Google Shape;258;p1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259" name="Google Shape;259;p19"/>
          <p:cNvPicPr preferRelativeResize="0"/>
          <p:nvPr/>
        </p:nvPicPr>
        <p:blipFill rotWithShape="1">
          <a:blip r:embed="rId3">
            <a:alphaModFix/>
          </a:blip>
          <a:srcRect b="0" l="0" r="0" t="0"/>
          <a:stretch/>
        </p:blipFill>
        <p:spPr>
          <a:xfrm>
            <a:off x="1956600" y="1259525"/>
            <a:ext cx="5230810" cy="1778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0"/>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MAC Addresses</a:t>
            </a:r>
            <a:endParaRPr/>
          </a:p>
        </p:txBody>
      </p:sp>
      <p:sp>
        <p:nvSpPr>
          <p:cNvPr id="265" name="Google Shape;265;p20"/>
          <p:cNvSpPr txBox="1"/>
          <p:nvPr>
            <p:ph idx="1" type="body"/>
          </p:nvPr>
        </p:nvSpPr>
        <p:spPr>
          <a:xfrm>
            <a:off x="729450" y="3144950"/>
            <a:ext cx="7688700" cy="17331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Open up a terminal / cmd and hit: </a:t>
            </a:r>
            <a:r>
              <a:rPr lang="el">
                <a:latin typeface="Consolas"/>
                <a:ea typeface="Consolas"/>
                <a:cs typeface="Consolas"/>
                <a:sym typeface="Consolas"/>
              </a:rPr>
              <a:t>ipconfig /all</a:t>
            </a:r>
            <a:endParaRPr>
              <a:latin typeface="Consolas"/>
              <a:ea typeface="Consolas"/>
              <a:cs typeface="Consolas"/>
              <a:sym typeface="Consolas"/>
            </a:endParaRPr>
          </a:p>
          <a:p>
            <a:pPr indent="-330200" lvl="0" marL="457200" rtl="0" algn="l">
              <a:lnSpc>
                <a:spcPct val="115000"/>
              </a:lnSpc>
              <a:spcBef>
                <a:spcPts val="0"/>
              </a:spcBef>
              <a:spcAft>
                <a:spcPts val="0"/>
              </a:spcAft>
              <a:buSzPts val="1600"/>
              <a:buChar char="●"/>
            </a:pPr>
            <a:r>
              <a:rPr lang="el"/>
              <a:t>What do you see?</a:t>
            </a:r>
            <a:endParaRPr/>
          </a:p>
          <a:p>
            <a:pPr indent="-330200" lvl="0" marL="457200" rtl="0" algn="l">
              <a:lnSpc>
                <a:spcPct val="115000"/>
              </a:lnSpc>
              <a:spcBef>
                <a:spcPts val="0"/>
              </a:spcBef>
              <a:spcAft>
                <a:spcPts val="0"/>
              </a:spcAft>
              <a:buSzPts val="1600"/>
              <a:buChar char="●"/>
            </a:pPr>
            <a:r>
              <a:rPr lang="el"/>
              <a:t>What are those letters in MAC addresses?</a:t>
            </a:r>
            <a:endParaRPr/>
          </a:p>
          <a:p>
            <a:pPr indent="-330200" lvl="0" marL="457200" rtl="0" algn="l">
              <a:lnSpc>
                <a:spcPct val="115000"/>
              </a:lnSpc>
              <a:spcBef>
                <a:spcPts val="0"/>
              </a:spcBef>
              <a:spcAft>
                <a:spcPts val="0"/>
              </a:spcAft>
              <a:buSzPts val="1600"/>
              <a:buChar char="●"/>
            </a:pPr>
            <a:r>
              <a:rPr lang="el"/>
              <a:t>HEX digits, of course!</a:t>
            </a:r>
            <a:endParaRPr/>
          </a:p>
          <a:p>
            <a:pPr indent="-330200" lvl="0" marL="457200" rtl="0" algn="l">
              <a:lnSpc>
                <a:spcPct val="115000"/>
              </a:lnSpc>
              <a:spcBef>
                <a:spcPts val="0"/>
              </a:spcBef>
              <a:spcAft>
                <a:spcPts val="0"/>
              </a:spcAft>
              <a:buSzPts val="1600"/>
              <a:buChar char="●"/>
            </a:pPr>
            <a:r>
              <a:rPr lang="el"/>
              <a:t>48 bits, in total.</a:t>
            </a:r>
            <a:endParaRPr/>
          </a:p>
        </p:txBody>
      </p:sp>
      <p:sp>
        <p:nvSpPr>
          <p:cNvPr id="266" name="Google Shape;266;p2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267" name="Google Shape;267;p20"/>
          <p:cNvPicPr preferRelativeResize="0"/>
          <p:nvPr/>
        </p:nvPicPr>
        <p:blipFill rotWithShape="1">
          <a:blip r:embed="rId3">
            <a:alphaModFix/>
          </a:blip>
          <a:srcRect b="0" l="0" r="0" t="0"/>
          <a:stretch/>
        </p:blipFill>
        <p:spPr>
          <a:xfrm>
            <a:off x="3142825" y="1259525"/>
            <a:ext cx="3083341" cy="17330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1"/>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Special MAC</a:t>
            </a:r>
            <a:endParaRPr/>
          </a:p>
        </p:txBody>
      </p:sp>
      <p:sp>
        <p:nvSpPr>
          <p:cNvPr id="273" name="Google Shape;273;p21"/>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All zeros: </a:t>
            </a:r>
            <a:r>
              <a:rPr lang="el">
                <a:latin typeface="Consolas"/>
                <a:ea typeface="Consolas"/>
                <a:cs typeface="Consolas"/>
                <a:sym typeface="Consolas"/>
              </a:rPr>
              <a:t>00000000 00000000:00000000 00000000:00000000 00000000</a:t>
            </a:r>
            <a:endParaRPr>
              <a:latin typeface="Consolas"/>
              <a:ea typeface="Consolas"/>
              <a:cs typeface="Consolas"/>
              <a:sym typeface="Consolas"/>
            </a:endParaRPr>
          </a:p>
          <a:p>
            <a:pPr indent="-330200" lvl="1" marL="914400" rtl="0" algn="l">
              <a:lnSpc>
                <a:spcPct val="115000"/>
              </a:lnSpc>
              <a:spcBef>
                <a:spcPts val="0"/>
              </a:spcBef>
              <a:spcAft>
                <a:spcPts val="0"/>
              </a:spcAft>
              <a:buSzPts val="1600"/>
              <a:buChar char="○"/>
            </a:pPr>
            <a:r>
              <a:rPr lang="el"/>
              <a:t>Placeholder → Address not known yet.</a:t>
            </a:r>
            <a:endParaRPr/>
          </a:p>
          <a:p>
            <a:pPr indent="-330200" lvl="0" marL="457200" rtl="0" algn="l">
              <a:lnSpc>
                <a:spcPct val="115000"/>
              </a:lnSpc>
              <a:spcBef>
                <a:spcPts val="0"/>
              </a:spcBef>
              <a:spcAft>
                <a:spcPts val="0"/>
              </a:spcAft>
              <a:buSzPts val="1600"/>
              <a:buChar char="●"/>
            </a:pPr>
            <a:r>
              <a:rPr lang="el"/>
              <a:t>All ones: </a:t>
            </a:r>
            <a:r>
              <a:rPr lang="el">
                <a:latin typeface="Consolas"/>
                <a:ea typeface="Consolas"/>
                <a:cs typeface="Consolas"/>
                <a:sym typeface="Consolas"/>
              </a:rPr>
              <a:t>11111111 11111111:11111111 11111111:11111111 11111111</a:t>
            </a:r>
            <a:endParaRPr>
              <a:latin typeface="Consolas"/>
              <a:ea typeface="Consolas"/>
              <a:cs typeface="Consolas"/>
              <a:sym typeface="Consolas"/>
            </a:endParaRPr>
          </a:p>
          <a:p>
            <a:pPr indent="-330200" lvl="1" marL="914400" rtl="0" algn="l">
              <a:lnSpc>
                <a:spcPct val="115000"/>
              </a:lnSpc>
              <a:spcBef>
                <a:spcPts val="0"/>
              </a:spcBef>
              <a:spcAft>
                <a:spcPts val="0"/>
              </a:spcAft>
              <a:buSzPts val="1600"/>
              <a:buChar char="○"/>
            </a:pPr>
            <a:r>
              <a:rPr lang="el"/>
              <a:t>Broadcast → Send to all</a:t>
            </a:r>
            <a:endParaRPr/>
          </a:p>
          <a:p>
            <a:pPr indent="-330200" lvl="0" marL="457200" rtl="0" algn="l">
              <a:lnSpc>
                <a:spcPct val="115000"/>
              </a:lnSpc>
              <a:spcBef>
                <a:spcPts val="0"/>
              </a:spcBef>
              <a:spcAft>
                <a:spcPts val="0"/>
              </a:spcAft>
              <a:buSzPts val="1600"/>
              <a:buChar char="●"/>
            </a:pPr>
            <a:r>
              <a:rPr lang="el"/>
              <a:t>MAC starting with </a:t>
            </a:r>
            <a:r>
              <a:rPr lang="el">
                <a:latin typeface="Consolas"/>
                <a:ea typeface="Consolas"/>
                <a:cs typeface="Consolas"/>
                <a:sym typeface="Consolas"/>
              </a:rPr>
              <a:t>01-00-5E</a:t>
            </a:r>
            <a:r>
              <a:rPr lang="el"/>
              <a:t> → Multicast</a:t>
            </a:r>
            <a:endParaRPr/>
          </a:p>
          <a:p>
            <a:pPr indent="-330200" lvl="0" marL="457200" rtl="0" algn="l">
              <a:lnSpc>
                <a:spcPct val="115000"/>
              </a:lnSpc>
              <a:spcBef>
                <a:spcPts val="0"/>
              </a:spcBef>
              <a:spcAft>
                <a:spcPts val="0"/>
              </a:spcAft>
              <a:buSzPts val="1600"/>
              <a:buChar char="●"/>
            </a:pPr>
            <a:r>
              <a:rPr lang="el"/>
              <a:t>How does this work?</a:t>
            </a:r>
            <a:endParaRPr/>
          </a:p>
          <a:p>
            <a:pPr indent="-330200" lvl="1" marL="914400" rtl="0" algn="l">
              <a:lnSpc>
                <a:spcPct val="115000"/>
              </a:lnSpc>
              <a:spcBef>
                <a:spcPts val="0"/>
              </a:spcBef>
              <a:spcAft>
                <a:spcPts val="0"/>
              </a:spcAft>
              <a:buSzPts val="1600"/>
              <a:buChar char="○"/>
            </a:pPr>
            <a:r>
              <a:rPr lang="el"/>
              <a:t>Bitwise masking.</a:t>
            </a:r>
            <a:endParaRPr/>
          </a:p>
          <a:p>
            <a:pPr indent="-330200" lvl="0" marL="457200" rtl="0" algn="l">
              <a:lnSpc>
                <a:spcPct val="115000"/>
              </a:lnSpc>
              <a:spcBef>
                <a:spcPts val="0"/>
              </a:spcBef>
              <a:spcAft>
                <a:spcPts val="0"/>
              </a:spcAft>
              <a:buSzPts val="1600"/>
              <a:buChar char="●"/>
            </a:pPr>
            <a:r>
              <a:rPr lang="el"/>
              <a:t>All ones in HEX?</a:t>
            </a:r>
            <a:endParaRPr/>
          </a:p>
          <a:p>
            <a:pPr indent="-330200" lvl="1" marL="914400" rtl="0" algn="l">
              <a:lnSpc>
                <a:spcPct val="115000"/>
              </a:lnSpc>
              <a:spcBef>
                <a:spcPts val="0"/>
              </a:spcBef>
              <a:spcAft>
                <a:spcPts val="0"/>
              </a:spcAft>
              <a:buSzPts val="1600"/>
              <a:buChar char="○"/>
            </a:pPr>
            <a:r>
              <a:rPr lang="el"/>
              <a:t>FFFF:FFFF:FFFF → Only 12 (48 / </a:t>
            </a:r>
            <a:r>
              <a:rPr lang="el">
                <a:solidFill>
                  <a:schemeClr val="accent3"/>
                </a:solidFill>
              </a:rPr>
              <a:t>4</a:t>
            </a:r>
            <a:r>
              <a:rPr lang="el"/>
              <a:t>) digits, since 16 = 2</a:t>
            </a:r>
            <a:r>
              <a:rPr lang="el">
                <a:solidFill>
                  <a:schemeClr val="accent3"/>
                </a:solidFill>
              </a:rPr>
              <a:t>⁴</a:t>
            </a:r>
            <a:r>
              <a:rPr lang="el"/>
              <a:t>.</a:t>
            </a:r>
            <a:endParaRPr/>
          </a:p>
        </p:txBody>
      </p:sp>
      <p:sp>
        <p:nvSpPr>
          <p:cNvPr id="274" name="Google Shape;274;p2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2"/>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Binary Operations: OR</a:t>
            </a:r>
            <a:endParaRPr/>
          </a:p>
        </p:txBody>
      </p:sp>
      <p:sp>
        <p:nvSpPr>
          <p:cNvPr id="280" name="Google Shape;280;p22"/>
          <p:cNvSpPr txBox="1"/>
          <p:nvPr>
            <p:ph idx="1" type="body"/>
          </p:nvPr>
        </p:nvSpPr>
        <p:spPr>
          <a:xfrm>
            <a:off x="729450" y="1378000"/>
            <a:ext cx="7688700" cy="22161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latin typeface="Consolas"/>
                <a:ea typeface="Consolas"/>
                <a:cs typeface="Consolas"/>
                <a:sym typeface="Consolas"/>
              </a:rPr>
              <a:t>Y OR 1 = 1</a:t>
            </a:r>
            <a:r>
              <a:rPr lang="el"/>
              <a:t>, </a:t>
            </a:r>
            <a:r>
              <a:rPr lang="el">
                <a:latin typeface="Consolas"/>
                <a:ea typeface="Consolas"/>
                <a:cs typeface="Consolas"/>
                <a:sym typeface="Consolas"/>
              </a:rPr>
              <a:t>Y OR 0 = Y</a:t>
            </a:r>
            <a:r>
              <a:rPr lang="el"/>
              <a:t>, i.e.:</a:t>
            </a:r>
            <a:endParaRPr/>
          </a:p>
          <a:p>
            <a:pPr indent="-330200" lvl="1" marL="914400" rtl="0" algn="l">
              <a:lnSpc>
                <a:spcPct val="115000"/>
              </a:lnSpc>
              <a:spcBef>
                <a:spcPts val="0"/>
              </a:spcBef>
              <a:spcAft>
                <a:spcPts val="0"/>
              </a:spcAft>
              <a:buSzPts val="1600"/>
              <a:buFont typeface="Consolas"/>
              <a:buChar char="○"/>
            </a:pPr>
            <a:r>
              <a:rPr lang="el">
                <a:latin typeface="Consolas"/>
                <a:ea typeface="Consolas"/>
                <a:cs typeface="Consolas"/>
                <a:sym typeface="Consolas"/>
              </a:rPr>
              <a:t>0 OR 0 = 0</a:t>
            </a:r>
            <a:endParaRPr>
              <a:latin typeface="Consolas"/>
              <a:ea typeface="Consolas"/>
              <a:cs typeface="Consolas"/>
              <a:sym typeface="Consolas"/>
            </a:endParaRPr>
          </a:p>
          <a:p>
            <a:pPr indent="-330200" lvl="1" marL="914400" rtl="0" algn="l">
              <a:lnSpc>
                <a:spcPct val="115000"/>
              </a:lnSpc>
              <a:spcBef>
                <a:spcPts val="0"/>
              </a:spcBef>
              <a:spcAft>
                <a:spcPts val="0"/>
              </a:spcAft>
              <a:buSzPts val="1600"/>
              <a:buFont typeface="Consolas"/>
              <a:buChar char="○"/>
            </a:pPr>
            <a:r>
              <a:rPr lang="el">
                <a:latin typeface="Consolas"/>
                <a:ea typeface="Consolas"/>
                <a:cs typeface="Consolas"/>
                <a:sym typeface="Consolas"/>
              </a:rPr>
              <a:t>0 OR 1 = 1</a:t>
            </a:r>
            <a:endParaRPr>
              <a:latin typeface="Consolas"/>
              <a:ea typeface="Consolas"/>
              <a:cs typeface="Consolas"/>
              <a:sym typeface="Consolas"/>
            </a:endParaRPr>
          </a:p>
          <a:p>
            <a:pPr indent="-330200" lvl="1" marL="914400" rtl="0" algn="l">
              <a:lnSpc>
                <a:spcPct val="115000"/>
              </a:lnSpc>
              <a:spcBef>
                <a:spcPts val="0"/>
              </a:spcBef>
              <a:spcAft>
                <a:spcPts val="0"/>
              </a:spcAft>
              <a:buSzPts val="1600"/>
              <a:buFont typeface="Consolas"/>
              <a:buChar char="○"/>
            </a:pPr>
            <a:r>
              <a:rPr lang="el">
                <a:latin typeface="Consolas"/>
                <a:ea typeface="Consolas"/>
                <a:cs typeface="Consolas"/>
                <a:sym typeface="Consolas"/>
              </a:rPr>
              <a:t>1 OR 0 = 1</a:t>
            </a:r>
            <a:endParaRPr>
              <a:latin typeface="Consolas"/>
              <a:ea typeface="Consolas"/>
              <a:cs typeface="Consolas"/>
              <a:sym typeface="Consolas"/>
            </a:endParaRPr>
          </a:p>
          <a:p>
            <a:pPr indent="-330200" lvl="1" marL="914400" rtl="0" algn="l">
              <a:lnSpc>
                <a:spcPct val="115000"/>
              </a:lnSpc>
              <a:spcBef>
                <a:spcPts val="0"/>
              </a:spcBef>
              <a:spcAft>
                <a:spcPts val="0"/>
              </a:spcAft>
              <a:buSzPts val="1600"/>
              <a:buFont typeface="Consolas"/>
              <a:buChar char="○"/>
            </a:pPr>
            <a:r>
              <a:rPr lang="el">
                <a:latin typeface="Consolas"/>
                <a:ea typeface="Consolas"/>
                <a:cs typeface="Consolas"/>
                <a:sym typeface="Consolas"/>
              </a:rPr>
              <a:t>1 OR 1 = 1</a:t>
            </a:r>
            <a:endParaRPr>
              <a:latin typeface="Consolas"/>
              <a:ea typeface="Consolas"/>
              <a:cs typeface="Consolas"/>
              <a:sym typeface="Consolas"/>
            </a:endParaRPr>
          </a:p>
          <a:p>
            <a:pPr indent="-330200" lvl="0" marL="457200" rtl="0" algn="l">
              <a:lnSpc>
                <a:spcPct val="115000"/>
              </a:lnSpc>
              <a:spcBef>
                <a:spcPts val="0"/>
              </a:spcBef>
              <a:spcAft>
                <a:spcPts val="0"/>
              </a:spcAft>
              <a:buSzPts val="1600"/>
              <a:buChar char="●"/>
            </a:pPr>
            <a:r>
              <a:rPr lang="el"/>
              <a:t>Essentially, an OR bitmask can turn a bit to 1 (turn on). Assume that we want to turn the first four bits of </a:t>
            </a:r>
            <a:r>
              <a:rPr lang="el">
                <a:latin typeface="Consolas"/>
                <a:ea typeface="Consolas"/>
                <a:cs typeface="Consolas"/>
                <a:sym typeface="Consolas"/>
              </a:rPr>
              <a:t>10101101</a:t>
            </a:r>
            <a:r>
              <a:rPr lang="el"/>
              <a:t> to 1. Then:</a:t>
            </a:r>
            <a:endParaRPr/>
          </a:p>
        </p:txBody>
      </p:sp>
      <p:sp>
        <p:nvSpPr>
          <p:cNvPr id="281" name="Google Shape;281;p2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grpSp>
        <p:nvGrpSpPr>
          <p:cNvPr id="282" name="Google Shape;282;p22"/>
          <p:cNvGrpSpPr/>
          <p:nvPr/>
        </p:nvGrpSpPr>
        <p:grpSpPr>
          <a:xfrm>
            <a:off x="3280950" y="3627250"/>
            <a:ext cx="2169375" cy="1122600"/>
            <a:chOff x="3280950" y="3627250"/>
            <a:chExt cx="2169375" cy="1122600"/>
          </a:xfrm>
        </p:grpSpPr>
        <p:sp>
          <p:nvSpPr>
            <p:cNvPr id="283" name="Google Shape;283;p22"/>
            <p:cNvSpPr txBox="1"/>
            <p:nvPr/>
          </p:nvSpPr>
          <p:spPr>
            <a:xfrm>
              <a:off x="3280950" y="3627250"/>
              <a:ext cx="2020800" cy="1122600"/>
            </a:xfrm>
            <a:prstGeom prst="rect">
              <a:avLst/>
            </a:prstGeom>
            <a:noFill/>
            <a:ln>
              <a:noFill/>
            </a:ln>
          </p:spPr>
          <p:txBody>
            <a:bodyPr anchorCtr="0" anchor="t" bIns="91425" lIns="91425" spcFirstLastPara="1" rIns="91425" wrap="square" tIns="91425">
              <a:noAutofit/>
            </a:bodyPr>
            <a:lstStyle/>
            <a:p>
              <a:pPr indent="0" lvl="0" marL="457200" marR="0" rtl="0" algn="r">
                <a:lnSpc>
                  <a:spcPct val="115000"/>
                </a:lnSpc>
                <a:spcBef>
                  <a:spcPts val="0"/>
                </a:spcBef>
                <a:spcAft>
                  <a:spcPts val="1200"/>
                </a:spcAft>
                <a:buClr>
                  <a:srgbClr val="000000"/>
                </a:buClr>
                <a:buSzPts val="1600"/>
                <a:buFont typeface="Arial"/>
                <a:buNone/>
              </a:pPr>
              <a:r>
                <a:rPr b="1" i="0" lang="el" sz="1600" u="none" cap="none" strike="noStrike">
                  <a:solidFill>
                    <a:schemeClr val="accent3"/>
                  </a:solidFill>
                  <a:latin typeface="Consolas"/>
                  <a:ea typeface="Consolas"/>
                  <a:cs typeface="Consolas"/>
                  <a:sym typeface="Consolas"/>
                </a:rPr>
                <a:t>1010</a:t>
              </a:r>
              <a:r>
                <a:rPr b="0" i="0" lang="el" sz="1600" u="none" cap="none" strike="noStrike">
                  <a:solidFill>
                    <a:schemeClr val="accent1"/>
                  </a:solidFill>
                  <a:latin typeface="Consolas"/>
                  <a:ea typeface="Consolas"/>
                  <a:cs typeface="Consolas"/>
                  <a:sym typeface="Consolas"/>
                </a:rPr>
                <a:t>1101</a:t>
              </a:r>
              <a:br>
                <a:rPr b="0" i="0" lang="el" sz="1600" u="none" cap="none" strike="noStrike">
                  <a:solidFill>
                    <a:schemeClr val="accent1"/>
                  </a:solidFill>
                  <a:latin typeface="Consolas"/>
                  <a:ea typeface="Consolas"/>
                  <a:cs typeface="Consolas"/>
                  <a:sym typeface="Consolas"/>
                </a:rPr>
              </a:br>
              <a:r>
                <a:rPr b="0" i="0" lang="el" sz="1600" u="none" cap="none" strike="noStrike">
                  <a:solidFill>
                    <a:schemeClr val="accent1"/>
                  </a:solidFill>
                  <a:latin typeface="Consolas"/>
                  <a:ea typeface="Consolas"/>
                  <a:cs typeface="Consolas"/>
                  <a:sym typeface="Consolas"/>
                </a:rPr>
                <a:t>OR </a:t>
              </a:r>
              <a:r>
                <a:rPr b="1" i="0" lang="el" sz="1600" u="none" cap="none" strike="noStrike">
                  <a:solidFill>
                    <a:schemeClr val="accent3"/>
                  </a:solidFill>
                  <a:latin typeface="Consolas"/>
                  <a:ea typeface="Consolas"/>
                  <a:cs typeface="Consolas"/>
                  <a:sym typeface="Consolas"/>
                </a:rPr>
                <a:t>1111</a:t>
              </a:r>
              <a:r>
                <a:rPr b="0" i="0" lang="el" sz="1600" u="none" cap="none" strike="noStrike">
                  <a:solidFill>
                    <a:schemeClr val="accent1"/>
                  </a:solidFill>
                  <a:latin typeface="Consolas"/>
                  <a:ea typeface="Consolas"/>
                  <a:cs typeface="Consolas"/>
                  <a:sym typeface="Consolas"/>
                </a:rPr>
                <a:t>0000</a:t>
              </a:r>
              <a:br>
                <a:rPr b="0" i="0" lang="el" sz="1600" u="none" cap="none" strike="noStrike">
                  <a:solidFill>
                    <a:schemeClr val="accent1"/>
                  </a:solidFill>
                  <a:latin typeface="Consolas"/>
                  <a:ea typeface="Consolas"/>
                  <a:cs typeface="Consolas"/>
                  <a:sym typeface="Consolas"/>
                </a:rPr>
              </a:br>
              <a:r>
                <a:rPr b="1" i="0" lang="el" sz="1600" u="none" cap="none" strike="noStrike">
                  <a:solidFill>
                    <a:schemeClr val="dk1"/>
                  </a:solidFill>
                  <a:latin typeface="Consolas"/>
                  <a:ea typeface="Consolas"/>
                  <a:cs typeface="Consolas"/>
                  <a:sym typeface="Consolas"/>
                </a:rPr>
                <a:t>1111</a:t>
              </a:r>
              <a:r>
                <a:rPr b="0" i="0" lang="el" sz="1600" u="none" cap="none" strike="noStrike">
                  <a:solidFill>
                    <a:schemeClr val="accent1"/>
                  </a:solidFill>
                  <a:latin typeface="Consolas"/>
                  <a:ea typeface="Consolas"/>
                  <a:cs typeface="Consolas"/>
                  <a:sym typeface="Consolas"/>
                </a:rPr>
                <a:t>1101</a:t>
              </a:r>
              <a:endParaRPr b="0" i="0" sz="1300" u="none" cap="none" strike="noStrike">
                <a:solidFill>
                  <a:schemeClr val="accent1"/>
                </a:solidFill>
                <a:latin typeface="Consolas"/>
                <a:ea typeface="Consolas"/>
                <a:cs typeface="Consolas"/>
                <a:sym typeface="Consolas"/>
              </a:endParaRPr>
            </a:p>
          </p:txBody>
        </p:sp>
        <p:cxnSp>
          <p:nvCxnSpPr>
            <p:cNvPr id="284" name="Google Shape;284;p22"/>
            <p:cNvCxnSpPr/>
            <p:nvPr/>
          </p:nvCxnSpPr>
          <p:spPr>
            <a:xfrm flipH="1" rot="10800000">
              <a:off x="3748125" y="4260475"/>
              <a:ext cx="1702200" cy="900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3"/>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Binary Operations: AND</a:t>
            </a:r>
            <a:endParaRPr/>
          </a:p>
        </p:txBody>
      </p:sp>
      <p:sp>
        <p:nvSpPr>
          <p:cNvPr id="290" name="Google Shape;290;p2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
        <p:nvSpPr>
          <p:cNvPr id="291" name="Google Shape;291;p23"/>
          <p:cNvSpPr txBox="1"/>
          <p:nvPr>
            <p:ph idx="1" type="body"/>
          </p:nvPr>
        </p:nvSpPr>
        <p:spPr>
          <a:xfrm>
            <a:off x="729450" y="1378000"/>
            <a:ext cx="7688700" cy="22161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latin typeface="Consolas"/>
                <a:ea typeface="Consolas"/>
                <a:cs typeface="Consolas"/>
                <a:sym typeface="Consolas"/>
              </a:rPr>
              <a:t>Y AND 1 = Y</a:t>
            </a:r>
            <a:r>
              <a:rPr lang="el"/>
              <a:t>, </a:t>
            </a:r>
            <a:r>
              <a:rPr lang="el">
                <a:latin typeface="Consolas"/>
                <a:ea typeface="Consolas"/>
                <a:cs typeface="Consolas"/>
                <a:sym typeface="Consolas"/>
              </a:rPr>
              <a:t>Y AND 0 = 0</a:t>
            </a:r>
            <a:r>
              <a:rPr lang="el"/>
              <a:t>, i.e.:</a:t>
            </a:r>
            <a:endParaRPr/>
          </a:p>
          <a:p>
            <a:pPr indent="-330200" lvl="1" marL="914400" rtl="0" algn="l">
              <a:lnSpc>
                <a:spcPct val="115000"/>
              </a:lnSpc>
              <a:spcBef>
                <a:spcPts val="0"/>
              </a:spcBef>
              <a:spcAft>
                <a:spcPts val="0"/>
              </a:spcAft>
              <a:buSzPts val="1600"/>
              <a:buFont typeface="Consolas"/>
              <a:buChar char="○"/>
            </a:pPr>
            <a:r>
              <a:rPr lang="el">
                <a:latin typeface="Consolas"/>
                <a:ea typeface="Consolas"/>
                <a:cs typeface="Consolas"/>
                <a:sym typeface="Consolas"/>
              </a:rPr>
              <a:t>0 AND 0 = 0</a:t>
            </a:r>
            <a:endParaRPr>
              <a:latin typeface="Consolas"/>
              <a:ea typeface="Consolas"/>
              <a:cs typeface="Consolas"/>
              <a:sym typeface="Consolas"/>
            </a:endParaRPr>
          </a:p>
          <a:p>
            <a:pPr indent="-330200" lvl="1" marL="914400" rtl="0" algn="l">
              <a:lnSpc>
                <a:spcPct val="115000"/>
              </a:lnSpc>
              <a:spcBef>
                <a:spcPts val="0"/>
              </a:spcBef>
              <a:spcAft>
                <a:spcPts val="0"/>
              </a:spcAft>
              <a:buSzPts val="1600"/>
              <a:buFont typeface="Consolas"/>
              <a:buChar char="○"/>
            </a:pPr>
            <a:r>
              <a:rPr lang="el">
                <a:latin typeface="Consolas"/>
                <a:ea typeface="Consolas"/>
                <a:cs typeface="Consolas"/>
                <a:sym typeface="Consolas"/>
              </a:rPr>
              <a:t>0 AND 1 = 0</a:t>
            </a:r>
            <a:endParaRPr>
              <a:latin typeface="Consolas"/>
              <a:ea typeface="Consolas"/>
              <a:cs typeface="Consolas"/>
              <a:sym typeface="Consolas"/>
            </a:endParaRPr>
          </a:p>
          <a:p>
            <a:pPr indent="-330200" lvl="1" marL="914400" rtl="0" algn="l">
              <a:lnSpc>
                <a:spcPct val="115000"/>
              </a:lnSpc>
              <a:spcBef>
                <a:spcPts val="0"/>
              </a:spcBef>
              <a:spcAft>
                <a:spcPts val="0"/>
              </a:spcAft>
              <a:buSzPts val="1600"/>
              <a:buFont typeface="Consolas"/>
              <a:buChar char="○"/>
            </a:pPr>
            <a:r>
              <a:rPr lang="el">
                <a:latin typeface="Consolas"/>
                <a:ea typeface="Consolas"/>
                <a:cs typeface="Consolas"/>
                <a:sym typeface="Consolas"/>
              </a:rPr>
              <a:t>1 AND 0 = 0</a:t>
            </a:r>
            <a:endParaRPr>
              <a:latin typeface="Consolas"/>
              <a:ea typeface="Consolas"/>
              <a:cs typeface="Consolas"/>
              <a:sym typeface="Consolas"/>
            </a:endParaRPr>
          </a:p>
          <a:p>
            <a:pPr indent="-330200" lvl="1" marL="914400" rtl="0" algn="l">
              <a:lnSpc>
                <a:spcPct val="115000"/>
              </a:lnSpc>
              <a:spcBef>
                <a:spcPts val="0"/>
              </a:spcBef>
              <a:spcAft>
                <a:spcPts val="0"/>
              </a:spcAft>
              <a:buSzPts val="1600"/>
              <a:buFont typeface="Consolas"/>
              <a:buChar char="○"/>
            </a:pPr>
            <a:r>
              <a:rPr lang="el">
                <a:latin typeface="Consolas"/>
                <a:ea typeface="Consolas"/>
                <a:cs typeface="Consolas"/>
                <a:sym typeface="Consolas"/>
              </a:rPr>
              <a:t>1 AND 1 = 1</a:t>
            </a:r>
            <a:endParaRPr>
              <a:latin typeface="Consolas"/>
              <a:ea typeface="Consolas"/>
              <a:cs typeface="Consolas"/>
              <a:sym typeface="Consolas"/>
            </a:endParaRPr>
          </a:p>
          <a:p>
            <a:pPr indent="-330200" lvl="0" marL="457200" rtl="0" algn="l">
              <a:lnSpc>
                <a:spcPct val="115000"/>
              </a:lnSpc>
              <a:spcBef>
                <a:spcPts val="0"/>
              </a:spcBef>
              <a:spcAft>
                <a:spcPts val="0"/>
              </a:spcAft>
              <a:buSzPts val="1600"/>
              <a:buChar char="●"/>
            </a:pPr>
            <a:r>
              <a:rPr lang="el"/>
              <a:t>Essentially, an AND bitmask can turn a bit to 0 (turn off). Assume that we want to turn the first four bits of </a:t>
            </a:r>
            <a:r>
              <a:rPr lang="el">
                <a:latin typeface="Consolas"/>
                <a:ea typeface="Consolas"/>
                <a:cs typeface="Consolas"/>
                <a:sym typeface="Consolas"/>
              </a:rPr>
              <a:t>10101101</a:t>
            </a:r>
            <a:r>
              <a:rPr lang="el"/>
              <a:t> to 0. Then:</a:t>
            </a:r>
            <a:endParaRPr/>
          </a:p>
        </p:txBody>
      </p:sp>
      <p:grpSp>
        <p:nvGrpSpPr>
          <p:cNvPr id="292" name="Google Shape;292;p23"/>
          <p:cNvGrpSpPr/>
          <p:nvPr/>
        </p:nvGrpSpPr>
        <p:grpSpPr>
          <a:xfrm>
            <a:off x="3280950" y="3627250"/>
            <a:ext cx="2169375" cy="1122600"/>
            <a:chOff x="3280950" y="3627250"/>
            <a:chExt cx="2169375" cy="1122600"/>
          </a:xfrm>
        </p:grpSpPr>
        <p:sp>
          <p:nvSpPr>
            <p:cNvPr id="293" name="Google Shape;293;p23"/>
            <p:cNvSpPr txBox="1"/>
            <p:nvPr/>
          </p:nvSpPr>
          <p:spPr>
            <a:xfrm>
              <a:off x="3280950" y="3627250"/>
              <a:ext cx="2020800" cy="1122600"/>
            </a:xfrm>
            <a:prstGeom prst="rect">
              <a:avLst/>
            </a:prstGeom>
            <a:noFill/>
            <a:ln>
              <a:noFill/>
            </a:ln>
          </p:spPr>
          <p:txBody>
            <a:bodyPr anchorCtr="0" anchor="t" bIns="91425" lIns="91425" spcFirstLastPara="1" rIns="91425" wrap="square" tIns="91425">
              <a:noAutofit/>
            </a:bodyPr>
            <a:lstStyle/>
            <a:p>
              <a:pPr indent="0" lvl="0" marL="457200" marR="0" rtl="0" algn="r">
                <a:lnSpc>
                  <a:spcPct val="115000"/>
                </a:lnSpc>
                <a:spcBef>
                  <a:spcPts val="0"/>
                </a:spcBef>
                <a:spcAft>
                  <a:spcPts val="1200"/>
                </a:spcAft>
                <a:buClr>
                  <a:srgbClr val="000000"/>
                </a:buClr>
                <a:buSzPts val="1600"/>
                <a:buFont typeface="Arial"/>
                <a:buNone/>
              </a:pPr>
              <a:r>
                <a:rPr b="1" i="0" lang="el" sz="1600" u="none" cap="none" strike="noStrike">
                  <a:solidFill>
                    <a:schemeClr val="accent3"/>
                  </a:solidFill>
                  <a:latin typeface="Consolas"/>
                  <a:ea typeface="Consolas"/>
                  <a:cs typeface="Consolas"/>
                  <a:sym typeface="Consolas"/>
                </a:rPr>
                <a:t>1010</a:t>
              </a:r>
              <a:r>
                <a:rPr b="0" i="0" lang="el" sz="1600" u="none" cap="none" strike="noStrike">
                  <a:solidFill>
                    <a:schemeClr val="accent1"/>
                  </a:solidFill>
                  <a:latin typeface="Consolas"/>
                  <a:ea typeface="Consolas"/>
                  <a:cs typeface="Consolas"/>
                  <a:sym typeface="Consolas"/>
                </a:rPr>
                <a:t>1101</a:t>
              </a:r>
              <a:br>
                <a:rPr b="0" i="0" lang="el" sz="1600" u="none" cap="none" strike="noStrike">
                  <a:solidFill>
                    <a:schemeClr val="accent1"/>
                  </a:solidFill>
                  <a:latin typeface="Consolas"/>
                  <a:ea typeface="Consolas"/>
                  <a:cs typeface="Consolas"/>
                  <a:sym typeface="Consolas"/>
                </a:rPr>
              </a:br>
              <a:r>
                <a:rPr b="0" i="0" lang="el" sz="1600" u="none" cap="none" strike="noStrike">
                  <a:solidFill>
                    <a:schemeClr val="accent1"/>
                  </a:solidFill>
                  <a:latin typeface="Consolas"/>
                  <a:ea typeface="Consolas"/>
                  <a:cs typeface="Consolas"/>
                  <a:sym typeface="Consolas"/>
                </a:rPr>
                <a:t>AND </a:t>
              </a:r>
              <a:r>
                <a:rPr b="1" i="0" lang="el" sz="1600" u="none" cap="none" strike="noStrike">
                  <a:solidFill>
                    <a:schemeClr val="accent3"/>
                  </a:solidFill>
                  <a:latin typeface="Consolas"/>
                  <a:ea typeface="Consolas"/>
                  <a:cs typeface="Consolas"/>
                  <a:sym typeface="Consolas"/>
                </a:rPr>
                <a:t>0000</a:t>
              </a:r>
              <a:r>
                <a:rPr b="0" i="0" lang="el" sz="1600" u="none" cap="none" strike="noStrike">
                  <a:solidFill>
                    <a:schemeClr val="accent1"/>
                  </a:solidFill>
                  <a:latin typeface="Consolas"/>
                  <a:ea typeface="Consolas"/>
                  <a:cs typeface="Consolas"/>
                  <a:sym typeface="Consolas"/>
                </a:rPr>
                <a:t>1111</a:t>
              </a:r>
              <a:br>
                <a:rPr b="0" i="0" lang="el" sz="1600" u="none" cap="none" strike="noStrike">
                  <a:solidFill>
                    <a:schemeClr val="accent1"/>
                  </a:solidFill>
                  <a:latin typeface="Consolas"/>
                  <a:ea typeface="Consolas"/>
                  <a:cs typeface="Consolas"/>
                  <a:sym typeface="Consolas"/>
                </a:rPr>
              </a:br>
              <a:r>
                <a:rPr b="1" i="0" lang="el" sz="1600" u="none" cap="none" strike="noStrike">
                  <a:solidFill>
                    <a:schemeClr val="dk1"/>
                  </a:solidFill>
                  <a:latin typeface="Consolas"/>
                  <a:ea typeface="Consolas"/>
                  <a:cs typeface="Consolas"/>
                  <a:sym typeface="Consolas"/>
                </a:rPr>
                <a:t>0000</a:t>
              </a:r>
              <a:r>
                <a:rPr b="0" i="0" lang="el" sz="1600" u="none" cap="none" strike="noStrike">
                  <a:solidFill>
                    <a:schemeClr val="accent1"/>
                  </a:solidFill>
                  <a:latin typeface="Consolas"/>
                  <a:ea typeface="Consolas"/>
                  <a:cs typeface="Consolas"/>
                  <a:sym typeface="Consolas"/>
                </a:rPr>
                <a:t>1101</a:t>
              </a:r>
              <a:endParaRPr b="0" i="0" sz="1300" u="none" cap="none" strike="noStrike">
                <a:solidFill>
                  <a:schemeClr val="accent1"/>
                </a:solidFill>
                <a:latin typeface="Consolas"/>
                <a:ea typeface="Consolas"/>
                <a:cs typeface="Consolas"/>
                <a:sym typeface="Consolas"/>
              </a:endParaRPr>
            </a:p>
          </p:txBody>
        </p:sp>
        <p:cxnSp>
          <p:nvCxnSpPr>
            <p:cNvPr id="294" name="Google Shape;294;p23"/>
            <p:cNvCxnSpPr/>
            <p:nvPr/>
          </p:nvCxnSpPr>
          <p:spPr>
            <a:xfrm flipH="1" rot="10800000">
              <a:off x="3748125" y="4260475"/>
              <a:ext cx="1702200" cy="900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4"/>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Use case: Querying certain bits</a:t>
            </a:r>
            <a:endParaRPr/>
          </a:p>
        </p:txBody>
      </p:sp>
      <p:sp>
        <p:nvSpPr>
          <p:cNvPr id="300" name="Google Shape;300;p24"/>
          <p:cNvSpPr txBox="1"/>
          <p:nvPr>
            <p:ph idx="1" type="body"/>
          </p:nvPr>
        </p:nvSpPr>
        <p:spPr>
          <a:xfrm>
            <a:off x="729450" y="1378000"/>
            <a:ext cx="7688700" cy="21801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Consider the following bitstring:</a:t>
            </a:r>
            <a:endParaRPr/>
          </a:p>
          <a:p>
            <a:pPr indent="0" lvl="0" marL="0" rtl="0" algn="ctr">
              <a:lnSpc>
                <a:spcPct val="115000"/>
              </a:lnSpc>
              <a:spcBef>
                <a:spcPts val="1200"/>
              </a:spcBef>
              <a:spcAft>
                <a:spcPts val="0"/>
              </a:spcAft>
              <a:buSzPts val="1600"/>
              <a:buNone/>
            </a:pPr>
            <a:r>
              <a:rPr lang="el">
                <a:latin typeface="Consolas"/>
                <a:ea typeface="Consolas"/>
                <a:cs typeface="Consolas"/>
                <a:sym typeface="Consolas"/>
              </a:rPr>
              <a:t>10011110</a:t>
            </a:r>
            <a:br>
              <a:rPr lang="el">
                <a:latin typeface="Consolas"/>
                <a:ea typeface="Consolas"/>
                <a:cs typeface="Consolas"/>
                <a:sym typeface="Consolas"/>
              </a:rPr>
            </a:br>
            <a:r>
              <a:rPr lang="el">
                <a:latin typeface="Consolas"/>
                <a:ea typeface="Consolas"/>
                <a:cs typeface="Consolas"/>
                <a:sym typeface="Consolas"/>
              </a:rPr>
              <a:t>01110101</a:t>
            </a:r>
            <a:endParaRPr>
              <a:latin typeface="Consolas"/>
              <a:ea typeface="Consolas"/>
              <a:cs typeface="Consolas"/>
              <a:sym typeface="Consolas"/>
            </a:endParaRPr>
          </a:p>
          <a:p>
            <a:pPr indent="-330200" lvl="0" marL="457200" rtl="0" algn="l">
              <a:lnSpc>
                <a:spcPct val="115000"/>
              </a:lnSpc>
              <a:spcBef>
                <a:spcPts val="1200"/>
              </a:spcBef>
              <a:spcAft>
                <a:spcPts val="0"/>
              </a:spcAft>
              <a:buSzPts val="1600"/>
              <a:buChar char="●"/>
            </a:pPr>
            <a:r>
              <a:rPr lang="el"/>
              <a:t>How can we easily query the status of their sixth bit (i.e., whether they are on or off)?</a:t>
            </a:r>
            <a:endParaRPr/>
          </a:p>
          <a:p>
            <a:pPr indent="-330200" lvl="0" marL="457200" rtl="0" algn="l">
              <a:lnSpc>
                <a:spcPct val="115000"/>
              </a:lnSpc>
              <a:spcBef>
                <a:spcPts val="0"/>
              </a:spcBef>
              <a:spcAft>
                <a:spcPts val="0"/>
              </a:spcAft>
              <a:buSzPts val="1600"/>
              <a:buChar char="●"/>
            </a:pPr>
            <a:r>
              <a:rPr lang="el"/>
              <a:t>By using an </a:t>
            </a:r>
            <a:r>
              <a:rPr b="1" lang="el"/>
              <a:t>AND</a:t>
            </a:r>
            <a:r>
              <a:rPr lang="el"/>
              <a:t> </a:t>
            </a:r>
            <a:r>
              <a:rPr b="1" lang="el"/>
              <a:t>bitmask</a:t>
            </a:r>
            <a:r>
              <a:rPr lang="el"/>
              <a:t> and then comparing to zero:</a:t>
            </a:r>
            <a:endParaRPr/>
          </a:p>
        </p:txBody>
      </p:sp>
      <p:sp>
        <p:nvSpPr>
          <p:cNvPr id="301" name="Google Shape;301;p2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grpSp>
        <p:nvGrpSpPr>
          <p:cNvPr id="302" name="Google Shape;302;p24"/>
          <p:cNvGrpSpPr/>
          <p:nvPr/>
        </p:nvGrpSpPr>
        <p:grpSpPr>
          <a:xfrm>
            <a:off x="1470250" y="3627250"/>
            <a:ext cx="2169375" cy="1122600"/>
            <a:chOff x="1470250" y="3627250"/>
            <a:chExt cx="2169375" cy="1122600"/>
          </a:xfrm>
        </p:grpSpPr>
        <p:sp>
          <p:nvSpPr>
            <p:cNvPr id="303" name="Google Shape;303;p24"/>
            <p:cNvSpPr txBox="1"/>
            <p:nvPr/>
          </p:nvSpPr>
          <p:spPr>
            <a:xfrm>
              <a:off x="1470250" y="3627250"/>
              <a:ext cx="2020800" cy="1122600"/>
            </a:xfrm>
            <a:prstGeom prst="rect">
              <a:avLst/>
            </a:prstGeom>
            <a:noFill/>
            <a:ln>
              <a:noFill/>
            </a:ln>
          </p:spPr>
          <p:txBody>
            <a:bodyPr anchorCtr="0" anchor="t" bIns="91425" lIns="91425" spcFirstLastPara="1" rIns="91425" wrap="square" tIns="91425">
              <a:noAutofit/>
            </a:bodyPr>
            <a:lstStyle/>
            <a:p>
              <a:pPr indent="0" lvl="0" marL="457200" marR="0" rtl="0" algn="r">
                <a:lnSpc>
                  <a:spcPct val="115000"/>
                </a:lnSpc>
                <a:spcBef>
                  <a:spcPts val="0"/>
                </a:spcBef>
                <a:spcAft>
                  <a:spcPts val="1200"/>
                </a:spcAft>
                <a:buClr>
                  <a:srgbClr val="000000"/>
                </a:buClr>
                <a:buSzPts val="1600"/>
                <a:buFont typeface="Arial"/>
                <a:buNone/>
              </a:pPr>
              <a:r>
                <a:rPr b="0" i="0" lang="el" sz="1600" u="none" cap="none" strike="noStrike">
                  <a:solidFill>
                    <a:schemeClr val="accent1"/>
                  </a:solidFill>
                  <a:latin typeface="Consolas"/>
                  <a:ea typeface="Consolas"/>
                  <a:cs typeface="Consolas"/>
                  <a:sym typeface="Consolas"/>
                </a:rPr>
                <a:t>10</a:t>
              </a:r>
              <a:r>
                <a:rPr b="1" i="0" lang="el" sz="1600" u="none" cap="none" strike="noStrike">
                  <a:solidFill>
                    <a:schemeClr val="accent3"/>
                  </a:solidFill>
                  <a:latin typeface="Consolas"/>
                  <a:ea typeface="Consolas"/>
                  <a:cs typeface="Consolas"/>
                  <a:sym typeface="Consolas"/>
                </a:rPr>
                <a:t>0</a:t>
              </a:r>
              <a:r>
                <a:rPr b="0" i="0" lang="el" sz="1600" u="none" cap="none" strike="noStrike">
                  <a:solidFill>
                    <a:schemeClr val="accent1"/>
                  </a:solidFill>
                  <a:latin typeface="Consolas"/>
                  <a:ea typeface="Consolas"/>
                  <a:cs typeface="Consolas"/>
                  <a:sym typeface="Consolas"/>
                </a:rPr>
                <a:t>11110</a:t>
              </a:r>
              <a:br>
                <a:rPr b="0" i="0" lang="el" sz="1600" u="none" cap="none" strike="noStrike">
                  <a:solidFill>
                    <a:schemeClr val="accent1"/>
                  </a:solidFill>
                  <a:latin typeface="Consolas"/>
                  <a:ea typeface="Consolas"/>
                  <a:cs typeface="Consolas"/>
                  <a:sym typeface="Consolas"/>
                </a:rPr>
              </a:br>
              <a:r>
                <a:rPr b="0" i="0" lang="el" sz="1600" u="none" cap="none" strike="noStrike">
                  <a:solidFill>
                    <a:schemeClr val="accent1"/>
                  </a:solidFill>
                  <a:latin typeface="Consolas"/>
                  <a:ea typeface="Consolas"/>
                  <a:cs typeface="Consolas"/>
                  <a:sym typeface="Consolas"/>
                </a:rPr>
                <a:t>AND 00</a:t>
              </a:r>
              <a:r>
                <a:rPr b="1" i="0" lang="el" sz="1600" u="none" cap="none" strike="noStrike">
                  <a:solidFill>
                    <a:schemeClr val="accent3"/>
                  </a:solidFill>
                  <a:latin typeface="Consolas"/>
                  <a:ea typeface="Consolas"/>
                  <a:cs typeface="Consolas"/>
                  <a:sym typeface="Consolas"/>
                </a:rPr>
                <a:t>1</a:t>
              </a:r>
              <a:r>
                <a:rPr b="0" i="0" lang="el" sz="1600" u="none" cap="none" strike="noStrike">
                  <a:solidFill>
                    <a:schemeClr val="accent1"/>
                  </a:solidFill>
                  <a:latin typeface="Consolas"/>
                  <a:ea typeface="Consolas"/>
                  <a:cs typeface="Consolas"/>
                  <a:sym typeface="Consolas"/>
                </a:rPr>
                <a:t>00000</a:t>
              </a:r>
              <a:br>
                <a:rPr b="0" i="0" lang="el" sz="1600" u="none" cap="none" strike="noStrike">
                  <a:solidFill>
                    <a:schemeClr val="accent1"/>
                  </a:solidFill>
                  <a:latin typeface="Consolas"/>
                  <a:ea typeface="Consolas"/>
                  <a:cs typeface="Consolas"/>
                  <a:sym typeface="Consolas"/>
                </a:rPr>
              </a:br>
              <a:r>
                <a:rPr b="0" i="0" lang="el" sz="1600" u="none" cap="none" strike="noStrike">
                  <a:solidFill>
                    <a:schemeClr val="accent1"/>
                  </a:solidFill>
                  <a:latin typeface="Consolas"/>
                  <a:ea typeface="Consolas"/>
                  <a:cs typeface="Consolas"/>
                  <a:sym typeface="Consolas"/>
                </a:rPr>
                <a:t>00</a:t>
              </a:r>
              <a:r>
                <a:rPr b="1" i="0" lang="el" sz="1600" u="none" cap="none" strike="noStrike">
                  <a:solidFill>
                    <a:schemeClr val="dk1"/>
                  </a:solidFill>
                  <a:latin typeface="Consolas"/>
                  <a:ea typeface="Consolas"/>
                  <a:cs typeface="Consolas"/>
                  <a:sym typeface="Consolas"/>
                </a:rPr>
                <a:t>0</a:t>
              </a:r>
              <a:r>
                <a:rPr b="0" i="0" lang="el" sz="1600" u="none" cap="none" strike="noStrike">
                  <a:solidFill>
                    <a:schemeClr val="accent1"/>
                  </a:solidFill>
                  <a:latin typeface="Consolas"/>
                  <a:ea typeface="Consolas"/>
                  <a:cs typeface="Consolas"/>
                  <a:sym typeface="Consolas"/>
                </a:rPr>
                <a:t>00000</a:t>
              </a:r>
              <a:endParaRPr b="0" i="0" sz="1300" u="none" cap="none" strike="noStrike">
                <a:solidFill>
                  <a:schemeClr val="accent1"/>
                </a:solidFill>
                <a:latin typeface="Consolas"/>
                <a:ea typeface="Consolas"/>
                <a:cs typeface="Consolas"/>
                <a:sym typeface="Consolas"/>
              </a:endParaRPr>
            </a:p>
          </p:txBody>
        </p:sp>
        <p:cxnSp>
          <p:nvCxnSpPr>
            <p:cNvPr id="304" name="Google Shape;304;p24"/>
            <p:cNvCxnSpPr/>
            <p:nvPr/>
          </p:nvCxnSpPr>
          <p:spPr>
            <a:xfrm flipH="1" rot="10800000">
              <a:off x="1937425" y="4260475"/>
              <a:ext cx="1702200" cy="9000"/>
            </a:xfrm>
            <a:prstGeom prst="straightConnector1">
              <a:avLst/>
            </a:prstGeom>
            <a:noFill/>
            <a:ln cap="flat" cmpd="sng" w="9525">
              <a:solidFill>
                <a:schemeClr val="dk2"/>
              </a:solidFill>
              <a:prstDash val="solid"/>
              <a:round/>
              <a:headEnd len="sm" w="sm" type="none"/>
              <a:tailEnd len="sm" w="sm" type="none"/>
            </a:ln>
          </p:spPr>
        </p:cxnSp>
      </p:grpSp>
      <p:grpSp>
        <p:nvGrpSpPr>
          <p:cNvPr id="305" name="Google Shape;305;p24"/>
          <p:cNvGrpSpPr/>
          <p:nvPr/>
        </p:nvGrpSpPr>
        <p:grpSpPr>
          <a:xfrm>
            <a:off x="5003275" y="3703675"/>
            <a:ext cx="2169375" cy="1122600"/>
            <a:chOff x="5003275" y="3703675"/>
            <a:chExt cx="2169375" cy="1122600"/>
          </a:xfrm>
        </p:grpSpPr>
        <p:sp>
          <p:nvSpPr>
            <p:cNvPr id="306" name="Google Shape;306;p24"/>
            <p:cNvSpPr txBox="1"/>
            <p:nvPr/>
          </p:nvSpPr>
          <p:spPr>
            <a:xfrm>
              <a:off x="5003275" y="3703675"/>
              <a:ext cx="2020800" cy="1122600"/>
            </a:xfrm>
            <a:prstGeom prst="rect">
              <a:avLst/>
            </a:prstGeom>
            <a:noFill/>
            <a:ln>
              <a:noFill/>
            </a:ln>
          </p:spPr>
          <p:txBody>
            <a:bodyPr anchorCtr="0" anchor="t" bIns="91425" lIns="91425" spcFirstLastPara="1" rIns="91425" wrap="square" tIns="91425">
              <a:noAutofit/>
            </a:bodyPr>
            <a:lstStyle/>
            <a:p>
              <a:pPr indent="0" lvl="0" marL="457200" marR="0" rtl="0" algn="r">
                <a:lnSpc>
                  <a:spcPct val="115000"/>
                </a:lnSpc>
                <a:spcBef>
                  <a:spcPts val="0"/>
                </a:spcBef>
                <a:spcAft>
                  <a:spcPts val="1200"/>
                </a:spcAft>
                <a:buClr>
                  <a:srgbClr val="000000"/>
                </a:buClr>
                <a:buSzPts val="1600"/>
                <a:buFont typeface="Arial"/>
                <a:buNone/>
              </a:pPr>
              <a:r>
                <a:rPr b="0" i="0" lang="el" sz="1600" u="none" cap="none" strike="noStrike">
                  <a:solidFill>
                    <a:schemeClr val="accent1"/>
                  </a:solidFill>
                  <a:latin typeface="Consolas"/>
                  <a:ea typeface="Consolas"/>
                  <a:cs typeface="Consolas"/>
                  <a:sym typeface="Consolas"/>
                </a:rPr>
                <a:t>01</a:t>
              </a:r>
              <a:r>
                <a:rPr b="1" i="0" lang="el" sz="1600" u="none" cap="none" strike="noStrike">
                  <a:solidFill>
                    <a:schemeClr val="accent3"/>
                  </a:solidFill>
                  <a:latin typeface="Consolas"/>
                  <a:ea typeface="Consolas"/>
                  <a:cs typeface="Consolas"/>
                  <a:sym typeface="Consolas"/>
                </a:rPr>
                <a:t>1</a:t>
              </a:r>
              <a:r>
                <a:rPr b="0" i="0" lang="el" sz="1600" u="none" cap="none" strike="noStrike">
                  <a:solidFill>
                    <a:schemeClr val="accent1"/>
                  </a:solidFill>
                  <a:latin typeface="Consolas"/>
                  <a:ea typeface="Consolas"/>
                  <a:cs typeface="Consolas"/>
                  <a:sym typeface="Consolas"/>
                </a:rPr>
                <a:t>10101</a:t>
              </a:r>
              <a:br>
                <a:rPr b="0" i="0" lang="el" sz="1600" u="none" cap="none" strike="noStrike">
                  <a:solidFill>
                    <a:schemeClr val="accent1"/>
                  </a:solidFill>
                  <a:latin typeface="Consolas"/>
                  <a:ea typeface="Consolas"/>
                  <a:cs typeface="Consolas"/>
                  <a:sym typeface="Consolas"/>
                </a:rPr>
              </a:br>
              <a:r>
                <a:rPr b="0" i="0" lang="el" sz="1600" u="none" cap="none" strike="noStrike">
                  <a:solidFill>
                    <a:schemeClr val="accent1"/>
                  </a:solidFill>
                  <a:latin typeface="Consolas"/>
                  <a:ea typeface="Consolas"/>
                  <a:cs typeface="Consolas"/>
                  <a:sym typeface="Consolas"/>
                </a:rPr>
                <a:t>AND 00</a:t>
              </a:r>
              <a:r>
                <a:rPr b="1" i="0" lang="el" sz="1600" u="none" cap="none" strike="noStrike">
                  <a:solidFill>
                    <a:schemeClr val="accent3"/>
                  </a:solidFill>
                  <a:latin typeface="Consolas"/>
                  <a:ea typeface="Consolas"/>
                  <a:cs typeface="Consolas"/>
                  <a:sym typeface="Consolas"/>
                </a:rPr>
                <a:t>1</a:t>
              </a:r>
              <a:r>
                <a:rPr b="0" i="0" lang="el" sz="1600" u="none" cap="none" strike="noStrike">
                  <a:solidFill>
                    <a:schemeClr val="accent1"/>
                  </a:solidFill>
                  <a:latin typeface="Consolas"/>
                  <a:ea typeface="Consolas"/>
                  <a:cs typeface="Consolas"/>
                  <a:sym typeface="Consolas"/>
                </a:rPr>
                <a:t>00000</a:t>
              </a:r>
              <a:br>
                <a:rPr b="0" i="0" lang="el" sz="1600" u="none" cap="none" strike="noStrike">
                  <a:solidFill>
                    <a:schemeClr val="accent1"/>
                  </a:solidFill>
                  <a:latin typeface="Consolas"/>
                  <a:ea typeface="Consolas"/>
                  <a:cs typeface="Consolas"/>
                  <a:sym typeface="Consolas"/>
                </a:rPr>
              </a:br>
              <a:r>
                <a:rPr b="0" i="0" lang="el" sz="1600" u="none" cap="none" strike="noStrike">
                  <a:solidFill>
                    <a:schemeClr val="accent1"/>
                  </a:solidFill>
                  <a:latin typeface="Consolas"/>
                  <a:ea typeface="Consolas"/>
                  <a:cs typeface="Consolas"/>
                  <a:sym typeface="Consolas"/>
                </a:rPr>
                <a:t>00</a:t>
              </a:r>
              <a:r>
                <a:rPr b="1" i="0" lang="el" sz="1600" u="none" cap="none" strike="noStrike">
                  <a:solidFill>
                    <a:schemeClr val="dk1"/>
                  </a:solidFill>
                  <a:latin typeface="Consolas"/>
                  <a:ea typeface="Consolas"/>
                  <a:cs typeface="Consolas"/>
                  <a:sym typeface="Consolas"/>
                </a:rPr>
                <a:t>1</a:t>
              </a:r>
              <a:r>
                <a:rPr b="0" i="0" lang="el" sz="1600" u="none" cap="none" strike="noStrike">
                  <a:solidFill>
                    <a:schemeClr val="accent1"/>
                  </a:solidFill>
                  <a:latin typeface="Consolas"/>
                  <a:ea typeface="Consolas"/>
                  <a:cs typeface="Consolas"/>
                  <a:sym typeface="Consolas"/>
                </a:rPr>
                <a:t>00000</a:t>
              </a:r>
              <a:endParaRPr b="0" i="0" sz="1300" u="none" cap="none" strike="noStrike">
                <a:solidFill>
                  <a:schemeClr val="accent1"/>
                </a:solidFill>
                <a:latin typeface="Consolas"/>
                <a:ea typeface="Consolas"/>
                <a:cs typeface="Consolas"/>
                <a:sym typeface="Consolas"/>
              </a:endParaRPr>
            </a:p>
          </p:txBody>
        </p:sp>
        <p:cxnSp>
          <p:nvCxnSpPr>
            <p:cNvPr id="307" name="Google Shape;307;p24"/>
            <p:cNvCxnSpPr/>
            <p:nvPr/>
          </p:nvCxnSpPr>
          <p:spPr>
            <a:xfrm flipH="1" rot="10800000">
              <a:off x="5470450" y="4336900"/>
              <a:ext cx="1702200" cy="9000"/>
            </a:xfrm>
            <a:prstGeom prst="straightConnector1">
              <a:avLst/>
            </a:prstGeom>
            <a:noFill/>
            <a:ln cap="flat" cmpd="sng" w="9525">
              <a:solidFill>
                <a:schemeClr val="dk2"/>
              </a:solidFill>
              <a:prstDash val="solid"/>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5"/>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Application: Choosing Among Options</a:t>
            </a:r>
            <a:endParaRPr/>
          </a:p>
        </p:txBody>
      </p:sp>
      <p:sp>
        <p:nvSpPr>
          <p:cNvPr id="313" name="Google Shape;313;p25"/>
          <p:cNvSpPr txBox="1"/>
          <p:nvPr>
            <p:ph idx="1" type="body"/>
          </p:nvPr>
        </p:nvSpPr>
        <p:spPr>
          <a:xfrm>
            <a:off x="729450" y="1378000"/>
            <a:ext cx="7688700" cy="18903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Imagine a case where you have four binary options: A, B, C, D.</a:t>
            </a:r>
            <a:endParaRPr/>
          </a:p>
          <a:p>
            <a:pPr indent="-330200" lvl="0" marL="457200" rtl="0" algn="l">
              <a:lnSpc>
                <a:spcPct val="115000"/>
              </a:lnSpc>
              <a:spcBef>
                <a:spcPts val="0"/>
              </a:spcBef>
              <a:spcAft>
                <a:spcPts val="0"/>
              </a:spcAft>
              <a:buSzPts val="1600"/>
              <a:buChar char="●"/>
            </a:pPr>
            <a:r>
              <a:rPr lang="el"/>
              <a:t>This can be encoded by a nibble (half-byte) such as: </a:t>
            </a:r>
            <a:r>
              <a:rPr lang="el">
                <a:latin typeface="Consolas"/>
                <a:ea typeface="Consolas"/>
                <a:cs typeface="Consolas"/>
                <a:sym typeface="Consolas"/>
              </a:rPr>
              <a:t>0011</a:t>
            </a:r>
            <a:r>
              <a:rPr lang="el"/>
              <a:t>, which would mean that A and B are “off” while C and D are “on”.</a:t>
            </a:r>
            <a:endParaRPr/>
          </a:p>
          <a:p>
            <a:pPr indent="-330200" lvl="0" marL="457200" rtl="0" algn="l">
              <a:lnSpc>
                <a:spcPct val="115000"/>
              </a:lnSpc>
              <a:spcBef>
                <a:spcPts val="0"/>
              </a:spcBef>
              <a:spcAft>
                <a:spcPts val="0"/>
              </a:spcAft>
              <a:buSzPts val="1600"/>
              <a:buChar char="●"/>
            </a:pPr>
            <a:r>
              <a:rPr lang="el"/>
              <a:t>Assume now that you want to just find out what’s going on with option C in the above. How can you achieve that with bitmasks?</a:t>
            </a:r>
            <a:endParaRPr/>
          </a:p>
          <a:p>
            <a:pPr indent="-330200" lvl="0" marL="457200" rtl="0" algn="l">
              <a:lnSpc>
                <a:spcPct val="115000"/>
              </a:lnSpc>
              <a:spcBef>
                <a:spcPts val="0"/>
              </a:spcBef>
              <a:spcAft>
                <a:spcPts val="0"/>
              </a:spcAft>
              <a:buSzPts val="1600"/>
              <a:buChar char="●"/>
            </a:pPr>
            <a:r>
              <a:rPr lang="el"/>
              <a:t>Use an AND mask on the second digit and compare to 0:</a:t>
            </a:r>
            <a:endParaRPr/>
          </a:p>
        </p:txBody>
      </p:sp>
      <p:sp>
        <p:nvSpPr>
          <p:cNvPr id="314" name="Google Shape;314;p2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grpSp>
        <p:nvGrpSpPr>
          <p:cNvPr id="315" name="Google Shape;315;p25"/>
          <p:cNvGrpSpPr/>
          <p:nvPr/>
        </p:nvGrpSpPr>
        <p:grpSpPr>
          <a:xfrm>
            <a:off x="1874075" y="3627250"/>
            <a:ext cx="1765550" cy="1352225"/>
            <a:chOff x="1874075" y="3627250"/>
            <a:chExt cx="1765550" cy="1352225"/>
          </a:xfrm>
        </p:grpSpPr>
        <p:sp>
          <p:nvSpPr>
            <p:cNvPr id="316" name="Google Shape;316;p25"/>
            <p:cNvSpPr txBox="1"/>
            <p:nvPr/>
          </p:nvSpPr>
          <p:spPr>
            <a:xfrm>
              <a:off x="1874075" y="3627250"/>
              <a:ext cx="1617000" cy="1122600"/>
            </a:xfrm>
            <a:prstGeom prst="rect">
              <a:avLst/>
            </a:prstGeom>
            <a:noFill/>
            <a:ln>
              <a:noFill/>
            </a:ln>
          </p:spPr>
          <p:txBody>
            <a:bodyPr anchorCtr="0" anchor="t" bIns="91425" lIns="91425" spcFirstLastPara="1" rIns="91425" wrap="square" tIns="91425">
              <a:noAutofit/>
            </a:bodyPr>
            <a:lstStyle/>
            <a:p>
              <a:pPr indent="0" lvl="0" marL="457200" marR="0" rtl="0" algn="r">
                <a:lnSpc>
                  <a:spcPct val="115000"/>
                </a:lnSpc>
                <a:spcBef>
                  <a:spcPts val="0"/>
                </a:spcBef>
                <a:spcAft>
                  <a:spcPts val="1200"/>
                </a:spcAft>
                <a:buClr>
                  <a:srgbClr val="000000"/>
                </a:buClr>
                <a:buSzPts val="1600"/>
                <a:buFont typeface="Arial"/>
                <a:buNone/>
              </a:pPr>
              <a:r>
                <a:rPr b="0" i="0" lang="el" sz="1600" u="none" cap="none" strike="noStrike">
                  <a:solidFill>
                    <a:schemeClr val="accent1"/>
                  </a:solidFill>
                  <a:latin typeface="Consolas"/>
                  <a:ea typeface="Consolas"/>
                  <a:cs typeface="Consolas"/>
                  <a:sym typeface="Consolas"/>
                </a:rPr>
                <a:t>00</a:t>
              </a:r>
              <a:r>
                <a:rPr b="1" i="0" lang="el" sz="1600" u="none" cap="none" strike="noStrike">
                  <a:solidFill>
                    <a:schemeClr val="accent3"/>
                  </a:solidFill>
                  <a:latin typeface="Consolas"/>
                  <a:ea typeface="Consolas"/>
                  <a:cs typeface="Consolas"/>
                  <a:sym typeface="Consolas"/>
                </a:rPr>
                <a:t>1</a:t>
              </a:r>
              <a:r>
                <a:rPr b="0" i="0" lang="el" sz="1600" u="none" cap="none" strike="noStrike">
                  <a:solidFill>
                    <a:schemeClr val="accent1"/>
                  </a:solidFill>
                  <a:latin typeface="Consolas"/>
                  <a:ea typeface="Consolas"/>
                  <a:cs typeface="Consolas"/>
                  <a:sym typeface="Consolas"/>
                </a:rPr>
                <a:t>1</a:t>
              </a:r>
              <a:br>
                <a:rPr b="0" i="0" lang="el" sz="1600" u="none" cap="none" strike="noStrike">
                  <a:solidFill>
                    <a:schemeClr val="accent1"/>
                  </a:solidFill>
                  <a:latin typeface="Consolas"/>
                  <a:ea typeface="Consolas"/>
                  <a:cs typeface="Consolas"/>
                  <a:sym typeface="Consolas"/>
                </a:rPr>
              </a:br>
              <a:r>
                <a:rPr b="0" i="0" lang="el" sz="1600" u="none" cap="none" strike="noStrike">
                  <a:solidFill>
                    <a:schemeClr val="accent1"/>
                  </a:solidFill>
                  <a:latin typeface="Consolas"/>
                  <a:ea typeface="Consolas"/>
                  <a:cs typeface="Consolas"/>
                  <a:sym typeface="Consolas"/>
                </a:rPr>
                <a:t>AND 00</a:t>
              </a:r>
              <a:r>
                <a:rPr b="1" i="0" lang="el" sz="1600" u="none" cap="none" strike="noStrike">
                  <a:solidFill>
                    <a:schemeClr val="accent3"/>
                  </a:solidFill>
                  <a:latin typeface="Consolas"/>
                  <a:ea typeface="Consolas"/>
                  <a:cs typeface="Consolas"/>
                  <a:sym typeface="Consolas"/>
                </a:rPr>
                <a:t>1</a:t>
              </a:r>
              <a:r>
                <a:rPr b="0" i="0" lang="el" sz="1600" u="none" cap="none" strike="noStrike">
                  <a:solidFill>
                    <a:schemeClr val="accent1"/>
                  </a:solidFill>
                  <a:latin typeface="Consolas"/>
                  <a:ea typeface="Consolas"/>
                  <a:cs typeface="Consolas"/>
                  <a:sym typeface="Consolas"/>
                </a:rPr>
                <a:t>0</a:t>
              </a:r>
              <a:br>
                <a:rPr b="0" i="0" lang="el" sz="1600" u="none" cap="none" strike="noStrike">
                  <a:solidFill>
                    <a:schemeClr val="accent1"/>
                  </a:solidFill>
                  <a:latin typeface="Consolas"/>
                  <a:ea typeface="Consolas"/>
                  <a:cs typeface="Consolas"/>
                  <a:sym typeface="Consolas"/>
                </a:rPr>
              </a:br>
              <a:r>
                <a:rPr b="0" i="0" lang="el" sz="1600" u="none" cap="none" strike="noStrike">
                  <a:solidFill>
                    <a:schemeClr val="accent1"/>
                  </a:solidFill>
                  <a:latin typeface="Consolas"/>
                  <a:ea typeface="Consolas"/>
                  <a:cs typeface="Consolas"/>
                  <a:sym typeface="Consolas"/>
                </a:rPr>
                <a:t>00</a:t>
              </a:r>
              <a:r>
                <a:rPr b="1" i="0" lang="el" sz="1600" u="none" cap="none" strike="noStrike">
                  <a:solidFill>
                    <a:schemeClr val="dk1"/>
                  </a:solidFill>
                  <a:latin typeface="Consolas"/>
                  <a:ea typeface="Consolas"/>
                  <a:cs typeface="Consolas"/>
                  <a:sym typeface="Consolas"/>
                </a:rPr>
                <a:t>1</a:t>
              </a:r>
              <a:r>
                <a:rPr b="0" i="0" lang="el" sz="1600" u="none" cap="none" strike="noStrike">
                  <a:solidFill>
                    <a:schemeClr val="accent1"/>
                  </a:solidFill>
                  <a:latin typeface="Consolas"/>
                  <a:ea typeface="Consolas"/>
                  <a:cs typeface="Consolas"/>
                  <a:sym typeface="Consolas"/>
                </a:rPr>
                <a:t>0</a:t>
              </a:r>
              <a:endParaRPr b="0" i="0" sz="1300" u="none" cap="none" strike="noStrike">
                <a:solidFill>
                  <a:schemeClr val="accent1"/>
                </a:solidFill>
                <a:latin typeface="Consolas"/>
                <a:ea typeface="Consolas"/>
                <a:cs typeface="Consolas"/>
                <a:sym typeface="Consolas"/>
              </a:endParaRPr>
            </a:p>
          </p:txBody>
        </p:sp>
        <p:cxnSp>
          <p:nvCxnSpPr>
            <p:cNvPr id="317" name="Google Shape;317;p25"/>
            <p:cNvCxnSpPr/>
            <p:nvPr/>
          </p:nvCxnSpPr>
          <p:spPr>
            <a:xfrm flipH="1" rot="10800000">
              <a:off x="1937425" y="4260475"/>
              <a:ext cx="1702200" cy="9000"/>
            </a:xfrm>
            <a:prstGeom prst="straightConnector1">
              <a:avLst/>
            </a:prstGeom>
            <a:noFill/>
            <a:ln cap="flat" cmpd="sng" w="9525">
              <a:solidFill>
                <a:schemeClr val="dk2"/>
              </a:solidFill>
              <a:prstDash val="solid"/>
              <a:round/>
              <a:headEnd len="sm" w="sm" type="none"/>
              <a:tailEnd len="sm" w="sm" type="none"/>
            </a:ln>
          </p:spPr>
        </p:cxnSp>
        <p:sp>
          <p:nvSpPr>
            <p:cNvPr id="318" name="Google Shape;318;p25"/>
            <p:cNvSpPr txBox="1"/>
            <p:nvPr/>
          </p:nvSpPr>
          <p:spPr>
            <a:xfrm>
              <a:off x="1980025" y="4635375"/>
              <a:ext cx="16170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l" sz="1600" u="none" cap="none" strike="noStrike">
                  <a:solidFill>
                    <a:schemeClr val="accent1"/>
                  </a:solidFill>
                  <a:latin typeface="Lato"/>
                  <a:ea typeface="Lato"/>
                  <a:cs typeface="Lato"/>
                  <a:sym typeface="Lato"/>
                </a:rPr>
                <a:t>Option C: “On”</a:t>
              </a:r>
              <a:endParaRPr b="0" i="0" sz="1600" u="none" cap="none" strike="noStrike">
                <a:solidFill>
                  <a:schemeClr val="accent1"/>
                </a:solidFill>
                <a:latin typeface="Lato"/>
                <a:ea typeface="Lato"/>
                <a:cs typeface="Lato"/>
                <a:sym typeface="Lato"/>
              </a:endParaRPr>
            </a:p>
          </p:txBody>
        </p:sp>
      </p:grpSp>
      <p:grpSp>
        <p:nvGrpSpPr>
          <p:cNvPr id="319" name="Google Shape;319;p25"/>
          <p:cNvGrpSpPr/>
          <p:nvPr/>
        </p:nvGrpSpPr>
        <p:grpSpPr>
          <a:xfrm>
            <a:off x="5130913" y="3703675"/>
            <a:ext cx="1765550" cy="1275800"/>
            <a:chOff x="5130913" y="3703675"/>
            <a:chExt cx="1765550" cy="1275800"/>
          </a:xfrm>
        </p:grpSpPr>
        <p:sp>
          <p:nvSpPr>
            <p:cNvPr id="320" name="Google Shape;320;p25"/>
            <p:cNvSpPr txBox="1"/>
            <p:nvPr/>
          </p:nvSpPr>
          <p:spPr>
            <a:xfrm>
              <a:off x="5130913" y="3703675"/>
              <a:ext cx="1617000" cy="1122600"/>
            </a:xfrm>
            <a:prstGeom prst="rect">
              <a:avLst/>
            </a:prstGeom>
            <a:noFill/>
            <a:ln>
              <a:noFill/>
            </a:ln>
          </p:spPr>
          <p:txBody>
            <a:bodyPr anchorCtr="0" anchor="t" bIns="91425" lIns="91425" spcFirstLastPara="1" rIns="91425" wrap="square" tIns="91425">
              <a:noAutofit/>
            </a:bodyPr>
            <a:lstStyle/>
            <a:p>
              <a:pPr indent="0" lvl="0" marL="457200" marR="0" rtl="0" algn="r">
                <a:lnSpc>
                  <a:spcPct val="115000"/>
                </a:lnSpc>
                <a:spcBef>
                  <a:spcPts val="0"/>
                </a:spcBef>
                <a:spcAft>
                  <a:spcPts val="1200"/>
                </a:spcAft>
                <a:buClr>
                  <a:srgbClr val="000000"/>
                </a:buClr>
                <a:buSzPts val="1600"/>
                <a:buFont typeface="Arial"/>
                <a:buNone/>
              </a:pPr>
              <a:r>
                <a:rPr b="0" i="0" lang="el" sz="1600" u="none" cap="none" strike="noStrike">
                  <a:solidFill>
                    <a:schemeClr val="accent1"/>
                  </a:solidFill>
                  <a:latin typeface="Consolas"/>
                  <a:ea typeface="Consolas"/>
                  <a:cs typeface="Consolas"/>
                  <a:sym typeface="Consolas"/>
                </a:rPr>
                <a:t>11</a:t>
              </a:r>
              <a:r>
                <a:rPr b="1" i="0" lang="el" sz="1600" u="none" cap="none" strike="noStrike">
                  <a:solidFill>
                    <a:schemeClr val="accent3"/>
                  </a:solidFill>
                  <a:latin typeface="Consolas"/>
                  <a:ea typeface="Consolas"/>
                  <a:cs typeface="Consolas"/>
                  <a:sym typeface="Consolas"/>
                </a:rPr>
                <a:t>0</a:t>
              </a:r>
              <a:r>
                <a:rPr b="0" i="0" lang="el" sz="1600" u="none" cap="none" strike="noStrike">
                  <a:solidFill>
                    <a:schemeClr val="accent1"/>
                  </a:solidFill>
                  <a:latin typeface="Consolas"/>
                  <a:ea typeface="Consolas"/>
                  <a:cs typeface="Consolas"/>
                  <a:sym typeface="Consolas"/>
                </a:rPr>
                <a:t>1</a:t>
              </a:r>
              <a:br>
                <a:rPr b="0" i="0" lang="el" sz="1600" u="none" cap="none" strike="noStrike">
                  <a:solidFill>
                    <a:schemeClr val="accent1"/>
                  </a:solidFill>
                  <a:latin typeface="Consolas"/>
                  <a:ea typeface="Consolas"/>
                  <a:cs typeface="Consolas"/>
                  <a:sym typeface="Consolas"/>
                </a:rPr>
              </a:br>
              <a:r>
                <a:rPr b="0" i="0" lang="el" sz="1600" u="none" cap="none" strike="noStrike">
                  <a:solidFill>
                    <a:schemeClr val="accent1"/>
                  </a:solidFill>
                  <a:latin typeface="Consolas"/>
                  <a:ea typeface="Consolas"/>
                  <a:cs typeface="Consolas"/>
                  <a:sym typeface="Consolas"/>
                </a:rPr>
                <a:t>AND 00</a:t>
              </a:r>
              <a:r>
                <a:rPr b="1" i="0" lang="el" sz="1600" u="none" cap="none" strike="noStrike">
                  <a:solidFill>
                    <a:schemeClr val="accent3"/>
                  </a:solidFill>
                  <a:latin typeface="Consolas"/>
                  <a:ea typeface="Consolas"/>
                  <a:cs typeface="Consolas"/>
                  <a:sym typeface="Consolas"/>
                </a:rPr>
                <a:t>1</a:t>
              </a:r>
              <a:r>
                <a:rPr b="0" i="0" lang="el" sz="1600" u="none" cap="none" strike="noStrike">
                  <a:solidFill>
                    <a:schemeClr val="accent1"/>
                  </a:solidFill>
                  <a:latin typeface="Consolas"/>
                  <a:ea typeface="Consolas"/>
                  <a:cs typeface="Consolas"/>
                  <a:sym typeface="Consolas"/>
                </a:rPr>
                <a:t>0</a:t>
              </a:r>
              <a:br>
                <a:rPr b="0" i="0" lang="el" sz="1600" u="none" cap="none" strike="noStrike">
                  <a:solidFill>
                    <a:schemeClr val="accent1"/>
                  </a:solidFill>
                  <a:latin typeface="Consolas"/>
                  <a:ea typeface="Consolas"/>
                  <a:cs typeface="Consolas"/>
                  <a:sym typeface="Consolas"/>
                </a:rPr>
              </a:br>
              <a:r>
                <a:rPr b="0" i="0" lang="el" sz="1600" u="none" cap="none" strike="noStrike">
                  <a:solidFill>
                    <a:schemeClr val="accent1"/>
                  </a:solidFill>
                  <a:latin typeface="Consolas"/>
                  <a:ea typeface="Consolas"/>
                  <a:cs typeface="Consolas"/>
                  <a:sym typeface="Consolas"/>
                </a:rPr>
                <a:t>00</a:t>
              </a:r>
              <a:r>
                <a:rPr b="1" i="0" lang="el" sz="1600" u="none" cap="none" strike="noStrike">
                  <a:solidFill>
                    <a:schemeClr val="dk1"/>
                  </a:solidFill>
                  <a:latin typeface="Consolas"/>
                  <a:ea typeface="Consolas"/>
                  <a:cs typeface="Consolas"/>
                  <a:sym typeface="Consolas"/>
                </a:rPr>
                <a:t>0</a:t>
              </a:r>
              <a:r>
                <a:rPr b="0" i="0" lang="el" sz="1600" u="none" cap="none" strike="noStrike">
                  <a:solidFill>
                    <a:schemeClr val="accent1"/>
                  </a:solidFill>
                  <a:latin typeface="Consolas"/>
                  <a:ea typeface="Consolas"/>
                  <a:cs typeface="Consolas"/>
                  <a:sym typeface="Consolas"/>
                </a:rPr>
                <a:t>0</a:t>
              </a:r>
              <a:endParaRPr b="0" i="0" sz="1300" u="none" cap="none" strike="noStrike">
                <a:solidFill>
                  <a:schemeClr val="accent1"/>
                </a:solidFill>
                <a:latin typeface="Consolas"/>
                <a:ea typeface="Consolas"/>
                <a:cs typeface="Consolas"/>
                <a:sym typeface="Consolas"/>
              </a:endParaRPr>
            </a:p>
          </p:txBody>
        </p:sp>
        <p:cxnSp>
          <p:nvCxnSpPr>
            <p:cNvPr id="321" name="Google Shape;321;p25"/>
            <p:cNvCxnSpPr/>
            <p:nvPr/>
          </p:nvCxnSpPr>
          <p:spPr>
            <a:xfrm flipH="1" rot="10800000">
              <a:off x="5194263" y="4336900"/>
              <a:ext cx="1702200" cy="9000"/>
            </a:xfrm>
            <a:prstGeom prst="straightConnector1">
              <a:avLst/>
            </a:prstGeom>
            <a:noFill/>
            <a:ln cap="flat" cmpd="sng" w="9525">
              <a:solidFill>
                <a:schemeClr val="dk2"/>
              </a:solidFill>
              <a:prstDash val="solid"/>
              <a:round/>
              <a:headEnd len="sm" w="sm" type="none"/>
              <a:tailEnd len="sm" w="sm" type="none"/>
            </a:ln>
          </p:spPr>
        </p:cxnSp>
        <p:sp>
          <p:nvSpPr>
            <p:cNvPr id="322" name="Google Shape;322;p25"/>
            <p:cNvSpPr txBox="1"/>
            <p:nvPr/>
          </p:nvSpPr>
          <p:spPr>
            <a:xfrm>
              <a:off x="5258150" y="4635375"/>
              <a:ext cx="1617000" cy="3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l" sz="1600" u="none" cap="none" strike="noStrike">
                  <a:solidFill>
                    <a:schemeClr val="accent1"/>
                  </a:solidFill>
                  <a:latin typeface="Lato"/>
                  <a:ea typeface="Lato"/>
                  <a:cs typeface="Lato"/>
                  <a:sym typeface="Lato"/>
                </a:rPr>
                <a:t>Option C: “Off”</a:t>
              </a:r>
              <a:endParaRPr b="0" i="0" sz="1600" u="none" cap="none" strike="noStrike">
                <a:solidFill>
                  <a:schemeClr val="accent1"/>
                </a:solidFill>
                <a:latin typeface="Lato"/>
                <a:ea typeface="Lato"/>
                <a:cs typeface="Lato"/>
                <a:sym typeface="Lat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6"/>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MAC vs IP</a:t>
            </a:r>
            <a:endParaRPr/>
          </a:p>
        </p:txBody>
      </p:sp>
      <p:sp>
        <p:nvSpPr>
          <p:cNvPr id="328" name="Google Shape;328;p26"/>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MAC Address:</a:t>
            </a:r>
            <a:endParaRPr/>
          </a:p>
          <a:p>
            <a:pPr indent="-330200" lvl="1" marL="914400" rtl="0" algn="l">
              <a:lnSpc>
                <a:spcPct val="115000"/>
              </a:lnSpc>
              <a:spcBef>
                <a:spcPts val="0"/>
              </a:spcBef>
              <a:spcAft>
                <a:spcPts val="0"/>
              </a:spcAft>
              <a:buSzPts val="1600"/>
              <a:buChar char="○"/>
            </a:pPr>
            <a:r>
              <a:rPr lang="el"/>
              <a:t>Does not change</a:t>
            </a:r>
            <a:endParaRPr/>
          </a:p>
          <a:p>
            <a:pPr indent="-330200" lvl="1" marL="914400" rtl="0" algn="l">
              <a:lnSpc>
                <a:spcPct val="115000"/>
              </a:lnSpc>
              <a:spcBef>
                <a:spcPts val="0"/>
              </a:spcBef>
              <a:spcAft>
                <a:spcPts val="0"/>
              </a:spcAft>
              <a:buSzPts val="1600"/>
              <a:buChar char="○"/>
            </a:pPr>
            <a:r>
              <a:rPr lang="el"/>
              <a:t>Physical address (assigned to NIC)</a:t>
            </a:r>
            <a:endParaRPr/>
          </a:p>
          <a:p>
            <a:pPr indent="-330200" lvl="1" marL="914400" rtl="0" algn="l">
              <a:lnSpc>
                <a:spcPct val="115000"/>
              </a:lnSpc>
              <a:spcBef>
                <a:spcPts val="0"/>
              </a:spcBef>
              <a:spcAft>
                <a:spcPts val="0"/>
              </a:spcAft>
              <a:buSzPts val="1600"/>
              <a:buChar char="○"/>
            </a:pPr>
            <a:r>
              <a:rPr lang="el"/>
              <a:t>Assigned by Manufacturer (as per IEEE instructions)</a:t>
            </a:r>
            <a:endParaRPr/>
          </a:p>
          <a:p>
            <a:pPr indent="-330200" lvl="0" marL="457200" rtl="0" algn="l">
              <a:lnSpc>
                <a:spcPct val="115000"/>
              </a:lnSpc>
              <a:spcBef>
                <a:spcPts val="0"/>
              </a:spcBef>
              <a:spcAft>
                <a:spcPts val="0"/>
              </a:spcAft>
              <a:buSzPts val="1600"/>
              <a:buChar char="●"/>
            </a:pPr>
            <a:r>
              <a:rPr lang="el"/>
              <a:t>IP Address:</a:t>
            </a:r>
            <a:endParaRPr/>
          </a:p>
          <a:p>
            <a:pPr indent="-330200" lvl="1" marL="914400" rtl="0" algn="l">
              <a:lnSpc>
                <a:spcPct val="115000"/>
              </a:lnSpc>
              <a:spcBef>
                <a:spcPts val="0"/>
              </a:spcBef>
              <a:spcAft>
                <a:spcPts val="0"/>
              </a:spcAft>
              <a:buSzPts val="1600"/>
              <a:buChar char="○"/>
            </a:pPr>
            <a:r>
              <a:rPr lang="el"/>
              <a:t>Can change (like your postal address)</a:t>
            </a:r>
            <a:endParaRPr/>
          </a:p>
          <a:p>
            <a:pPr indent="-330200" lvl="1" marL="914400" rtl="0" algn="l">
              <a:lnSpc>
                <a:spcPct val="115000"/>
              </a:lnSpc>
              <a:spcBef>
                <a:spcPts val="0"/>
              </a:spcBef>
              <a:spcAft>
                <a:spcPts val="0"/>
              </a:spcAft>
              <a:buSzPts val="1600"/>
              <a:buChar char="○"/>
            </a:pPr>
            <a:r>
              <a:rPr lang="el"/>
              <a:t>Bases on host location</a:t>
            </a:r>
            <a:endParaRPr/>
          </a:p>
          <a:p>
            <a:pPr indent="-330200" lvl="1" marL="914400" rtl="0" algn="l">
              <a:lnSpc>
                <a:spcPct val="115000"/>
              </a:lnSpc>
              <a:spcBef>
                <a:spcPts val="0"/>
              </a:spcBef>
              <a:spcAft>
                <a:spcPts val="0"/>
              </a:spcAft>
              <a:buSzPts val="1600"/>
              <a:buChar char="○"/>
            </a:pPr>
            <a:r>
              <a:rPr lang="el"/>
              <a:t>Logical address</a:t>
            </a:r>
            <a:endParaRPr/>
          </a:p>
          <a:p>
            <a:pPr indent="-330200" lvl="1" marL="914400" rtl="0" algn="l">
              <a:lnSpc>
                <a:spcPct val="115000"/>
              </a:lnSpc>
              <a:spcBef>
                <a:spcPts val="0"/>
              </a:spcBef>
              <a:spcAft>
                <a:spcPts val="0"/>
              </a:spcAft>
              <a:buSzPts val="1600"/>
              <a:buChar char="○"/>
            </a:pPr>
            <a:r>
              <a:rPr lang="el"/>
              <a:t>Assigned by network admin each time it is required</a:t>
            </a:r>
            <a:endParaRPr/>
          </a:p>
        </p:txBody>
      </p:sp>
      <p:sp>
        <p:nvSpPr>
          <p:cNvPr id="329" name="Google Shape;329;p2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
        <p:nvSpPr>
          <p:cNvPr id="330" name="Google Shape;330;p26"/>
          <p:cNvSpPr txBox="1"/>
          <p:nvPr/>
        </p:nvSpPr>
        <p:spPr>
          <a:xfrm>
            <a:off x="2586000" y="4072100"/>
            <a:ext cx="3972000" cy="909000"/>
          </a:xfrm>
          <a:prstGeom prst="rect">
            <a:avLst/>
          </a:prstGeom>
          <a:solidFill>
            <a:srgbClr val="FCE5CD"/>
          </a:solidFill>
          <a:ln cap="flat" cmpd="sng" w="19050">
            <a:solidFill>
              <a:schemeClr val="accent3"/>
            </a:solidFill>
            <a:prstDash val="dash"/>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l" sz="1600" u="none" cap="none" strike="noStrike">
                <a:solidFill>
                  <a:schemeClr val="accent1"/>
                </a:solidFill>
                <a:latin typeface="Lato"/>
                <a:ea typeface="Lato"/>
                <a:cs typeface="Lato"/>
                <a:sym typeface="Lato"/>
              </a:rPr>
              <a:t>To deliver a message you need </a:t>
            </a:r>
            <a:r>
              <a:rPr b="1" i="0" lang="el" sz="1600" u="none" cap="none" strike="noStrike">
                <a:solidFill>
                  <a:schemeClr val="accent3"/>
                </a:solidFill>
                <a:latin typeface="Lato"/>
                <a:ea typeface="Lato"/>
                <a:cs typeface="Lato"/>
                <a:sym typeface="Lato"/>
              </a:rPr>
              <a:t>both MAC and IP!</a:t>
            </a:r>
            <a:r>
              <a:rPr b="0" i="0" lang="el" sz="1600" u="none" cap="none" strike="noStrike">
                <a:solidFill>
                  <a:schemeClr val="accent1"/>
                </a:solidFill>
                <a:latin typeface="Lato"/>
                <a:ea typeface="Lato"/>
                <a:cs typeface="Lato"/>
                <a:sym typeface="Lato"/>
              </a:rPr>
              <a:t> → To deliver a letter you need </a:t>
            </a:r>
            <a:r>
              <a:rPr b="1" i="0" lang="el" sz="1600" u="none" cap="none" strike="noStrike">
                <a:solidFill>
                  <a:schemeClr val="dk1"/>
                </a:solidFill>
                <a:latin typeface="Lato"/>
                <a:ea typeface="Lato"/>
                <a:cs typeface="Lato"/>
                <a:sym typeface="Lato"/>
              </a:rPr>
              <a:t>both name and address!</a:t>
            </a:r>
            <a:endParaRPr b="1" i="0" sz="1600" u="none" cap="none" strike="noStrike">
              <a:solidFill>
                <a:schemeClr val="dk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7"/>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ARP: Address Resolution Protocol</a:t>
            </a:r>
            <a:endParaRPr/>
          </a:p>
        </p:txBody>
      </p:sp>
      <p:sp>
        <p:nvSpPr>
          <p:cNvPr id="336" name="Google Shape;336;p27"/>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How can we know the MAC address of a device inside a network to send a message to it, while we stay outside of it?</a:t>
            </a:r>
            <a:endParaRPr/>
          </a:p>
          <a:p>
            <a:pPr indent="-330200" lvl="1" marL="914400" rtl="0" algn="l">
              <a:lnSpc>
                <a:spcPct val="115000"/>
              </a:lnSpc>
              <a:spcBef>
                <a:spcPts val="0"/>
              </a:spcBef>
              <a:spcAft>
                <a:spcPts val="0"/>
              </a:spcAft>
              <a:buSzPts val="1600"/>
              <a:buChar char="○"/>
            </a:pPr>
            <a:r>
              <a:rPr lang="el"/>
              <a:t>We can’t. And we shouldn’t guess it (MAC do not relate to physical location).</a:t>
            </a:r>
            <a:endParaRPr/>
          </a:p>
          <a:p>
            <a:pPr indent="-330200" lvl="0" marL="457200" rtl="0" algn="l">
              <a:lnSpc>
                <a:spcPct val="115000"/>
              </a:lnSpc>
              <a:spcBef>
                <a:spcPts val="0"/>
              </a:spcBef>
              <a:spcAft>
                <a:spcPts val="0"/>
              </a:spcAft>
              <a:buSzPts val="1600"/>
              <a:buChar char="●"/>
            </a:pPr>
            <a:r>
              <a:rPr lang="el"/>
              <a:t>How can we know the IP address of a network to send a message to it?</a:t>
            </a:r>
            <a:endParaRPr/>
          </a:p>
          <a:p>
            <a:pPr indent="-330200" lvl="1" marL="914400" rtl="0" algn="l">
              <a:lnSpc>
                <a:spcPct val="115000"/>
              </a:lnSpc>
              <a:spcBef>
                <a:spcPts val="0"/>
              </a:spcBef>
              <a:spcAft>
                <a:spcPts val="0"/>
              </a:spcAft>
              <a:buSzPts val="1600"/>
              <a:buChar char="○"/>
            </a:pPr>
            <a:r>
              <a:rPr lang="el"/>
              <a:t>Easily, this is decided at the logical level and is publicly available.</a:t>
            </a:r>
            <a:endParaRPr/>
          </a:p>
          <a:p>
            <a:pPr indent="-330200" lvl="0" marL="457200" rtl="0" algn="l">
              <a:lnSpc>
                <a:spcPct val="115000"/>
              </a:lnSpc>
              <a:spcBef>
                <a:spcPts val="0"/>
              </a:spcBef>
              <a:spcAft>
                <a:spcPts val="0"/>
              </a:spcAft>
              <a:buSzPts val="1600"/>
              <a:buChar char="●"/>
            </a:pPr>
            <a:r>
              <a:rPr lang="el"/>
              <a:t>It would be nice if MAC were like IP…</a:t>
            </a:r>
            <a:endParaRPr/>
          </a:p>
          <a:p>
            <a:pPr indent="-330200" lvl="0" marL="457200" rtl="0" algn="l">
              <a:lnSpc>
                <a:spcPct val="115000"/>
              </a:lnSpc>
              <a:spcBef>
                <a:spcPts val="0"/>
              </a:spcBef>
              <a:spcAft>
                <a:spcPts val="0"/>
              </a:spcAft>
              <a:buSzPts val="1600"/>
              <a:buChar char="●"/>
            </a:pPr>
            <a:r>
              <a:rPr b="1" lang="el"/>
              <a:t>ARP:</a:t>
            </a:r>
            <a:endParaRPr/>
          </a:p>
          <a:p>
            <a:pPr indent="-330200" lvl="1" marL="914400" rtl="0" algn="l">
              <a:lnSpc>
                <a:spcPct val="115000"/>
              </a:lnSpc>
              <a:spcBef>
                <a:spcPts val="0"/>
              </a:spcBef>
              <a:spcAft>
                <a:spcPts val="0"/>
              </a:spcAft>
              <a:buSzPts val="1600"/>
              <a:buChar char="○"/>
            </a:pPr>
            <a:r>
              <a:rPr lang="el"/>
              <a:t>Resolves IPv4 addresses to MAC ones.</a:t>
            </a:r>
            <a:endParaRPr/>
          </a:p>
          <a:p>
            <a:pPr indent="-330200" lvl="1" marL="914400" rtl="0" algn="l">
              <a:lnSpc>
                <a:spcPct val="115000"/>
              </a:lnSpc>
              <a:spcBef>
                <a:spcPts val="0"/>
              </a:spcBef>
              <a:spcAft>
                <a:spcPts val="0"/>
              </a:spcAft>
              <a:buSzPts val="1600"/>
              <a:buChar char="○"/>
            </a:pPr>
            <a:r>
              <a:rPr lang="el"/>
              <a:t>Remembers what it has resolved to what.</a:t>
            </a:r>
            <a:endParaRPr/>
          </a:p>
        </p:txBody>
      </p:sp>
      <p:sp>
        <p:nvSpPr>
          <p:cNvPr id="337" name="Google Shape;337;p2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8"/>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ARP: How it works</a:t>
            </a:r>
            <a:endParaRPr/>
          </a:p>
        </p:txBody>
      </p:sp>
      <p:sp>
        <p:nvSpPr>
          <p:cNvPr id="343" name="Google Shape;343;p28"/>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(Alice) Hey, I want to share this message with </a:t>
            </a:r>
            <a:r>
              <a:rPr b="1" lang="el">
                <a:solidFill>
                  <a:schemeClr val="accent3"/>
                </a:solidFill>
              </a:rPr>
              <a:t>John Doe</a:t>
            </a:r>
            <a:r>
              <a:rPr lang="el"/>
              <a:t>, at </a:t>
            </a:r>
            <a:r>
              <a:rPr b="1" lang="el">
                <a:solidFill>
                  <a:schemeClr val="dk1"/>
                </a:solidFill>
              </a:rPr>
              <a:t>Amazing Street 128</a:t>
            </a:r>
            <a:r>
              <a:rPr lang="el"/>
              <a:t>, but I don’t know where John lives in…</a:t>
            </a:r>
            <a:endParaRPr/>
          </a:p>
          <a:p>
            <a:pPr indent="-330200" lvl="0" marL="457200" rtl="0" algn="l">
              <a:lnSpc>
                <a:spcPct val="115000"/>
              </a:lnSpc>
              <a:spcBef>
                <a:spcPts val="0"/>
              </a:spcBef>
              <a:spcAft>
                <a:spcPts val="0"/>
              </a:spcAft>
              <a:buSzPts val="1600"/>
              <a:buChar char="●"/>
            </a:pPr>
            <a:r>
              <a:rPr lang="el"/>
              <a:t>(Messy the Messenger) Don’t worry, I can handle this. [Takes a deep breath] </a:t>
            </a:r>
            <a:r>
              <a:rPr b="1" lang="el"/>
              <a:t>DOES ANYONE KNOW WHO THIS BELONGS TO?</a:t>
            </a:r>
            <a:endParaRPr b="1"/>
          </a:p>
          <a:p>
            <a:pPr indent="-330200" lvl="0" marL="457200" rtl="0" algn="l">
              <a:lnSpc>
                <a:spcPct val="115000"/>
              </a:lnSpc>
              <a:spcBef>
                <a:spcPts val="0"/>
              </a:spcBef>
              <a:spcAft>
                <a:spcPts val="0"/>
              </a:spcAft>
              <a:buSzPts val="1600"/>
              <a:buChar char="●"/>
            </a:pPr>
            <a:r>
              <a:rPr lang="el"/>
              <a:t>[some time passes]</a:t>
            </a:r>
            <a:endParaRPr/>
          </a:p>
          <a:p>
            <a:pPr indent="-330200" lvl="0" marL="457200" rtl="0" algn="l">
              <a:lnSpc>
                <a:spcPct val="115000"/>
              </a:lnSpc>
              <a:spcBef>
                <a:spcPts val="0"/>
              </a:spcBef>
              <a:spcAft>
                <a:spcPts val="0"/>
              </a:spcAft>
              <a:buSzPts val="1600"/>
              <a:buChar char="●"/>
            </a:pPr>
            <a:r>
              <a:rPr lang="el">
                <a:solidFill>
                  <a:schemeClr val="accent3"/>
                </a:solidFill>
              </a:rPr>
              <a:t>(John Doe)</a:t>
            </a:r>
            <a:r>
              <a:rPr lang="el"/>
              <a:t> Hey, this is mine…</a:t>
            </a:r>
            <a:endParaRPr/>
          </a:p>
          <a:p>
            <a:pPr indent="-330200" lvl="0" marL="457200" rtl="0" algn="l">
              <a:lnSpc>
                <a:spcPct val="115000"/>
              </a:lnSpc>
              <a:spcBef>
                <a:spcPts val="0"/>
              </a:spcBef>
              <a:spcAft>
                <a:spcPts val="0"/>
              </a:spcAft>
              <a:buSzPts val="1600"/>
              <a:buChar char="●"/>
            </a:pPr>
            <a:r>
              <a:rPr lang="el"/>
              <a:t>(M) Okay, where do you live in? [</a:t>
            </a:r>
            <a:r>
              <a:rPr lang="el">
                <a:solidFill>
                  <a:schemeClr val="accent3"/>
                </a:solidFill>
              </a:rPr>
              <a:t>Proceeds to note down the address</a:t>
            </a:r>
            <a:r>
              <a:rPr lang="el"/>
              <a:t>]</a:t>
            </a:r>
            <a:endParaRPr/>
          </a:p>
        </p:txBody>
      </p:sp>
      <p:sp>
        <p:nvSpPr>
          <p:cNvPr id="344" name="Google Shape;344;p2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9"/>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ARP: How it works</a:t>
            </a:r>
            <a:endParaRPr/>
          </a:p>
        </p:txBody>
      </p:sp>
      <p:sp>
        <p:nvSpPr>
          <p:cNvPr id="350" name="Google Shape;350;p29"/>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(Alice) Hey, I want to share this message with </a:t>
            </a:r>
            <a:r>
              <a:rPr b="1" lang="el">
                <a:solidFill>
                  <a:schemeClr val="accent3"/>
                </a:solidFill>
              </a:rPr>
              <a:t>MAC Unknown</a:t>
            </a:r>
            <a:r>
              <a:rPr lang="el"/>
              <a:t>, at </a:t>
            </a:r>
            <a:r>
              <a:rPr b="1" lang="el">
                <a:solidFill>
                  <a:schemeClr val="dk1"/>
                </a:solidFill>
              </a:rPr>
              <a:t>192.168.1.254</a:t>
            </a:r>
            <a:r>
              <a:rPr lang="el"/>
              <a:t>, but I don’t know where the MAC…</a:t>
            </a:r>
            <a:endParaRPr/>
          </a:p>
          <a:p>
            <a:pPr indent="-330200" lvl="0" marL="457200" rtl="0" algn="l">
              <a:lnSpc>
                <a:spcPct val="115000"/>
              </a:lnSpc>
              <a:spcBef>
                <a:spcPts val="0"/>
              </a:spcBef>
              <a:spcAft>
                <a:spcPts val="0"/>
              </a:spcAft>
              <a:buSzPts val="1600"/>
              <a:buChar char="●"/>
            </a:pPr>
            <a:r>
              <a:rPr lang="el"/>
              <a:t>(Messy the Messenger) Don’t worry, I can handle this. [Takes a deep breath] </a:t>
            </a:r>
            <a:r>
              <a:rPr b="1" lang="el"/>
              <a:t>BROADCAST: FFFF:FFFF:FFFF</a:t>
            </a:r>
            <a:endParaRPr b="1"/>
          </a:p>
          <a:p>
            <a:pPr indent="-330200" lvl="0" marL="457200" rtl="0" algn="l">
              <a:lnSpc>
                <a:spcPct val="115000"/>
              </a:lnSpc>
              <a:spcBef>
                <a:spcPts val="0"/>
              </a:spcBef>
              <a:spcAft>
                <a:spcPts val="0"/>
              </a:spcAft>
              <a:buSzPts val="1600"/>
              <a:buChar char="●"/>
            </a:pPr>
            <a:r>
              <a:rPr lang="el"/>
              <a:t>[some time passes]</a:t>
            </a:r>
            <a:endParaRPr/>
          </a:p>
          <a:p>
            <a:pPr indent="-330200" lvl="0" marL="457200" rtl="0" algn="l">
              <a:lnSpc>
                <a:spcPct val="115000"/>
              </a:lnSpc>
              <a:spcBef>
                <a:spcPts val="0"/>
              </a:spcBef>
              <a:spcAft>
                <a:spcPts val="0"/>
              </a:spcAft>
              <a:buSzPts val="1600"/>
              <a:buChar char="●"/>
            </a:pPr>
            <a:r>
              <a:rPr lang="el">
                <a:solidFill>
                  <a:schemeClr val="accent3"/>
                </a:solidFill>
              </a:rPr>
              <a:t>(0F-10-02-10-20-30)</a:t>
            </a:r>
            <a:r>
              <a:rPr lang="el"/>
              <a:t> Hey, this is mine…</a:t>
            </a:r>
            <a:endParaRPr/>
          </a:p>
          <a:p>
            <a:pPr indent="-330200" lvl="0" marL="457200" rtl="0" algn="l">
              <a:lnSpc>
                <a:spcPct val="115000"/>
              </a:lnSpc>
              <a:spcBef>
                <a:spcPts val="0"/>
              </a:spcBef>
              <a:spcAft>
                <a:spcPts val="0"/>
              </a:spcAft>
              <a:buSzPts val="1600"/>
              <a:buChar char="●"/>
            </a:pPr>
            <a:r>
              <a:rPr lang="el"/>
              <a:t>(M) Okay, where do you live in? [</a:t>
            </a:r>
            <a:r>
              <a:rPr lang="el">
                <a:solidFill>
                  <a:schemeClr val="accent3"/>
                </a:solidFill>
              </a:rPr>
              <a:t>192.168.1.254 → 0F-10-02-10-20-30</a:t>
            </a:r>
            <a:r>
              <a:rPr lang="el"/>
              <a:t>]</a:t>
            </a:r>
            <a:endParaRPr/>
          </a:p>
        </p:txBody>
      </p:sp>
      <p:sp>
        <p:nvSpPr>
          <p:cNvPr id="351" name="Google Shape;351;p2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0"/>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ARP: How it works</a:t>
            </a:r>
            <a:endParaRPr/>
          </a:p>
        </p:txBody>
      </p:sp>
      <p:sp>
        <p:nvSpPr>
          <p:cNvPr id="357" name="Google Shape;357;p30"/>
          <p:cNvSpPr txBox="1"/>
          <p:nvPr>
            <p:ph idx="1" type="body"/>
          </p:nvPr>
        </p:nvSpPr>
        <p:spPr>
          <a:xfrm>
            <a:off x="729450" y="1378000"/>
            <a:ext cx="7688700" cy="3765600"/>
          </a:xfrm>
          <a:prstGeom prst="rect">
            <a:avLst/>
          </a:prstGeom>
          <a:noFill/>
          <a:ln>
            <a:noFill/>
          </a:ln>
        </p:spPr>
        <p:txBody>
          <a:bodyPr anchorCtr="0" anchor="t" bIns="91425" lIns="91425" spcFirstLastPara="1" rIns="91425" wrap="square" tIns="91425">
            <a:normAutofit lnSpcReduction="10000"/>
          </a:bodyPr>
          <a:lstStyle/>
          <a:p>
            <a:pPr indent="-330200" lvl="0" marL="457200" rtl="0" algn="l">
              <a:lnSpc>
                <a:spcPct val="115000"/>
              </a:lnSpc>
              <a:spcBef>
                <a:spcPts val="0"/>
              </a:spcBef>
              <a:spcAft>
                <a:spcPts val="0"/>
              </a:spcAft>
              <a:buSzPts val="1600"/>
              <a:buChar char="●"/>
            </a:pPr>
            <a:r>
              <a:rPr lang="el"/>
              <a:t>Note down any incoming IP + MAC (for future use).</a:t>
            </a:r>
            <a:endParaRPr/>
          </a:p>
          <a:p>
            <a:pPr indent="-330200" lvl="0" marL="457200" rtl="0" algn="l">
              <a:lnSpc>
                <a:spcPct val="115000"/>
              </a:lnSpc>
              <a:spcBef>
                <a:spcPts val="0"/>
              </a:spcBef>
              <a:spcAft>
                <a:spcPts val="0"/>
              </a:spcAft>
              <a:buSzPts val="1600"/>
              <a:buChar char="●"/>
            </a:pPr>
            <a:r>
              <a:rPr lang="el"/>
              <a:t>When you don’t know what to do:</a:t>
            </a:r>
            <a:endParaRPr/>
          </a:p>
          <a:p>
            <a:pPr indent="-330200" lvl="1" marL="914400" rtl="0" algn="l">
              <a:lnSpc>
                <a:spcPct val="115000"/>
              </a:lnSpc>
              <a:spcBef>
                <a:spcPts val="0"/>
              </a:spcBef>
              <a:spcAft>
                <a:spcPts val="0"/>
              </a:spcAft>
              <a:buSzPts val="1600"/>
              <a:buChar char="○"/>
            </a:pPr>
            <a:r>
              <a:rPr lang="el"/>
              <a:t>Broadcast incoming messages to all devices (known IP, “all ones” MAC).</a:t>
            </a:r>
            <a:endParaRPr/>
          </a:p>
          <a:p>
            <a:pPr indent="-330200" lvl="1" marL="914400" rtl="0" algn="l">
              <a:lnSpc>
                <a:spcPct val="115000"/>
              </a:lnSpc>
              <a:spcBef>
                <a:spcPts val="0"/>
              </a:spcBef>
              <a:spcAft>
                <a:spcPts val="0"/>
              </a:spcAft>
              <a:buSzPts val="1600"/>
              <a:buChar char="○"/>
            </a:pPr>
            <a:r>
              <a:rPr lang="el"/>
              <a:t>If there is someone to respond → Note down their MAC.</a:t>
            </a:r>
            <a:endParaRPr/>
          </a:p>
          <a:p>
            <a:pPr indent="-330200" lvl="1" marL="914400" rtl="0" algn="l">
              <a:lnSpc>
                <a:spcPct val="115000"/>
              </a:lnSpc>
              <a:spcBef>
                <a:spcPts val="0"/>
              </a:spcBef>
              <a:spcAft>
                <a:spcPts val="0"/>
              </a:spcAft>
              <a:buSzPts val="1600"/>
              <a:buChar char="○"/>
            </a:pPr>
            <a:r>
              <a:rPr lang="el"/>
              <a:t>If no response is received → Well, nothing to do, drop the packet.</a:t>
            </a:r>
            <a:endParaRPr/>
          </a:p>
          <a:p>
            <a:pPr indent="-330200" lvl="0" marL="457200" rtl="0" algn="l">
              <a:lnSpc>
                <a:spcPct val="115000"/>
              </a:lnSpc>
              <a:spcBef>
                <a:spcPts val="0"/>
              </a:spcBef>
              <a:spcAft>
                <a:spcPts val="0"/>
              </a:spcAft>
              <a:buSzPts val="1600"/>
              <a:buChar char="●"/>
            </a:pPr>
            <a:r>
              <a:rPr lang="el"/>
              <a:t>Overall:</a:t>
            </a:r>
            <a:endParaRPr/>
          </a:p>
          <a:p>
            <a:pPr indent="-330200" lvl="1" marL="914400" rtl="0" algn="l">
              <a:lnSpc>
                <a:spcPct val="115000"/>
              </a:lnSpc>
              <a:spcBef>
                <a:spcPts val="0"/>
              </a:spcBef>
              <a:spcAft>
                <a:spcPts val="0"/>
              </a:spcAft>
              <a:buSzPts val="1600"/>
              <a:buChar char="○"/>
            </a:pPr>
            <a:r>
              <a:rPr lang="el"/>
              <a:t>If the destination IPv4 host is on the LAN, then the destination MAC is that of this device (@ this host).</a:t>
            </a:r>
            <a:endParaRPr/>
          </a:p>
          <a:p>
            <a:pPr indent="-330200" lvl="1" marL="914400" rtl="0" algn="l">
              <a:lnSpc>
                <a:spcPct val="115000"/>
              </a:lnSpc>
              <a:spcBef>
                <a:spcPts val="0"/>
              </a:spcBef>
              <a:spcAft>
                <a:spcPts val="0"/>
              </a:spcAft>
              <a:buSzPts val="1600"/>
              <a:buChar char="○"/>
            </a:pPr>
            <a:r>
              <a:rPr lang="el"/>
              <a:t>If the destination IPv4 host is not on the LAN, the destination MAC is determined by the ARP process (table look-up).</a:t>
            </a:r>
            <a:endParaRPr/>
          </a:p>
          <a:p>
            <a:pPr indent="-330200" lvl="1" marL="914400" rtl="0" algn="l">
              <a:lnSpc>
                <a:spcPct val="115000"/>
              </a:lnSpc>
              <a:spcBef>
                <a:spcPts val="0"/>
              </a:spcBef>
              <a:spcAft>
                <a:spcPts val="0"/>
              </a:spcAft>
              <a:buSzPts val="1600"/>
              <a:buChar char="○"/>
            </a:pPr>
            <a:r>
              <a:rPr lang="el"/>
              <a:t>If the ARP table does not include a valid entry, make a request (shout out) to get the MAC address related to that IP.</a:t>
            </a:r>
            <a:endParaRPr/>
          </a:p>
          <a:p>
            <a:pPr indent="-330200" lvl="0" marL="457200" rtl="0" algn="l">
              <a:lnSpc>
                <a:spcPct val="115000"/>
              </a:lnSpc>
              <a:spcBef>
                <a:spcPts val="0"/>
              </a:spcBef>
              <a:spcAft>
                <a:spcPts val="0"/>
              </a:spcAft>
              <a:buSzPts val="1600"/>
              <a:buChar char="●"/>
            </a:pPr>
            <a:r>
              <a:rPr lang="el"/>
              <a:t>Open up terminal / cmd and hit: </a:t>
            </a:r>
            <a:r>
              <a:rPr lang="el">
                <a:latin typeface="Consolas"/>
                <a:ea typeface="Consolas"/>
                <a:cs typeface="Consolas"/>
                <a:sym typeface="Consolas"/>
              </a:rPr>
              <a:t>arp -a</a:t>
            </a:r>
            <a:endParaRPr>
              <a:latin typeface="Consolas"/>
              <a:ea typeface="Consolas"/>
              <a:cs typeface="Consolas"/>
              <a:sym typeface="Consolas"/>
            </a:endParaRPr>
          </a:p>
        </p:txBody>
      </p:sp>
      <p:sp>
        <p:nvSpPr>
          <p:cNvPr id="358" name="Google Shape;358;p3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1"/>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today… 1 / n</a:t>
            </a:r>
            <a:endParaRPr/>
          </a:p>
        </p:txBody>
      </p:sp>
      <p:sp>
        <p:nvSpPr>
          <p:cNvPr id="364" name="Google Shape;364;p31"/>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In which layers does Ethernet operate?</a:t>
            </a:r>
            <a:endParaRPr b="1"/>
          </a:p>
          <a:p>
            <a:pPr indent="-330200" lvl="1" marL="914400" rtl="0" algn="l">
              <a:lnSpc>
                <a:spcPct val="115000"/>
              </a:lnSpc>
              <a:spcBef>
                <a:spcPts val="0"/>
              </a:spcBef>
              <a:spcAft>
                <a:spcPts val="0"/>
              </a:spcAft>
              <a:buSzPts val="1600"/>
              <a:buChar char="○"/>
            </a:pPr>
            <a:r>
              <a:rPr lang="el"/>
              <a:t>Layer 1 (physical), since it is related signal transmission (remember the cables?)</a:t>
            </a:r>
            <a:endParaRPr/>
          </a:p>
          <a:p>
            <a:pPr indent="-330200" lvl="1" marL="914400" rtl="0" algn="l">
              <a:lnSpc>
                <a:spcPct val="115000"/>
              </a:lnSpc>
              <a:spcBef>
                <a:spcPts val="0"/>
              </a:spcBef>
              <a:spcAft>
                <a:spcPts val="0"/>
              </a:spcAft>
              <a:buSzPts val="1600"/>
              <a:buChar char="○"/>
            </a:pPr>
            <a:r>
              <a:rPr lang="el"/>
              <a:t>Layer 2 (data link), since it connects physical devices (implements the LAN).</a:t>
            </a:r>
            <a:endParaRPr/>
          </a:p>
          <a:p>
            <a:pPr indent="-330200" lvl="0" marL="457200" rtl="0" algn="l">
              <a:lnSpc>
                <a:spcPct val="115000"/>
              </a:lnSpc>
              <a:spcBef>
                <a:spcPts val="0"/>
              </a:spcBef>
              <a:spcAft>
                <a:spcPts val="0"/>
              </a:spcAft>
              <a:buSzPts val="1600"/>
              <a:buChar char="●"/>
            </a:pPr>
            <a:r>
              <a:rPr b="1" lang="el"/>
              <a:t>Name some typical cable types.</a:t>
            </a:r>
            <a:endParaRPr/>
          </a:p>
          <a:p>
            <a:pPr indent="-330200" lvl="1" marL="914400" rtl="0" algn="l">
              <a:lnSpc>
                <a:spcPct val="115000"/>
              </a:lnSpc>
              <a:spcBef>
                <a:spcPts val="0"/>
              </a:spcBef>
              <a:spcAft>
                <a:spcPts val="0"/>
              </a:spcAft>
              <a:buSzPts val="1600"/>
              <a:buChar char="○"/>
            </a:pPr>
            <a:r>
              <a:rPr lang="el"/>
              <a:t>UTP: Unshielded Twisted Pair cables</a:t>
            </a:r>
            <a:endParaRPr/>
          </a:p>
          <a:p>
            <a:pPr indent="-330200" lvl="1" marL="914400" rtl="0" algn="l">
              <a:lnSpc>
                <a:spcPct val="115000"/>
              </a:lnSpc>
              <a:spcBef>
                <a:spcPts val="0"/>
              </a:spcBef>
              <a:spcAft>
                <a:spcPts val="0"/>
              </a:spcAft>
              <a:buSzPts val="1600"/>
              <a:buChar char="○"/>
            </a:pPr>
            <a:r>
              <a:rPr lang="el"/>
              <a:t>STP: Shielded Twisted Pair cables</a:t>
            </a:r>
            <a:endParaRPr/>
          </a:p>
          <a:p>
            <a:pPr indent="-330200" lvl="1" marL="914400" rtl="0" algn="l">
              <a:lnSpc>
                <a:spcPct val="115000"/>
              </a:lnSpc>
              <a:spcBef>
                <a:spcPts val="0"/>
              </a:spcBef>
              <a:spcAft>
                <a:spcPts val="0"/>
              </a:spcAft>
              <a:buSzPts val="1600"/>
              <a:buChar char="○"/>
            </a:pPr>
            <a:r>
              <a:rPr lang="el"/>
              <a:t>Coax: Coaxial Cables</a:t>
            </a:r>
            <a:endParaRPr/>
          </a:p>
          <a:p>
            <a:pPr indent="-330200" lvl="1" marL="914400" rtl="0" algn="l">
              <a:lnSpc>
                <a:spcPct val="115000"/>
              </a:lnSpc>
              <a:spcBef>
                <a:spcPts val="0"/>
              </a:spcBef>
              <a:spcAft>
                <a:spcPts val="0"/>
              </a:spcAft>
              <a:buSzPts val="1600"/>
              <a:buChar char="○"/>
            </a:pPr>
            <a:r>
              <a:rPr lang="el"/>
              <a:t>Fibre optics</a:t>
            </a:r>
            <a:endParaRPr/>
          </a:p>
        </p:txBody>
      </p:sp>
      <p:sp>
        <p:nvSpPr>
          <p:cNvPr id="365" name="Google Shape;365;p3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2"/>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today… 2 / n</a:t>
            </a:r>
            <a:endParaRPr/>
          </a:p>
        </p:txBody>
      </p:sp>
      <p:sp>
        <p:nvSpPr>
          <p:cNvPr id="371" name="Google Shape;371;p32"/>
          <p:cNvSpPr txBox="1"/>
          <p:nvPr>
            <p:ph idx="1" type="body"/>
          </p:nvPr>
        </p:nvSpPr>
        <p:spPr>
          <a:xfrm>
            <a:off x="729450" y="1378000"/>
            <a:ext cx="7688700" cy="4671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Compare UTP, STP, Coax and Fibre cables.</a:t>
            </a:r>
            <a:endParaRPr b="1"/>
          </a:p>
        </p:txBody>
      </p:sp>
      <p:sp>
        <p:nvSpPr>
          <p:cNvPr id="372" name="Google Shape;372;p3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373" name="Google Shape;373;p32"/>
          <p:cNvPicPr preferRelativeResize="0"/>
          <p:nvPr/>
        </p:nvPicPr>
        <p:blipFill rotWithShape="1">
          <a:blip r:embed="rId3">
            <a:alphaModFix/>
          </a:blip>
          <a:srcRect b="0" l="0" r="0" t="0"/>
          <a:stretch/>
        </p:blipFill>
        <p:spPr>
          <a:xfrm>
            <a:off x="587575" y="2115975"/>
            <a:ext cx="7972425" cy="2266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3"/>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today… 3 / n</a:t>
            </a:r>
            <a:endParaRPr/>
          </a:p>
        </p:txBody>
      </p:sp>
      <p:sp>
        <p:nvSpPr>
          <p:cNvPr id="379" name="Google Shape;379;p33"/>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What are the LLC and MAC Layer 2 sublayers?</a:t>
            </a:r>
            <a:endParaRPr b="1"/>
          </a:p>
          <a:p>
            <a:pPr indent="-330200" lvl="1" marL="914400" rtl="0" algn="l">
              <a:lnSpc>
                <a:spcPct val="115000"/>
              </a:lnSpc>
              <a:spcBef>
                <a:spcPts val="0"/>
              </a:spcBef>
              <a:spcAft>
                <a:spcPts val="0"/>
              </a:spcAft>
              <a:buSzPts val="1600"/>
              <a:buChar char="○"/>
            </a:pPr>
            <a:r>
              <a:rPr b="1" lang="el"/>
              <a:t>Logical Link Control (LLC):</a:t>
            </a:r>
            <a:endParaRPr/>
          </a:p>
          <a:p>
            <a:pPr indent="-330200" lvl="2" marL="1371600" rtl="0" algn="l">
              <a:lnSpc>
                <a:spcPct val="115000"/>
              </a:lnSpc>
              <a:spcBef>
                <a:spcPts val="0"/>
              </a:spcBef>
              <a:spcAft>
                <a:spcPts val="0"/>
              </a:spcAft>
              <a:buSzPts val="1600"/>
              <a:buChar char="■"/>
            </a:pPr>
            <a:r>
              <a:rPr lang="el" sz="1600"/>
              <a:t>The “upper” sublayer of layer 2.</a:t>
            </a:r>
            <a:endParaRPr sz="1600"/>
          </a:p>
          <a:p>
            <a:pPr indent="-330200" lvl="2" marL="1371600" rtl="0" algn="l">
              <a:lnSpc>
                <a:spcPct val="115000"/>
              </a:lnSpc>
              <a:spcBef>
                <a:spcPts val="0"/>
              </a:spcBef>
              <a:spcAft>
                <a:spcPts val="0"/>
              </a:spcAft>
              <a:buSzPts val="1600"/>
              <a:buChar char="■"/>
            </a:pPr>
            <a:r>
              <a:rPr lang="el" sz="1600"/>
              <a:t>Connection handling between lower / upper layers.</a:t>
            </a:r>
            <a:endParaRPr sz="1600"/>
          </a:p>
          <a:p>
            <a:pPr indent="-330200" lvl="2" marL="1371600" rtl="0" algn="l">
              <a:lnSpc>
                <a:spcPct val="115000"/>
              </a:lnSpc>
              <a:spcBef>
                <a:spcPts val="0"/>
              </a:spcBef>
              <a:spcAft>
                <a:spcPts val="0"/>
              </a:spcAft>
              <a:buSzPts val="1600"/>
              <a:buChar char="■"/>
            </a:pPr>
            <a:r>
              <a:rPr lang="el" sz="1600"/>
              <a:t>Adds control info to help deliver the packet to destination.</a:t>
            </a:r>
            <a:endParaRPr sz="1600"/>
          </a:p>
          <a:p>
            <a:pPr indent="-330200" lvl="1" marL="914400" rtl="0" algn="l">
              <a:lnSpc>
                <a:spcPct val="115000"/>
              </a:lnSpc>
              <a:spcBef>
                <a:spcPts val="0"/>
              </a:spcBef>
              <a:spcAft>
                <a:spcPts val="0"/>
              </a:spcAft>
              <a:buSzPts val="1600"/>
              <a:buChar char="○"/>
            </a:pPr>
            <a:r>
              <a:rPr b="1" lang="el"/>
              <a:t>Medium Access Control (MAC):</a:t>
            </a:r>
            <a:endParaRPr/>
          </a:p>
          <a:p>
            <a:pPr indent="-330200" lvl="2" marL="1371600" rtl="0" algn="l">
              <a:lnSpc>
                <a:spcPct val="115000"/>
              </a:lnSpc>
              <a:spcBef>
                <a:spcPts val="0"/>
              </a:spcBef>
              <a:spcAft>
                <a:spcPts val="0"/>
              </a:spcAft>
              <a:buSzPts val="1600"/>
              <a:buChar char="■"/>
            </a:pPr>
            <a:r>
              <a:rPr lang="el" sz="1600"/>
              <a:t>The “lower” sublayer of layer 2.</a:t>
            </a:r>
            <a:endParaRPr sz="1600"/>
          </a:p>
          <a:p>
            <a:pPr indent="-330200" lvl="2" marL="1371600" rtl="0" algn="l">
              <a:lnSpc>
                <a:spcPct val="115000"/>
              </a:lnSpc>
              <a:spcBef>
                <a:spcPts val="0"/>
              </a:spcBef>
              <a:spcAft>
                <a:spcPts val="0"/>
              </a:spcAft>
              <a:buSzPts val="1600"/>
              <a:buChar char="■"/>
            </a:pPr>
            <a:r>
              <a:rPr lang="el" sz="1600"/>
              <a:t>Data encapsulation.</a:t>
            </a:r>
            <a:endParaRPr sz="1600"/>
          </a:p>
          <a:p>
            <a:pPr indent="-330200" lvl="2" marL="1371600" rtl="0" algn="l">
              <a:lnSpc>
                <a:spcPct val="115000"/>
              </a:lnSpc>
              <a:spcBef>
                <a:spcPts val="0"/>
              </a:spcBef>
              <a:spcAft>
                <a:spcPts val="0"/>
              </a:spcAft>
              <a:buSzPts val="1600"/>
              <a:buChar char="■"/>
            </a:pPr>
            <a:r>
              <a:rPr lang="el" sz="1600"/>
              <a:t>Media access control.</a:t>
            </a:r>
            <a:endParaRPr sz="1600"/>
          </a:p>
          <a:p>
            <a:pPr indent="-330200" lvl="2" marL="1371600" rtl="0" algn="l">
              <a:lnSpc>
                <a:spcPct val="115000"/>
              </a:lnSpc>
              <a:spcBef>
                <a:spcPts val="0"/>
              </a:spcBef>
              <a:spcAft>
                <a:spcPts val="0"/>
              </a:spcAft>
              <a:buSzPts val="1600"/>
              <a:buChar char="■"/>
            </a:pPr>
            <a:r>
              <a:rPr lang="el" sz="1600"/>
              <a:t>Mostly hardware.</a:t>
            </a:r>
            <a:endParaRPr b="1"/>
          </a:p>
        </p:txBody>
      </p:sp>
      <p:sp>
        <p:nvSpPr>
          <p:cNvPr id="380" name="Google Shape;380;p3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4"/>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today… 4 / n</a:t>
            </a:r>
            <a:endParaRPr/>
          </a:p>
        </p:txBody>
      </p:sp>
      <p:sp>
        <p:nvSpPr>
          <p:cNvPr id="386" name="Google Shape;386;p34"/>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What does CSMA/CD stand for? How does it work?</a:t>
            </a:r>
            <a:endParaRPr b="1"/>
          </a:p>
          <a:p>
            <a:pPr indent="0" lvl="0" marL="457200" rtl="0" algn="l">
              <a:lnSpc>
                <a:spcPct val="115000"/>
              </a:lnSpc>
              <a:spcBef>
                <a:spcPts val="1200"/>
              </a:spcBef>
              <a:spcAft>
                <a:spcPts val="0"/>
              </a:spcAft>
              <a:buSzPts val="1600"/>
              <a:buNone/>
            </a:pPr>
            <a:r>
              <a:rPr lang="el"/>
              <a:t>CSMA/CD stands for Carrier Sense Multiple Access / Collision Detection. It works as follows:</a:t>
            </a:r>
            <a:endParaRPr/>
          </a:p>
          <a:p>
            <a:pPr indent="-330200" lvl="1" marL="914400" rtl="0" algn="l">
              <a:lnSpc>
                <a:spcPct val="115000"/>
              </a:lnSpc>
              <a:spcBef>
                <a:spcPts val="1200"/>
              </a:spcBef>
              <a:spcAft>
                <a:spcPts val="0"/>
              </a:spcAft>
              <a:buSzPts val="1600"/>
              <a:buChar char="○"/>
            </a:pPr>
            <a:r>
              <a:rPr lang="el"/>
              <a:t>Is there any signal carried by the medium (cable)?</a:t>
            </a:r>
            <a:endParaRPr/>
          </a:p>
          <a:p>
            <a:pPr indent="-330200" lvl="1" marL="914400" rtl="0" algn="l">
              <a:lnSpc>
                <a:spcPct val="115000"/>
              </a:lnSpc>
              <a:spcBef>
                <a:spcPts val="0"/>
              </a:spcBef>
              <a:spcAft>
                <a:spcPts val="0"/>
              </a:spcAft>
              <a:buSzPts val="1600"/>
              <a:buChar char="○"/>
            </a:pPr>
            <a:r>
              <a:rPr lang="el"/>
              <a:t>If no → send data.</a:t>
            </a:r>
            <a:endParaRPr/>
          </a:p>
          <a:p>
            <a:pPr indent="-330200" lvl="1" marL="914400" rtl="0" algn="l">
              <a:lnSpc>
                <a:spcPct val="115000"/>
              </a:lnSpc>
              <a:spcBef>
                <a:spcPts val="0"/>
              </a:spcBef>
              <a:spcAft>
                <a:spcPts val="0"/>
              </a:spcAft>
              <a:buSzPts val="1600"/>
              <a:buChar char="○"/>
            </a:pPr>
            <a:r>
              <a:rPr lang="el"/>
              <a:t>If yes → </a:t>
            </a:r>
            <a:r>
              <a:rPr b="1" lang="el">
                <a:solidFill>
                  <a:schemeClr val="accent3"/>
                </a:solidFill>
              </a:rPr>
              <a:t>collision!</a:t>
            </a:r>
            <a:endParaRPr>
              <a:solidFill>
                <a:schemeClr val="accent3"/>
              </a:solidFill>
            </a:endParaRPr>
          </a:p>
          <a:p>
            <a:pPr indent="-330200" lvl="1" marL="914400" rtl="0" algn="l">
              <a:lnSpc>
                <a:spcPct val="115000"/>
              </a:lnSpc>
              <a:spcBef>
                <a:spcPts val="0"/>
              </a:spcBef>
              <a:spcAft>
                <a:spcPts val="0"/>
              </a:spcAft>
              <a:buSzPts val="1600"/>
              <a:buChar char="○"/>
            </a:pPr>
            <a:r>
              <a:rPr lang="el"/>
              <a:t>How to solve? → </a:t>
            </a:r>
            <a:r>
              <a:rPr b="1" lang="el">
                <a:solidFill>
                  <a:schemeClr val="dk1"/>
                </a:solidFill>
              </a:rPr>
              <a:t>Wait a random amount of time.</a:t>
            </a:r>
            <a:endParaRPr/>
          </a:p>
        </p:txBody>
      </p:sp>
      <p:sp>
        <p:nvSpPr>
          <p:cNvPr id="387" name="Google Shape;387;p3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5"/>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today… 5 / n</a:t>
            </a:r>
            <a:endParaRPr/>
          </a:p>
        </p:txBody>
      </p:sp>
      <p:sp>
        <p:nvSpPr>
          <p:cNvPr id="393" name="Google Shape;393;p35"/>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What does CSMA/CA stand for? How does it work?</a:t>
            </a:r>
            <a:endParaRPr b="1"/>
          </a:p>
          <a:p>
            <a:pPr indent="0" lvl="0" marL="457200" rtl="0" algn="l">
              <a:lnSpc>
                <a:spcPct val="115000"/>
              </a:lnSpc>
              <a:spcBef>
                <a:spcPts val="1200"/>
              </a:spcBef>
              <a:spcAft>
                <a:spcPts val="0"/>
              </a:spcAft>
              <a:buSzPts val="1600"/>
              <a:buNone/>
            </a:pPr>
            <a:r>
              <a:rPr lang="el"/>
              <a:t>CSMA/CA = Carrier Sense Multiple Access / Collision Avoidance. It works as follows:</a:t>
            </a:r>
            <a:endParaRPr/>
          </a:p>
          <a:p>
            <a:pPr indent="-330200" lvl="1" marL="914400" rtl="0" algn="l">
              <a:lnSpc>
                <a:spcPct val="115000"/>
              </a:lnSpc>
              <a:spcBef>
                <a:spcPts val="1200"/>
              </a:spcBef>
              <a:spcAft>
                <a:spcPts val="0"/>
              </a:spcAft>
              <a:buSzPts val="1600"/>
              <a:buChar char="○"/>
            </a:pPr>
            <a:r>
              <a:rPr lang="el"/>
              <a:t>Is there any signal carried by the medium (cable)?</a:t>
            </a:r>
            <a:endParaRPr/>
          </a:p>
          <a:p>
            <a:pPr indent="-330200" lvl="1" marL="914400" rtl="0" algn="l">
              <a:lnSpc>
                <a:spcPct val="115000"/>
              </a:lnSpc>
              <a:spcBef>
                <a:spcPts val="0"/>
              </a:spcBef>
              <a:spcAft>
                <a:spcPts val="0"/>
              </a:spcAft>
              <a:buSzPts val="1600"/>
              <a:buChar char="○"/>
            </a:pPr>
            <a:r>
              <a:rPr lang="el"/>
              <a:t>If no → send a notification that you want to use it.</a:t>
            </a:r>
            <a:endParaRPr/>
          </a:p>
          <a:p>
            <a:pPr indent="-330200" lvl="1" marL="914400" rtl="0" algn="l">
              <a:lnSpc>
                <a:spcPct val="115000"/>
              </a:lnSpc>
              <a:spcBef>
                <a:spcPts val="0"/>
              </a:spcBef>
              <a:spcAft>
                <a:spcPts val="0"/>
              </a:spcAft>
              <a:buSzPts val="1600"/>
              <a:buChar char="○"/>
            </a:pPr>
            <a:r>
              <a:rPr lang="el"/>
              <a:t>If no one objects → send data.</a:t>
            </a:r>
            <a:endParaRPr/>
          </a:p>
        </p:txBody>
      </p:sp>
      <p:sp>
        <p:nvSpPr>
          <p:cNvPr id="394" name="Google Shape;394;p3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6"/>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today… 6 / n</a:t>
            </a:r>
            <a:endParaRPr/>
          </a:p>
        </p:txBody>
      </p:sp>
      <p:sp>
        <p:nvSpPr>
          <p:cNvPr id="400" name="Google Shape;400;p36"/>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What is the structure of an Ethernet frame (bytes, headers etc)?</a:t>
            </a:r>
            <a:endParaRPr b="1"/>
          </a:p>
          <a:p>
            <a:pPr indent="0" lvl="0" marL="914400" rtl="0" algn="l">
              <a:lnSpc>
                <a:spcPct val="115000"/>
              </a:lnSpc>
              <a:spcBef>
                <a:spcPts val="1200"/>
              </a:spcBef>
              <a:spcAft>
                <a:spcPts val="1200"/>
              </a:spcAft>
              <a:buSzPts val="1600"/>
              <a:buNone/>
            </a:pPr>
            <a:r>
              <a:t/>
            </a:r>
            <a:endParaRPr b="1"/>
          </a:p>
        </p:txBody>
      </p:sp>
      <p:sp>
        <p:nvSpPr>
          <p:cNvPr id="401" name="Google Shape;401;p3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402" name="Google Shape;402;p36"/>
          <p:cNvPicPr preferRelativeResize="0"/>
          <p:nvPr/>
        </p:nvPicPr>
        <p:blipFill rotWithShape="1">
          <a:blip r:embed="rId3">
            <a:alphaModFix/>
          </a:blip>
          <a:srcRect b="0" l="0" r="0" t="0"/>
          <a:stretch/>
        </p:blipFill>
        <p:spPr>
          <a:xfrm>
            <a:off x="1956600" y="2159375"/>
            <a:ext cx="5230810" cy="1778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7"/>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today… 7 / n</a:t>
            </a:r>
            <a:endParaRPr/>
          </a:p>
        </p:txBody>
      </p:sp>
      <p:sp>
        <p:nvSpPr>
          <p:cNvPr id="408" name="Google Shape;408;p37"/>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Name some special MAC addresses and their purpose.</a:t>
            </a:r>
            <a:endParaRPr/>
          </a:p>
          <a:p>
            <a:pPr indent="-330200" lvl="1" marL="914400" rtl="0" algn="l">
              <a:lnSpc>
                <a:spcPct val="115000"/>
              </a:lnSpc>
              <a:spcBef>
                <a:spcPts val="0"/>
              </a:spcBef>
              <a:spcAft>
                <a:spcPts val="0"/>
              </a:spcAft>
              <a:buSzPts val="1600"/>
              <a:buChar char="○"/>
            </a:pPr>
            <a:r>
              <a:rPr lang="el"/>
              <a:t>All zeros: </a:t>
            </a:r>
            <a:r>
              <a:rPr lang="el">
                <a:latin typeface="Consolas"/>
                <a:ea typeface="Consolas"/>
                <a:cs typeface="Consolas"/>
                <a:sym typeface="Consolas"/>
              </a:rPr>
              <a:t>00000000 00000000:00000000 00000000:00000000 00000000</a:t>
            </a:r>
            <a:endParaRPr>
              <a:latin typeface="Consolas"/>
              <a:ea typeface="Consolas"/>
              <a:cs typeface="Consolas"/>
              <a:sym typeface="Consolas"/>
            </a:endParaRPr>
          </a:p>
          <a:p>
            <a:pPr indent="-330200" lvl="2" marL="1371600" rtl="0" algn="l">
              <a:lnSpc>
                <a:spcPct val="115000"/>
              </a:lnSpc>
              <a:spcBef>
                <a:spcPts val="0"/>
              </a:spcBef>
              <a:spcAft>
                <a:spcPts val="0"/>
              </a:spcAft>
              <a:buSzPts val="1600"/>
              <a:buChar char="■"/>
            </a:pPr>
            <a:r>
              <a:rPr lang="el" sz="1600"/>
              <a:t>Placeholder → Address not known yet.</a:t>
            </a:r>
            <a:endParaRPr sz="1600"/>
          </a:p>
          <a:p>
            <a:pPr indent="-330200" lvl="1" marL="914400" rtl="0" algn="l">
              <a:lnSpc>
                <a:spcPct val="115000"/>
              </a:lnSpc>
              <a:spcBef>
                <a:spcPts val="0"/>
              </a:spcBef>
              <a:spcAft>
                <a:spcPts val="0"/>
              </a:spcAft>
              <a:buSzPts val="1600"/>
              <a:buChar char="○"/>
            </a:pPr>
            <a:r>
              <a:rPr lang="el"/>
              <a:t>All ones: </a:t>
            </a:r>
            <a:r>
              <a:rPr lang="el">
                <a:latin typeface="Consolas"/>
                <a:ea typeface="Consolas"/>
                <a:cs typeface="Consolas"/>
                <a:sym typeface="Consolas"/>
              </a:rPr>
              <a:t>11111111 11111111:11111111 11111111:11111111 11111111</a:t>
            </a:r>
            <a:endParaRPr>
              <a:latin typeface="Consolas"/>
              <a:ea typeface="Consolas"/>
              <a:cs typeface="Consolas"/>
              <a:sym typeface="Consolas"/>
            </a:endParaRPr>
          </a:p>
          <a:p>
            <a:pPr indent="-330200" lvl="2" marL="1371600" rtl="0" algn="l">
              <a:lnSpc>
                <a:spcPct val="115000"/>
              </a:lnSpc>
              <a:spcBef>
                <a:spcPts val="0"/>
              </a:spcBef>
              <a:spcAft>
                <a:spcPts val="0"/>
              </a:spcAft>
              <a:buSzPts val="1600"/>
              <a:buChar char="■"/>
            </a:pPr>
            <a:r>
              <a:rPr lang="el" sz="1600"/>
              <a:t>Broadcast → Send to all</a:t>
            </a:r>
            <a:endParaRPr sz="1600"/>
          </a:p>
          <a:p>
            <a:pPr indent="-330200" lvl="1" marL="914400" rtl="0" algn="l">
              <a:lnSpc>
                <a:spcPct val="115000"/>
              </a:lnSpc>
              <a:spcBef>
                <a:spcPts val="0"/>
              </a:spcBef>
              <a:spcAft>
                <a:spcPts val="0"/>
              </a:spcAft>
              <a:buSzPts val="1600"/>
              <a:buChar char="○"/>
            </a:pPr>
            <a:r>
              <a:rPr lang="el"/>
              <a:t>MAC starting with </a:t>
            </a:r>
            <a:r>
              <a:rPr lang="el">
                <a:latin typeface="Consolas"/>
                <a:ea typeface="Consolas"/>
                <a:cs typeface="Consolas"/>
                <a:sym typeface="Consolas"/>
              </a:rPr>
              <a:t>01-00-5E</a:t>
            </a:r>
            <a:r>
              <a:rPr lang="el"/>
              <a:t> → Multicast</a:t>
            </a:r>
            <a:endParaRPr/>
          </a:p>
        </p:txBody>
      </p:sp>
      <p:sp>
        <p:nvSpPr>
          <p:cNvPr id="409" name="Google Shape;409;p3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8"/>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today… 8 / n</a:t>
            </a:r>
            <a:endParaRPr/>
          </a:p>
        </p:txBody>
      </p:sp>
      <p:sp>
        <p:nvSpPr>
          <p:cNvPr id="415" name="Google Shape;415;p38"/>
          <p:cNvSpPr txBox="1"/>
          <p:nvPr>
            <p:ph idx="1" type="body"/>
          </p:nvPr>
        </p:nvSpPr>
        <p:spPr>
          <a:xfrm>
            <a:off x="729450" y="1378000"/>
            <a:ext cx="7688700" cy="34575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l"/>
              <a:t>Compare MAC and IP Addresses.</a:t>
            </a:r>
            <a:endParaRPr/>
          </a:p>
          <a:p>
            <a:pPr indent="-330200" lvl="1" marL="914400" rtl="0" algn="l">
              <a:lnSpc>
                <a:spcPct val="115000"/>
              </a:lnSpc>
              <a:spcBef>
                <a:spcPts val="0"/>
              </a:spcBef>
              <a:spcAft>
                <a:spcPts val="0"/>
              </a:spcAft>
              <a:buSzPts val="1600"/>
              <a:buChar char="○"/>
            </a:pPr>
            <a:r>
              <a:rPr lang="el"/>
              <a:t>MAC Address:</a:t>
            </a:r>
            <a:endParaRPr/>
          </a:p>
          <a:p>
            <a:pPr indent="-330200" lvl="2" marL="1371600" rtl="0" algn="l">
              <a:lnSpc>
                <a:spcPct val="115000"/>
              </a:lnSpc>
              <a:spcBef>
                <a:spcPts val="0"/>
              </a:spcBef>
              <a:spcAft>
                <a:spcPts val="0"/>
              </a:spcAft>
              <a:buSzPts val="1600"/>
              <a:buChar char="■"/>
            </a:pPr>
            <a:r>
              <a:rPr lang="el" sz="1600"/>
              <a:t>Does not change</a:t>
            </a:r>
            <a:endParaRPr sz="1600"/>
          </a:p>
          <a:p>
            <a:pPr indent="-330200" lvl="2" marL="1371600" rtl="0" algn="l">
              <a:lnSpc>
                <a:spcPct val="115000"/>
              </a:lnSpc>
              <a:spcBef>
                <a:spcPts val="0"/>
              </a:spcBef>
              <a:spcAft>
                <a:spcPts val="0"/>
              </a:spcAft>
              <a:buSzPts val="1600"/>
              <a:buChar char="■"/>
            </a:pPr>
            <a:r>
              <a:rPr lang="el" sz="1600"/>
              <a:t>Physical address (assigned to NIC)</a:t>
            </a:r>
            <a:endParaRPr sz="1600"/>
          </a:p>
          <a:p>
            <a:pPr indent="-330200" lvl="2" marL="1371600" rtl="0" algn="l">
              <a:lnSpc>
                <a:spcPct val="115000"/>
              </a:lnSpc>
              <a:spcBef>
                <a:spcPts val="0"/>
              </a:spcBef>
              <a:spcAft>
                <a:spcPts val="0"/>
              </a:spcAft>
              <a:buSzPts val="1600"/>
              <a:buChar char="■"/>
            </a:pPr>
            <a:r>
              <a:rPr lang="el" sz="1600"/>
              <a:t>Assigned by Manufacturer (as per IEEE instructions)</a:t>
            </a:r>
            <a:endParaRPr sz="1600"/>
          </a:p>
          <a:p>
            <a:pPr indent="-330200" lvl="1" marL="914400" rtl="0" algn="l">
              <a:lnSpc>
                <a:spcPct val="115000"/>
              </a:lnSpc>
              <a:spcBef>
                <a:spcPts val="0"/>
              </a:spcBef>
              <a:spcAft>
                <a:spcPts val="0"/>
              </a:spcAft>
              <a:buSzPts val="1600"/>
              <a:buChar char="○"/>
            </a:pPr>
            <a:r>
              <a:rPr lang="el"/>
              <a:t>IP Address:</a:t>
            </a:r>
            <a:endParaRPr/>
          </a:p>
          <a:p>
            <a:pPr indent="-330200" lvl="2" marL="1371600" rtl="0" algn="l">
              <a:lnSpc>
                <a:spcPct val="115000"/>
              </a:lnSpc>
              <a:spcBef>
                <a:spcPts val="0"/>
              </a:spcBef>
              <a:spcAft>
                <a:spcPts val="0"/>
              </a:spcAft>
              <a:buSzPts val="1600"/>
              <a:buChar char="■"/>
            </a:pPr>
            <a:r>
              <a:rPr lang="el" sz="1600"/>
              <a:t>Can change (like your postal address)</a:t>
            </a:r>
            <a:endParaRPr sz="1600"/>
          </a:p>
          <a:p>
            <a:pPr indent="-330200" lvl="2" marL="1371600" rtl="0" algn="l">
              <a:lnSpc>
                <a:spcPct val="115000"/>
              </a:lnSpc>
              <a:spcBef>
                <a:spcPts val="0"/>
              </a:spcBef>
              <a:spcAft>
                <a:spcPts val="0"/>
              </a:spcAft>
              <a:buSzPts val="1600"/>
              <a:buChar char="■"/>
            </a:pPr>
            <a:r>
              <a:rPr lang="el" sz="1600"/>
              <a:t>Bases on host location</a:t>
            </a:r>
            <a:endParaRPr sz="1600"/>
          </a:p>
          <a:p>
            <a:pPr indent="-330200" lvl="2" marL="1371600" rtl="0" algn="l">
              <a:lnSpc>
                <a:spcPct val="115000"/>
              </a:lnSpc>
              <a:spcBef>
                <a:spcPts val="0"/>
              </a:spcBef>
              <a:spcAft>
                <a:spcPts val="0"/>
              </a:spcAft>
              <a:buSzPts val="1600"/>
              <a:buChar char="■"/>
            </a:pPr>
            <a:r>
              <a:rPr lang="el" sz="1600"/>
              <a:t>Logical address</a:t>
            </a:r>
            <a:endParaRPr sz="1600"/>
          </a:p>
          <a:p>
            <a:pPr indent="-330200" lvl="2" marL="1371600" rtl="0" algn="l">
              <a:lnSpc>
                <a:spcPct val="115000"/>
              </a:lnSpc>
              <a:spcBef>
                <a:spcPts val="0"/>
              </a:spcBef>
              <a:spcAft>
                <a:spcPts val="0"/>
              </a:spcAft>
              <a:buSzPts val="1600"/>
              <a:buChar char="■"/>
            </a:pPr>
            <a:r>
              <a:rPr lang="el" sz="1600"/>
              <a:t>Assigned by network admin each time it is required</a:t>
            </a:r>
            <a:endParaRPr/>
          </a:p>
        </p:txBody>
      </p:sp>
      <p:sp>
        <p:nvSpPr>
          <p:cNvPr id="416" name="Google Shape;416;p3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9"/>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What we saw today… 9 / n</a:t>
            </a:r>
            <a:endParaRPr/>
          </a:p>
        </p:txBody>
      </p:sp>
      <p:sp>
        <p:nvSpPr>
          <p:cNvPr id="422" name="Google Shape;422;p39"/>
          <p:cNvSpPr txBox="1"/>
          <p:nvPr>
            <p:ph idx="1" type="body"/>
          </p:nvPr>
        </p:nvSpPr>
        <p:spPr>
          <a:xfrm>
            <a:off x="729450" y="1378000"/>
            <a:ext cx="7688700" cy="3765600"/>
          </a:xfrm>
          <a:prstGeom prst="rect">
            <a:avLst/>
          </a:prstGeom>
          <a:noFill/>
          <a:ln>
            <a:noFill/>
          </a:ln>
        </p:spPr>
        <p:txBody>
          <a:bodyPr anchorCtr="0" anchor="t" bIns="91425" lIns="91425" spcFirstLastPara="1" rIns="91425" wrap="square" tIns="91425">
            <a:normAutofit lnSpcReduction="10000"/>
          </a:bodyPr>
          <a:lstStyle/>
          <a:p>
            <a:pPr indent="-330200" lvl="0" marL="457200" rtl="0" algn="l">
              <a:lnSpc>
                <a:spcPct val="115000"/>
              </a:lnSpc>
              <a:spcBef>
                <a:spcPts val="0"/>
              </a:spcBef>
              <a:spcAft>
                <a:spcPts val="0"/>
              </a:spcAft>
              <a:buSzPts val="1600"/>
              <a:buChar char="●"/>
            </a:pPr>
            <a:r>
              <a:rPr b="1" lang="el"/>
              <a:t>How does ARP work?</a:t>
            </a:r>
            <a:endParaRPr/>
          </a:p>
          <a:p>
            <a:pPr indent="-330200" lvl="1" marL="914400" rtl="0" algn="l">
              <a:lnSpc>
                <a:spcPct val="115000"/>
              </a:lnSpc>
              <a:spcBef>
                <a:spcPts val="0"/>
              </a:spcBef>
              <a:spcAft>
                <a:spcPts val="0"/>
              </a:spcAft>
              <a:buSzPts val="1600"/>
              <a:buChar char="○"/>
            </a:pPr>
            <a:r>
              <a:rPr lang="el"/>
              <a:t>Note down any incoming IP + MAC (for future use).</a:t>
            </a:r>
            <a:endParaRPr/>
          </a:p>
          <a:p>
            <a:pPr indent="-330200" lvl="1" marL="914400" rtl="0" algn="l">
              <a:lnSpc>
                <a:spcPct val="115000"/>
              </a:lnSpc>
              <a:spcBef>
                <a:spcPts val="0"/>
              </a:spcBef>
              <a:spcAft>
                <a:spcPts val="0"/>
              </a:spcAft>
              <a:buSzPts val="1600"/>
              <a:buChar char="○"/>
            </a:pPr>
            <a:r>
              <a:rPr lang="el"/>
              <a:t>When you don’t know what to do:</a:t>
            </a:r>
            <a:endParaRPr/>
          </a:p>
          <a:p>
            <a:pPr indent="-330200" lvl="2" marL="1371600" rtl="0" algn="l">
              <a:lnSpc>
                <a:spcPct val="115000"/>
              </a:lnSpc>
              <a:spcBef>
                <a:spcPts val="0"/>
              </a:spcBef>
              <a:spcAft>
                <a:spcPts val="0"/>
              </a:spcAft>
              <a:buSzPts val="1600"/>
              <a:buChar char="■"/>
            </a:pPr>
            <a:r>
              <a:rPr lang="el" sz="1600"/>
              <a:t>Broadcast incoming messages to all devices (known IP, “all ones” MAC).</a:t>
            </a:r>
            <a:endParaRPr sz="1600"/>
          </a:p>
          <a:p>
            <a:pPr indent="-330200" lvl="2" marL="1371600" rtl="0" algn="l">
              <a:lnSpc>
                <a:spcPct val="115000"/>
              </a:lnSpc>
              <a:spcBef>
                <a:spcPts val="0"/>
              </a:spcBef>
              <a:spcAft>
                <a:spcPts val="0"/>
              </a:spcAft>
              <a:buSzPts val="1600"/>
              <a:buChar char="■"/>
            </a:pPr>
            <a:r>
              <a:rPr lang="el" sz="1600"/>
              <a:t>If there is someone to respond → Note down their MAC.</a:t>
            </a:r>
            <a:endParaRPr sz="1600"/>
          </a:p>
          <a:p>
            <a:pPr indent="-330200" lvl="2" marL="1371600" rtl="0" algn="l">
              <a:lnSpc>
                <a:spcPct val="115000"/>
              </a:lnSpc>
              <a:spcBef>
                <a:spcPts val="0"/>
              </a:spcBef>
              <a:spcAft>
                <a:spcPts val="0"/>
              </a:spcAft>
              <a:buSzPts val="1600"/>
              <a:buChar char="■"/>
            </a:pPr>
            <a:r>
              <a:rPr lang="el" sz="1600"/>
              <a:t>If no response is received → Well, nothing to do, drop the packet.</a:t>
            </a:r>
            <a:endParaRPr sz="1600"/>
          </a:p>
          <a:p>
            <a:pPr indent="-330200" lvl="1" marL="914400" rtl="0" algn="l">
              <a:lnSpc>
                <a:spcPct val="115000"/>
              </a:lnSpc>
              <a:spcBef>
                <a:spcPts val="0"/>
              </a:spcBef>
              <a:spcAft>
                <a:spcPts val="0"/>
              </a:spcAft>
              <a:buSzPts val="1600"/>
              <a:buChar char="○"/>
            </a:pPr>
            <a:r>
              <a:rPr lang="el"/>
              <a:t>Overall:</a:t>
            </a:r>
            <a:endParaRPr/>
          </a:p>
          <a:p>
            <a:pPr indent="-330200" lvl="2" marL="1371600" rtl="0" algn="l">
              <a:lnSpc>
                <a:spcPct val="115000"/>
              </a:lnSpc>
              <a:spcBef>
                <a:spcPts val="0"/>
              </a:spcBef>
              <a:spcAft>
                <a:spcPts val="0"/>
              </a:spcAft>
              <a:buSzPts val="1600"/>
              <a:buChar char="■"/>
            </a:pPr>
            <a:r>
              <a:rPr lang="el" sz="1600"/>
              <a:t>If the destination IPv4 host is on the LAN, then the destination MAC is that of this device (@ this host).</a:t>
            </a:r>
            <a:endParaRPr sz="1600"/>
          </a:p>
          <a:p>
            <a:pPr indent="-330200" lvl="2" marL="1371600" rtl="0" algn="l">
              <a:lnSpc>
                <a:spcPct val="115000"/>
              </a:lnSpc>
              <a:spcBef>
                <a:spcPts val="0"/>
              </a:spcBef>
              <a:spcAft>
                <a:spcPts val="0"/>
              </a:spcAft>
              <a:buSzPts val="1600"/>
              <a:buChar char="■"/>
            </a:pPr>
            <a:r>
              <a:rPr lang="el" sz="1600"/>
              <a:t>If the destination IPv4 host is not on the LAN, the destination MAC is determined by the ARP process (table look-up).</a:t>
            </a:r>
            <a:endParaRPr sz="1600"/>
          </a:p>
          <a:p>
            <a:pPr indent="-330200" lvl="2" marL="1371600" rtl="0" algn="l">
              <a:lnSpc>
                <a:spcPct val="115000"/>
              </a:lnSpc>
              <a:spcBef>
                <a:spcPts val="0"/>
              </a:spcBef>
              <a:spcAft>
                <a:spcPts val="0"/>
              </a:spcAft>
              <a:buSzPts val="1600"/>
              <a:buChar char="■"/>
            </a:pPr>
            <a:r>
              <a:rPr lang="el" sz="1600"/>
              <a:t>If the ARP table does not include a valid entry, make a request (shout out) to get the MAC address related to that IP.</a:t>
            </a:r>
            <a:endParaRPr/>
          </a:p>
        </p:txBody>
      </p:sp>
      <p:sp>
        <p:nvSpPr>
          <p:cNvPr id="423" name="Google Shape;423;p3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0"/>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(Reminder) Homework</a:t>
            </a:r>
            <a:endParaRPr/>
          </a:p>
        </p:txBody>
      </p:sp>
      <p:sp>
        <p:nvSpPr>
          <p:cNvPr id="429" name="Google Shape;429;p40"/>
          <p:cNvSpPr txBox="1"/>
          <p:nvPr>
            <p:ph idx="1" type="body"/>
          </p:nvPr>
        </p:nvSpPr>
        <p:spPr>
          <a:xfrm>
            <a:off x="729450" y="1378000"/>
            <a:ext cx="7688700" cy="3575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l"/>
              <a:t>This is a bi-weekly assignment (it will span two weeks, so make your time management accordingly).</a:t>
            </a:r>
            <a:endParaRPr/>
          </a:p>
          <a:p>
            <a:pPr indent="-330200" lvl="0" marL="457200" rtl="0" algn="l">
              <a:lnSpc>
                <a:spcPct val="115000"/>
              </a:lnSpc>
              <a:spcBef>
                <a:spcPts val="1200"/>
              </a:spcBef>
              <a:spcAft>
                <a:spcPts val="0"/>
              </a:spcAft>
              <a:buSzPts val="1600"/>
              <a:buChar char="●"/>
            </a:pPr>
            <a:r>
              <a:rPr lang="el"/>
              <a:t>Read the following chapter found in ‘</a:t>
            </a:r>
            <a:r>
              <a:rPr b="1" lang="el"/>
              <a:t>Our Stuff &gt; network_design_principles.pdf</a:t>
            </a:r>
            <a:r>
              <a:rPr lang="el"/>
              <a:t>’.</a:t>
            </a:r>
            <a:endParaRPr/>
          </a:p>
          <a:p>
            <a:pPr indent="-330200" lvl="0" marL="457200" rtl="0" algn="l">
              <a:lnSpc>
                <a:spcPct val="115000"/>
              </a:lnSpc>
              <a:spcBef>
                <a:spcPts val="0"/>
              </a:spcBef>
              <a:spcAft>
                <a:spcPts val="0"/>
              </a:spcAft>
              <a:buSzPts val="1600"/>
              <a:buChar char="●"/>
            </a:pPr>
            <a:r>
              <a:rPr lang="el"/>
              <a:t>Provide a summary of at least 700 words of the main concepts of this chapter.</a:t>
            </a:r>
            <a:endParaRPr/>
          </a:p>
          <a:p>
            <a:pPr indent="0" lvl="0" marL="0" rtl="0" algn="l">
              <a:lnSpc>
                <a:spcPct val="115000"/>
              </a:lnSpc>
              <a:spcBef>
                <a:spcPts val="1200"/>
              </a:spcBef>
              <a:spcAft>
                <a:spcPts val="1200"/>
              </a:spcAft>
              <a:buSzPts val="1600"/>
              <a:buNone/>
            </a:pPr>
            <a:r>
              <a:rPr lang="el"/>
              <a:t>The aim of this assignment is to help you in summarising stuff you find from certain source. Avoid using the same wording / phrasing as in the book. Try to be as concise and accurate as possible and try to not go too much beyond 700 words (1000 words is acceptable, 2000 words is not).</a:t>
            </a:r>
            <a:endParaRPr/>
          </a:p>
        </p:txBody>
      </p:sp>
      <p:sp>
        <p:nvSpPr>
          <p:cNvPr id="430" name="Google Shape;430;p4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1"/>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l"/>
              <a:t>Fun Time!</a:t>
            </a:r>
            <a:endParaRPr/>
          </a:p>
        </p:txBody>
      </p:sp>
      <p:sp>
        <p:nvSpPr>
          <p:cNvPr id="436" name="Google Shape;436;p4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2"/>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ARP Lab</a:t>
            </a:r>
            <a:endParaRPr/>
          </a:p>
        </p:txBody>
      </p:sp>
      <p:sp>
        <p:nvSpPr>
          <p:cNvPr id="442" name="Google Shape;442;p42"/>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Open ‘</a:t>
            </a:r>
            <a:r>
              <a:rPr b="1" lang="el"/>
              <a:t>labs &gt; Week 6 Tutorial1_Examine the ARP Table.7z</a:t>
            </a:r>
            <a:r>
              <a:rPr lang="el"/>
              <a:t>’ and follow the tutorial therein.</a:t>
            </a:r>
            <a:endParaRPr/>
          </a:p>
          <a:p>
            <a:pPr indent="-330200" lvl="0" marL="457200" rtl="0" algn="l">
              <a:lnSpc>
                <a:spcPct val="115000"/>
              </a:lnSpc>
              <a:spcBef>
                <a:spcPts val="0"/>
              </a:spcBef>
              <a:spcAft>
                <a:spcPts val="0"/>
              </a:spcAft>
              <a:buSzPts val="1600"/>
              <a:buChar char="●"/>
            </a:pPr>
            <a:r>
              <a:rPr lang="el"/>
              <a:t>Also, don’t forget to complete any lab exercises from previous weeks!</a:t>
            </a:r>
            <a:endParaRPr/>
          </a:p>
        </p:txBody>
      </p:sp>
      <p:sp>
        <p:nvSpPr>
          <p:cNvPr id="443" name="Google Shape;443;p4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3"/>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Really interesting materials</a:t>
            </a:r>
            <a:endParaRPr/>
          </a:p>
        </p:txBody>
      </p:sp>
      <p:sp>
        <p:nvSpPr>
          <p:cNvPr id="449" name="Google Shape;449;p43"/>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l"/>
              <a:t>Check out this youtube playlist:</a:t>
            </a:r>
            <a:endParaRPr/>
          </a:p>
          <a:p>
            <a:pPr indent="-330200" lvl="1" marL="914400" rtl="0" algn="l">
              <a:lnSpc>
                <a:spcPct val="115000"/>
              </a:lnSpc>
              <a:spcBef>
                <a:spcPts val="0"/>
              </a:spcBef>
              <a:spcAft>
                <a:spcPts val="0"/>
              </a:spcAft>
              <a:buSzPts val="1600"/>
              <a:buChar char="○"/>
            </a:pPr>
            <a:r>
              <a:rPr lang="el" u="sng">
                <a:solidFill>
                  <a:schemeClr val="hlink"/>
                </a:solidFill>
                <a:hlinkClick r:id="rId3"/>
              </a:rPr>
              <a:t>https://www.youtube.com/watch?v=nlKu93Gb6GQ&amp;list=PLvUOx2WG6R7PlKlERb5zceXxHfC4P7gJn</a:t>
            </a:r>
            <a:endParaRPr/>
          </a:p>
          <a:p>
            <a:pPr indent="-330200" lvl="0" marL="457200" rtl="0" algn="l">
              <a:lnSpc>
                <a:spcPct val="115000"/>
              </a:lnSpc>
              <a:spcBef>
                <a:spcPts val="0"/>
              </a:spcBef>
              <a:spcAft>
                <a:spcPts val="0"/>
              </a:spcAft>
              <a:buSzPts val="1600"/>
              <a:buChar char="●"/>
            </a:pPr>
            <a:r>
              <a:rPr lang="el"/>
              <a:t>Many projects that will look like your final assignment!</a:t>
            </a:r>
            <a:endParaRPr/>
          </a:p>
        </p:txBody>
      </p:sp>
      <p:sp>
        <p:nvSpPr>
          <p:cNvPr id="450" name="Google Shape;450;p4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4"/>
          <p:cNvSpPr txBox="1"/>
          <p:nvPr>
            <p:ph type="title"/>
          </p:nvPr>
        </p:nvSpPr>
        <p:spPr>
          <a:xfrm>
            <a:off x="729450" y="5719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l"/>
              <a:t>(Reminder) NetAcad Courses</a:t>
            </a:r>
            <a:endParaRPr/>
          </a:p>
        </p:txBody>
      </p:sp>
      <p:sp>
        <p:nvSpPr>
          <p:cNvPr id="456" name="Google Shape;456;p44"/>
          <p:cNvSpPr txBox="1"/>
          <p:nvPr>
            <p:ph idx="1" type="body"/>
          </p:nvPr>
        </p:nvSpPr>
        <p:spPr>
          <a:xfrm>
            <a:off x="729450" y="1378000"/>
            <a:ext cx="7688700" cy="2961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l" sz="1500"/>
              <a:t>In the “Download Packet Tracer” page, above the “Download” section, you can find </a:t>
            </a:r>
            <a:r>
              <a:rPr b="1" lang="el" sz="1500"/>
              <a:t>three interesting courses</a:t>
            </a:r>
            <a:r>
              <a:rPr lang="el" sz="1500"/>
              <a:t> (</a:t>
            </a:r>
            <a:r>
              <a:rPr i="1" lang="el" sz="1500"/>
              <a:t>interesting course:</a:t>
            </a:r>
            <a:r>
              <a:rPr lang="el" sz="1500"/>
              <a:t> </a:t>
            </a:r>
            <a:r>
              <a:rPr i="1" lang="el" sz="1500"/>
              <a:t>a course is characterised as “interesting” to inform someone that they should take it, without telling them to do so directly</a:t>
            </a:r>
            <a:r>
              <a:rPr lang="el" sz="1500"/>
              <a:t>):</a:t>
            </a:r>
            <a:endParaRPr sz="1500"/>
          </a:p>
          <a:p>
            <a:pPr indent="-323850" lvl="0" marL="457200" rtl="0" algn="l">
              <a:lnSpc>
                <a:spcPct val="115000"/>
              </a:lnSpc>
              <a:spcBef>
                <a:spcPts val="1200"/>
              </a:spcBef>
              <a:spcAft>
                <a:spcPts val="0"/>
              </a:spcAft>
              <a:buSzPts val="1500"/>
              <a:buChar char="●"/>
            </a:pPr>
            <a:r>
              <a:rPr lang="el" sz="1500" u="sng">
                <a:solidFill>
                  <a:schemeClr val="hlink"/>
                </a:solidFill>
                <a:hlinkClick r:id="rId3"/>
              </a:rPr>
              <a:t>Getting Started with Cisco Packet Tracer</a:t>
            </a:r>
            <a:endParaRPr sz="1500"/>
          </a:p>
          <a:p>
            <a:pPr indent="-323850" lvl="0" marL="457200" rtl="0" algn="l">
              <a:lnSpc>
                <a:spcPct val="115000"/>
              </a:lnSpc>
              <a:spcBef>
                <a:spcPts val="0"/>
              </a:spcBef>
              <a:spcAft>
                <a:spcPts val="0"/>
              </a:spcAft>
              <a:buSzPts val="1500"/>
              <a:buChar char="●"/>
            </a:pPr>
            <a:r>
              <a:rPr lang="el" sz="1500" u="sng">
                <a:solidFill>
                  <a:schemeClr val="hlink"/>
                </a:solidFill>
                <a:hlinkClick r:id="rId4"/>
              </a:rPr>
              <a:t>Exploring Networking with Cisco Packet Tracer</a:t>
            </a:r>
            <a:endParaRPr sz="1500"/>
          </a:p>
          <a:p>
            <a:pPr indent="-323850" lvl="0" marL="457200" rtl="0" algn="l">
              <a:lnSpc>
                <a:spcPct val="115000"/>
              </a:lnSpc>
              <a:spcBef>
                <a:spcPts val="0"/>
              </a:spcBef>
              <a:spcAft>
                <a:spcPts val="0"/>
              </a:spcAft>
              <a:buSzPts val="1500"/>
              <a:buChar char="●"/>
            </a:pPr>
            <a:r>
              <a:rPr lang="el" sz="1500" u="sng">
                <a:solidFill>
                  <a:schemeClr val="hlink"/>
                </a:solidFill>
                <a:hlinkClick r:id="rId5"/>
              </a:rPr>
              <a:t>Exploring IoT with Cisco Packet Tracer</a:t>
            </a:r>
            <a:endParaRPr sz="1500"/>
          </a:p>
          <a:p>
            <a:pPr indent="0" lvl="0" marL="0" rtl="0" algn="l">
              <a:lnSpc>
                <a:spcPct val="115000"/>
              </a:lnSpc>
              <a:spcBef>
                <a:spcPts val="1200"/>
              </a:spcBef>
              <a:spcAft>
                <a:spcPts val="0"/>
              </a:spcAft>
              <a:buSzPts val="1600"/>
              <a:buNone/>
            </a:pPr>
            <a:r>
              <a:rPr lang="el" sz="1500"/>
              <a:t>Also interesting is the following NetAcad course:</a:t>
            </a:r>
            <a:endParaRPr sz="1500"/>
          </a:p>
          <a:p>
            <a:pPr indent="-323850" lvl="0" marL="457200" rtl="0" algn="l">
              <a:lnSpc>
                <a:spcPct val="115000"/>
              </a:lnSpc>
              <a:spcBef>
                <a:spcPts val="1200"/>
              </a:spcBef>
              <a:spcAft>
                <a:spcPts val="0"/>
              </a:spcAft>
              <a:buSzPts val="1500"/>
              <a:buChar char="●"/>
            </a:pPr>
            <a:r>
              <a:rPr lang="el" sz="1500" u="sng">
                <a:solidFill>
                  <a:schemeClr val="hlink"/>
                </a:solidFill>
                <a:hlinkClick r:id="rId6"/>
              </a:rPr>
              <a:t>Network Technician</a:t>
            </a:r>
            <a:endParaRPr sz="1500"/>
          </a:p>
        </p:txBody>
      </p:sp>
      <p:sp>
        <p:nvSpPr>
          <p:cNvPr id="457" name="Google Shape;457;p4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5"/>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l"/>
              <a:t>Any Questions?</a:t>
            </a:r>
            <a:endParaRPr/>
          </a:p>
        </p:txBody>
      </p:sp>
      <p:sp>
        <p:nvSpPr>
          <p:cNvPr id="463" name="Google Shape;463;p45"/>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l"/>
              <a:t>Don’t forget to fill-in the questionnaire! (look right)</a:t>
            </a:r>
            <a:endParaRPr/>
          </a:p>
        </p:txBody>
      </p:sp>
      <p:sp>
        <p:nvSpPr>
          <p:cNvPr id="464" name="Google Shape;464;p45"/>
          <p:cNvSpPr txBox="1"/>
          <p:nvPr/>
        </p:nvSpPr>
        <p:spPr>
          <a:xfrm>
            <a:off x="4749150" y="3960900"/>
            <a:ext cx="4309800" cy="537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l" sz="1600" u="sng" cap="none" strike="noStrike">
                <a:solidFill>
                  <a:schemeClr val="hlink"/>
                </a:solidFill>
                <a:latin typeface="Consolas"/>
                <a:ea typeface="Consolas"/>
                <a:cs typeface="Consolas"/>
                <a:sym typeface="Consolas"/>
                <a:hlinkClick r:id="rId3"/>
              </a:rPr>
              <a:t>https://forms.gle/6q2tuByroaan8kWH8</a:t>
            </a:r>
            <a:endParaRPr b="1" i="0" sz="1600" u="none" cap="none" strike="noStrike">
              <a:solidFill>
                <a:schemeClr val="accent1"/>
              </a:solidFill>
              <a:latin typeface="Consolas"/>
              <a:ea typeface="Consolas"/>
              <a:cs typeface="Consolas"/>
              <a:sym typeface="Consolas"/>
            </a:endParaRPr>
          </a:p>
        </p:txBody>
      </p:sp>
      <p:sp>
        <p:nvSpPr>
          <p:cNvPr id="465" name="Google Shape;465;p4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l"/>
              <a:t>‹#›</a:t>
            </a:fld>
            <a:endParaRPr/>
          </a:p>
        </p:txBody>
      </p:sp>
      <p:pic>
        <p:nvPicPr>
          <p:cNvPr id="466" name="Google Shape;466;p45">
            <a:hlinkClick r:id="rId4"/>
          </p:cNvPr>
          <p:cNvPicPr preferRelativeResize="0"/>
          <p:nvPr/>
        </p:nvPicPr>
        <p:blipFill rotWithShape="1">
          <a:blip r:embed="rId5">
            <a:alphaModFix/>
          </a:blip>
          <a:srcRect b="0" l="0" r="0" t="0"/>
          <a:stretch/>
        </p:blipFill>
        <p:spPr>
          <a:xfrm>
            <a:off x="5408600" y="11430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