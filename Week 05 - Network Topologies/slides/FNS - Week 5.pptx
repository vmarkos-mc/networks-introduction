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</p:sldIdLst>
  <p:sldSz cy="5143500" cx="9144000"/>
  <p:notesSz cx="6858000" cy="9144000"/>
  <p:embeddedFontLst>
    <p:embeddedFont>
      <p:font typeface="Raleway"/>
      <p:regular r:id="rId61"/>
      <p:bold r:id="rId62"/>
      <p:italic r:id="rId63"/>
      <p:boldItalic r:id="rId64"/>
    </p:embeddedFont>
    <p:embeddedFont>
      <p:font typeface="Lato"/>
      <p:regular r:id="rId65"/>
      <p:bold r:id="rId66"/>
      <p:italic r:id="rId67"/>
      <p:boldItalic r:id="rId6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69" roundtripDataSignature="AMtx7mi00+dbqsT08dZBnM7J9SEP8QZk1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2" Type="http://schemas.openxmlformats.org/officeDocument/2006/relationships/font" Target="fonts/Raleway-bold.fntdata"/><Relationship Id="rId61" Type="http://schemas.openxmlformats.org/officeDocument/2006/relationships/font" Target="fonts/Raleway-regular.fntdata"/><Relationship Id="rId20" Type="http://schemas.openxmlformats.org/officeDocument/2006/relationships/slide" Target="slides/slide15.xml"/><Relationship Id="rId64" Type="http://schemas.openxmlformats.org/officeDocument/2006/relationships/font" Target="fonts/Raleway-boldItalic.fntdata"/><Relationship Id="rId63" Type="http://schemas.openxmlformats.org/officeDocument/2006/relationships/font" Target="fonts/Raleway-italic.fntdata"/><Relationship Id="rId22" Type="http://schemas.openxmlformats.org/officeDocument/2006/relationships/slide" Target="slides/slide17.xml"/><Relationship Id="rId66" Type="http://schemas.openxmlformats.org/officeDocument/2006/relationships/font" Target="fonts/Lato-bold.fntdata"/><Relationship Id="rId21" Type="http://schemas.openxmlformats.org/officeDocument/2006/relationships/slide" Target="slides/slide16.xml"/><Relationship Id="rId65" Type="http://schemas.openxmlformats.org/officeDocument/2006/relationships/font" Target="fonts/Lato-regular.fntdata"/><Relationship Id="rId24" Type="http://schemas.openxmlformats.org/officeDocument/2006/relationships/slide" Target="slides/slide19.xml"/><Relationship Id="rId68" Type="http://schemas.openxmlformats.org/officeDocument/2006/relationships/font" Target="fonts/Lato-boldItalic.fntdata"/><Relationship Id="rId23" Type="http://schemas.openxmlformats.org/officeDocument/2006/relationships/slide" Target="slides/slide18.xml"/><Relationship Id="rId67" Type="http://schemas.openxmlformats.org/officeDocument/2006/relationships/font" Target="fonts/Lato-italic.fntdata"/><Relationship Id="rId60" Type="http://schemas.openxmlformats.org/officeDocument/2006/relationships/slide" Target="slides/slide55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69" Type="http://customschemas.google.com/relationships/presentationmetadata" Target="metadata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schemas.openxmlformats.org/officeDocument/2006/relationships/slide" Target="slides/slide54.xml"/><Relationship Id="rId14" Type="http://schemas.openxmlformats.org/officeDocument/2006/relationships/slide" Target="slides/slide9.xml"/><Relationship Id="rId58" Type="http://schemas.openxmlformats.org/officeDocument/2006/relationships/slide" Target="slides/slide5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" name="Google Shape;13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9" name="Google Shape;13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" name="Google Shape;15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4" name="Google Shape;17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0" name="Google Shape;18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4" name="Google Shape;194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" name="Google Shape;201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8" name="Google Shape;208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5" name="Google Shape;225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3" name="Google Shape;233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" name="Google Shape;241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8" name="Google Shape;248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2" name="Google Shape;262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5" name="Google Shape;305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2" name="Google Shape;312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9" name="Google Shape;319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6" name="Google Shape;326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3" name="Google Shape;333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1" name="Google Shape;341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9" name="Google Shape;349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7" name="Google Shape;357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5" name="Google Shape;365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2" name="Google Shape;372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9" name="Google Shape;379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7" name="Google Shape;387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4" name="Google Shape;394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2" name="Google Shape;402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7" name="Google Shape;417;p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4" name="Google Shape;424;p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2" name="Google Shape;432;p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9" name="Google Shape;439;p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6" name="Google Shape;446;p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3" name="Google Shape;453;p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0" name="Google Shape;460;p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7" name="Google Shape;467;p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4" name="Google Shape;474;p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1" name="Google Shape;481;p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8" name="Google Shape;488;p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5" name="Google Shape;495;p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2" name="Google Shape;502;p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9" name="Google Shape;509;p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6" name="Google Shape;516;p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2" name="Google Shape;522;p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9" name="Google Shape;529;p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4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6" name="Google Shape;536;p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" name="Google Shape;11;p5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5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5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" name="Google Shape;14;p57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Lato"/>
              <a:buNone/>
              <a:defRPr sz="4200"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" name="Google Shape;15;p57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5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  <p:sp>
        <p:nvSpPr>
          <p:cNvPr id="17" name="Google Shape;17;p57"/>
          <p:cNvSpPr txBox="1"/>
          <p:nvPr/>
        </p:nvSpPr>
        <p:spPr>
          <a:xfrm>
            <a:off x="6590950" y="3866975"/>
            <a:ext cx="19455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8" name="Google Shape;18;p57"/>
          <p:cNvSpPr txBox="1"/>
          <p:nvPr>
            <p:ph idx="2" type="subTitle"/>
          </p:nvPr>
        </p:nvSpPr>
        <p:spPr>
          <a:xfrm>
            <a:off x="6057025" y="3821800"/>
            <a:ext cx="2360700" cy="112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58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1" name="Google Shape;21;p5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" name="Google Shape;22;p5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" name="Google Shape;23;p58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Lato"/>
              <a:buNone/>
              <a:defRPr sz="36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" name="Google Shape;24;p5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Τίτλος και κύριο μέρος - Προσοχή! 1">
  <p:cSld name="TITLE_AND_BODY_1_1_1">
    <p:bg>
      <p:bgPr>
        <a:solidFill>
          <a:schemeClr val="lt2"/>
        </a:solidFill>
      </p:bgPr>
    </p:bg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9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accent2"/>
          </a:solidFill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l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Quick Revision</a:t>
            </a:r>
            <a:endParaRPr b="1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7" name="Google Shape;27;p5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8" name="Google Shape;28;p5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29;p5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0" name="Google Shape;30;p59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Font typeface="Lato"/>
              <a:buNone/>
              <a:defRPr sz="2600"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1" name="Google Shape;31;p59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302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2" name="Google Shape;32;p5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0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5" name="Google Shape;35;p60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6" name="Google Shape;36;p60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;p60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8" name="Google Shape;38;p60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Font typeface="Lato"/>
              <a:buNone/>
              <a:defRPr sz="2600"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9" name="Google Shape;39;p60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302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0" name="Google Shape;40;p6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Τίτλος και κύριο μέρος - Προσοχή!">
  <p:cSld name="TITLE_AND_BODY_1_1">
    <p:bg>
      <p:bgPr>
        <a:solidFill>
          <a:schemeClr val="lt2"/>
        </a:solid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61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l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Heads up!</a:t>
            </a:r>
            <a:endParaRPr b="1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" name="Google Shape;43;p61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4" name="Google Shape;44;p6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" name="Google Shape;45;p6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6" name="Google Shape;46;p61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Font typeface="Lato"/>
              <a:buNone/>
              <a:defRPr sz="2600"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7" name="Google Shape;47;p61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302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8" name="Google Shape;48;p6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62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1" name="Google Shape;51;p6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2" name="Google Shape;52;p6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" name="Google Shape;53;p6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4" name="Google Shape;54;p62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Font typeface="Lato"/>
              <a:buNone/>
              <a:defRPr sz="2600"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5" name="Google Shape;55;p62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56" name="Google Shape;56;p62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7" name="Google Shape;57;p6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Τίτλος και κύριο μέρος - Εκτός ύλης">
  <p:cSld name="TITLE_AND_BODY_1">
    <p:bg>
      <p:bgPr>
        <a:solidFill>
          <a:schemeClr val="lt2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63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accent3"/>
          </a:solidFill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l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Not relevant for the assessment of the module!</a:t>
            </a:r>
            <a:endParaRPr b="1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0" name="Google Shape;60;p6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1" name="Google Shape;61;p6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" name="Google Shape;62;p6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3" name="Google Shape;63;p63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Font typeface="Lato"/>
              <a:buNone/>
              <a:defRPr sz="2600"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64" name="Google Shape;64;p63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302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5" name="Google Shape;65;p6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6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8" name="Google Shape;68;p6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9" name="Google Shape;69;p6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" name="Google Shape;70;p6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1" name="Google Shape;71;p64"/>
          <p:cNvSpPr txBox="1"/>
          <p:nvPr>
            <p:ph type="title"/>
          </p:nvPr>
        </p:nvSpPr>
        <p:spPr>
          <a:xfrm>
            <a:off x="727800" y="571925"/>
            <a:ext cx="76884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Font typeface="Lato"/>
              <a:buNone/>
              <a:defRPr sz="2600"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72" name="Google Shape;72;p64"/>
          <p:cNvSpPr txBox="1"/>
          <p:nvPr>
            <p:ph idx="1" type="body"/>
          </p:nvPr>
        </p:nvSpPr>
        <p:spPr>
          <a:xfrm>
            <a:off x="729325" y="1474150"/>
            <a:ext cx="3774300" cy="28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73" name="Google Shape;73;p64"/>
          <p:cNvSpPr txBox="1"/>
          <p:nvPr>
            <p:ph idx="2" type="body"/>
          </p:nvPr>
        </p:nvSpPr>
        <p:spPr>
          <a:xfrm>
            <a:off x="4643600" y="1474075"/>
            <a:ext cx="3774300" cy="28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74" name="Google Shape;74;p6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6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7" name="Google Shape;77;p6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78" name="Google Shape;78;p6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" name="Google Shape;79;p6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0" name="Google Shape;80;p65"/>
          <p:cNvSpPr txBox="1"/>
          <p:nvPr>
            <p:ph type="title"/>
          </p:nvPr>
        </p:nvSpPr>
        <p:spPr>
          <a:xfrm>
            <a:off x="727800" y="571925"/>
            <a:ext cx="76884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Font typeface="Lato"/>
              <a:buNone/>
              <a:defRPr sz="2600"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81" name="Google Shape;81;p6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6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4" name="Google Shape;84;p6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85" name="Google Shape;85;p6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6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7" name="Google Shape;87;p66"/>
          <p:cNvSpPr txBox="1"/>
          <p:nvPr>
            <p:ph type="title"/>
          </p:nvPr>
        </p:nvSpPr>
        <p:spPr>
          <a:xfrm>
            <a:off x="721225" y="523413"/>
            <a:ext cx="3300900" cy="138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Font typeface="Lato"/>
              <a:buNone/>
              <a:defRPr sz="2600"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88" name="Google Shape;88;p66"/>
          <p:cNvSpPr txBox="1"/>
          <p:nvPr>
            <p:ph idx="1" type="body"/>
          </p:nvPr>
        </p:nvSpPr>
        <p:spPr>
          <a:xfrm>
            <a:off x="721225" y="1452775"/>
            <a:ext cx="3300900" cy="292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89" name="Google Shape;89;p6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oogle Shape;91;p67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92" name="Google Shape;92;p6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" name="Google Shape;93;p6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4" name="Google Shape;94;p67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Lato"/>
              <a:buNone/>
              <a:defRPr sz="36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5" name="Google Shape;95;p6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68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98" name="Google Shape;98;p6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69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101" name="Google Shape;101;p6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" name="Google Shape;102;p6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" name="Google Shape;103;p69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Lato"/>
              <a:buNone/>
              <a:defRPr sz="8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4" name="Google Shape;104;p69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5" name="Google Shape;105;p6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7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theme" Target="../theme/theme1.xml"/><Relationship Id="rId1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i="0" sz="2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5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b="0" i="0" sz="13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b="0" i="0" sz="11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b="0" i="0" sz="11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b="0" i="0" sz="11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b="0" i="0" sz="11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b="0" i="0" sz="11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b="0" i="0" sz="11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b="0" i="0" sz="11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b="0" i="0" sz="11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5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://www.google.com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en.wikipedia.org/wiki/Topology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9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0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6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hyperlink" Target="http://www.google.com" TargetMode="Externa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Relationship Id="rId3" Type="http://schemas.openxmlformats.org/officeDocument/2006/relationships/hyperlink" Target="https://skillsforall.com/course/getting-started-cisco-packet-tracer" TargetMode="External"/><Relationship Id="rId4" Type="http://schemas.openxmlformats.org/officeDocument/2006/relationships/hyperlink" Target="https://skillsforall.com/course/exploring-networking-cisco-packet-tracer?courseLang=en-US" TargetMode="External"/><Relationship Id="rId5" Type="http://schemas.openxmlformats.org/officeDocument/2006/relationships/hyperlink" Target="https://skillsforall.com/course/exploring-iot-cisco-packet-tracer?courseLang=en-US" TargetMode="External"/><Relationship Id="rId6" Type="http://schemas.openxmlformats.org/officeDocument/2006/relationships/hyperlink" Target="https://skillsforall.com/career-path/network-technician?courseLang=en-US" TargetMode="Externa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5.xml"/><Relationship Id="rId3" Type="http://schemas.openxmlformats.org/officeDocument/2006/relationships/hyperlink" Target="https://forms.gle/6q2tuByroaan8kWH8" TargetMode="External"/><Relationship Id="rId4" Type="http://schemas.openxmlformats.org/officeDocument/2006/relationships/hyperlink" Target="https://forms.gle/6q2tuByroaan8kWH8" TargetMode="External"/><Relationship Id="rId5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l"/>
              <a:t>Fundamental of Networks and Security</a:t>
            </a:r>
            <a:endParaRPr/>
          </a:p>
        </p:txBody>
      </p:sp>
      <p:sp>
        <p:nvSpPr>
          <p:cNvPr id="113" name="Google Shape;113;p1"/>
          <p:cNvSpPr txBox="1"/>
          <p:nvPr>
            <p:ph idx="1" type="subTitle"/>
          </p:nvPr>
        </p:nvSpPr>
        <p:spPr>
          <a:xfrm>
            <a:off x="729625" y="3172900"/>
            <a:ext cx="7688100" cy="8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el"/>
              <a:t>Markos Vassilis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el"/>
              <a:t>Mediterranean College, Fall 2024-20</a:t>
            </a:r>
            <a:endParaRPr/>
          </a:p>
        </p:txBody>
      </p:sp>
      <p:sp>
        <p:nvSpPr>
          <p:cNvPr id="114" name="Google Shape;114;p1"/>
          <p:cNvSpPr txBox="1"/>
          <p:nvPr/>
        </p:nvSpPr>
        <p:spPr>
          <a:xfrm>
            <a:off x="6029600" y="4001275"/>
            <a:ext cx="2388000" cy="61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15" name="Google Shape;115;p1"/>
          <p:cNvSpPr txBox="1"/>
          <p:nvPr>
            <p:ph idx="2" type="subTitle"/>
          </p:nvPr>
        </p:nvSpPr>
        <p:spPr>
          <a:xfrm>
            <a:off x="6057025" y="3821800"/>
            <a:ext cx="2360700" cy="112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300"/>
              <a:buNone/>
            </a:pPr>
            <a:r>
              <a:rPr lang="el"/>
              <a:t>Week 05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l"/>
              <a:t>A Quick Revision</a:t>
            </a:r>
            <a:endParaRPr/>
          </a:p>
        </p:txBody>
      </p:sp>
      <p:sp>
        <p:nvSpPr>
          <p:cNvPr id="121" name="Google Shape;121;p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What we saw last time…1 / n</a:t>
            </a:r>
            <a:endParaRPr/>
          </a:p>
        </p:txBody>
      </p:sp>
      <p:sp>
        <p:nvSpPr>
          <p:cNvPr id="127" name="Google Shape;127;p3"/>
          <p:cNvSpPr txBox="1"/>
          <p:nvPr>
            <p:ph idx="1" type="body"/>
          </p:nvPr>
        </p:nvSpPr>
        <p:spPr>
          <a:xfrm>
            <a:off x="729450" y="1378000"/>
            <a:ext cx="7688700" cy="33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Which are the layers of the OSI model?</a:t>
            </a:r>
            <a:endParaRPr b="1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</a:pPr>
            <a:r>
              <a:rPr lang="el"/>
              <a:t>	The OSI model comprises of 7 layers: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Physical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Data Link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Network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Transport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Session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Presentation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Application</a:t>
            </a:r>
            <a:endParaRPr/>
          </a:p>
        </p:txBody>
      </p:sp>
      <p:sp>
        <p:nvSpPr>
          <p:cNvPr id="128" name="Google Shape;128;p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4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What we saw last time…2 / n</a:t>
            </a:r>
            <a:endParaRPr/>
          </a:p>
        </p:txBody>
      </p:sp>
      <p:sp>
        <p:nvSpPr>
          <p:cNvPr id="134" name="Google Shape;134;p4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Which are the TCP/IP Conceptual layers and what is their correspondence with the OSI ones?</a:t>
            </a:r>
            <a:endParaRPr b="1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</a:pPr>
            <a:r>
              <a:rPr lang="el"/>
              <a:t>	There are four layers: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Network Interface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Network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Transport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Application</a:t>
            </a:r>
            <a:endParaRPr/>
          </a:p>
        </p:txBody>
      </p:sp>
      <p:sp>
        <p:nvSpPr>
          <p:cNvPr id="135" name="Google Shape;135;p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  <p:pic>
        <p:nvPicPr>
          <p:cNvPr id="136" name="Google Shape;13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48525" y="2092850"/>
            <a:ext cx="3669619" cy="2961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What we saw last time…3 / n</a:t>
            </a:r>
            <a:endParaRPr/>
          </a:p>
        </p:txBody>
      </p:sp>
      <p:sp>
        <p:nvSpPr>
          <p:cNvPr id="142" name="Google Shape;142;p5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What are some benefits of using models to describe networks architecture?</a:t>
            </a:r>
            <a:endParaRPr b="1"/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</a:pPr>
            <a:r>
              <a:rPr lang="el"/>
              <a:t>Some benefits include: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Global representation of multiple, highly diverse systems.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Facilitates understanding of networks and similar concepts.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The </a:t>
            </a:r>
            <a:r>
              <a:rPr b="1" lang="el"/>
              <a:t>core processes are predetermined</a:t>
            </a:r>
            <a:r>
              <a:rPr lang="el"/>
              <a:t>. We don’t have to worry about them (at an abstract level).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We need to </a:t>
            </a:r>
            <a:r>
              <a:rPr b="1" lang="el"/>
              <a:t>take care of how information flows</a:t>
            </a:r>
            <a:r>
              <a:rPr lang="el"/>
              <a:t> across layers (i.e., how the information flow across processes).</a:t>
            </a:r>
            <a:endParaRPr/>
          </a:p>
        </p:txBody>
      </p:sp>
      <p:sp>
        <p:nvSpPr>
          <p:cNvPr id="143" name="Google Shape;143;p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6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What we saw last time…4 / n</a:t>
            </a:r>
            <a:endParaRPr/>
          </a:p>
        </p:txBody>
      </p:sp>
      <p:sp>
        <p:nvSpPr>
          <p:cNvPr id="149" name="Google Shape;149;p6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What is encapsulation?</a:t>
            </a:r>
            <a:endParaRPr b="1"/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</a:pPr>
            <a:r>
              <a:rPr lang="el"/>
              <a:t>Encapsulation is the process of adding information incrementally, as we move “downwards” through the layers, i.e., from the more abstract to the more lower-level layers.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What is decapsulation?</a:t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600"/>
              <a:buNone/>
            </a:pPr>
            <a:r>
              <a:rPr lang="el"/>
              <a:t>The opposite of encapsulation, i.e., moving backwards, from lower- to higher-level layers, we make use of and strip off the enabling information, thus efficiently getting back the original data.</a:t>
            </a:r>
            <a:endParaRPr/>
          </a:p>
        </p:txBody>
      </p:sp>
      <p:sp>
        <p:nvSpPr>
          <p:cNvPr id="150" name="Google Shape;150;p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7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What we saw last time…5 / n</a:t>
            </a:r>
            <a:endParaRPr/>
          </a:p>
        </p:txBody>
      </p:sp>
      <p:sp>
        <p:nvSpPr>
          <p:cNvPr id="156" name="Google Shape;156;p7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Port, IP, MAC: What does each of these help us identify?</a:t>
            </a:r>
            <a:endParaRPr b="1"/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</a:pPr>
            <a:r>
              <a:rPr lang="el"/>
              <a:t>Ports help us identify the exact location from where on a network device a process is made available.</a:t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</a:pPr>
            <a:r>
              <a:rPr lang="el"/>
              <a:t>IP address helps us identify a network.</a:t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</a:pPr>
            <a:r>
              <a:rPr lang="el"/>
              <a:t>MAC address helps us identify a certain network device.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Right or Wrong? A packet contains more information than a frame.</a:t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600"/>
              <a:buNone/>
            </a:pPr>
            <a:r>
              <a:rPr lang="el"/>
              <a:t>Wrong. Frames = Packets + MAC address.</a:t>
            </a:r>
            <a:endParaRPr/>
          </a:p>
        </p:txBody>
      </p:sp>
      <p:sp>
        <p:nvSpPr>
          <p:cNvPr id="157" name="Google Shape;157;p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8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What we saw last time…6 / n</a:t>
            </a:r>
            <a:endParaRPr/>
          </a:p>
        </p:txBody>
      </p:sp>
      <p:sp>
        <p:nvSpPr>
          <p:cNvPr id="163" name="Google Shape;163;p8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Right or Wrong? Packets refer to lower layer than frames.</a:t>
            </a:r>
            <a:endParaRPr b="1"/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</a:pPr>
            <a:r>
              <a:rPr lang="el"/>
              <a:t>Wrong. Frames, refer to layer 2 but packets to layer 3 - remember, frames are encapsulated packets, so we move down the layer stack!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At which layer of the OSI model do message segments live in?</a:t>
            </a:r>
            <a:endParaRPr b="1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600"/>
              <a:buNone/>
            </a:pPr>
            <a:r>
              <a:rPr lang="el"/>
              <a:t>	At the transport layer (layer 4).</a:t>
            </a:r>
            <a:endParaRPr/>
          </a:p>
        </p:txBody>
      </p:sp>
      <p:sp>
        <p:nvSpPr>
          <p:cNvPr id="164" name="Google Shape;164;p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9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What we saw last time…7 / n</a:t>
            </a:r>
            <a:endParaRPr/>
          </a:p>
        </p:txBody>
      </p:sp>
      <p:sp>
        <p:nvSpPr>
          <p:cNvPr id="170" name="Google Shape;170;p9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Name some pros and cons of message segmentation.</a:t>
            </a:r>
            <a:endParaRPr b="1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</a:pPr>
            <a:r>
              <a:rPr lang="el"/>
              <a:t>	Pros: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Different conversations can be interleaved (i.e., you can perplex multiple conversations simultaneously).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More reliable networks.</a:t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</a:pPr>
            <a:r>
              <a:rPr lang="el"/>
              <a:t>Con: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Complexity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600"/>
              <a:buNone/>
            </a:pPr>
            <a:r>
              <a:t/>
            </a:r>
            <a:endParaRPr/>
          </a:p>
        </p:txBody>
      </p:sp>
      <p:sp>
        <p:nvSpPr>
          <p:cNvPr id="171" name="Google Shape;171;p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0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l"/>
              <a:t>Network Topologies</a:t>
            </a:r>
            <a:endParaRPr/>
          </a:p>
        </p:txBody>
      </p:sp>
      <p:sp>
        <p:nvSpPr>
          <p:cNvPr id="177" name="Google Shape;177;p1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1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Bad Networks: Vol I</a:t>
            </a:r>
            <a:endParaRPr/>
          </a:p>
        </p:txBody>
      </p:sp>
      <p:sp>
        <p:nvSpPr>
          <p:cNvPr id="183" name="Google Shape;183;p11"/>
          <p:cNvSpPr txBox="1"/>
          <p:nvPr>
            <p:ph idx="1" type="body"/>
          </p:nvPr>
        </p:nvSpPr>
        <p:spPr>
          <a:xfrm>
            <a:off x="729450" y="1378000"/>
            <a:ext cx="7688700" cy="36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el"/>
              <a:t>In an office network, why are the following bad?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You can’t access your local printer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Lack of local (internal) accessibility.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You can download stuff from all over the internet.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Lack of restrictions on external access.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When you download a Trojan, all PCs are infected.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The design of the network should have taken this into account (logical security).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There are no firewall devices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Lack of physical security</a:t>
            </a:r>
            <a:endParaRPr/>
          </a:p>
        </p:txBody>
      </p:sp>
      <p:sp>
        <p:nvSpPr>
          <p:cNvPr id="184" name="Google Shape;184;p1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2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Bad Networks: Vol II</a:t>
            </a:r>
            <a:endParaRPr/>
          </a:p>
        </p:txBody>
      </p:sp>
      <p:sp>
        <p:nvSpPr>
          <p:cNvPr id="190" name="Google Shape;190;p12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You share a 3MB .png which takes roughly 8 minutes to complete.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Lack of a fast connection, large delays.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You want to connect to your local databases or any other service but, hey, Error 404 is there for you.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Unreliable.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It’s high time to connect some new devices but the connecting machinery you are using is as old as the deceased Queen Elizabeth.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Lack of “future-proof” design.</a:t>
            </a:r>
            <a:endParaRPr/>
          </a:p>
        </p:txBody>
      </p:sp>
      <p:sp>
        <p:nvSpPr>
          <p:cNvPr id="191" name="Google Shape;191;p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3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Good Networks</a:t>
            </a:r>
            <a:endParaRPr/>
          </a:p>
        </p:txBody>
      </p:sp>
      <p:sp>
        <p:nvSpPr>
          <p:cNvPr id="197" name="Google Shape;197;p13"/>
          <p:cNvSpPr txBox="1"/>
          <p:nvPr>
            <p:ph idx="1" type="body"/>
          </p:nvPr>
        </p:nvSpPr>
        <p:spPr>
          <a:xfrm>
            <a:off x="729450" y="1378000"/>
            <a:ext cx="7688700" cy="33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el"/>
              <a:t>Revert the above and you get all the good network design principles: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Internal accessibility (you should have access to any device you need to)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External access (see and show what you should from / to the world)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Logical security (take care of security at the design level of the network)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Physical security (remember those firewalls?)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High transfer speed / minimal delays (</a:t>
            </a:r>
            <a:r>
              <a:rPr lang="el" u="sng">
                <a:solidFill>
                  <a:schemeClr val="hlink"/>
                </a:solidFill>
                <a:hlinkClick r:id="rId3"/>
              </a:rPr>
              <a:t>www.google.com</a:t>
            </a:r>
            <a:r>
              <a:rPr lang="el"/>
              <a:t> should load instantly)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Reliability and Resilience (you should not fear that you will get disconnected every time the clock ticks)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Adaptable to extensions / future needs (you should not build a network only for today)</a:t>
            </a:r>
            <a:endParaRPr/>
          </a:p>
        </p:txBody>
      </p:sp>
      <p:sp>
        <p:nvSpPr>
          <p:cNvPr id="198" name="Google Shape;198;p1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4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Topology</a:t>
            </a:r>
            <a:endParaRPr/>
          </a:p>
        </p:txBody>
      </p:sp>
      <p:sp>
        <p:nvSpPr>
          <p:cNvPr id="204" name="Google Shape;204;p14"/>
          <p:cNvSpPr txBox="1"/>
          <p:nvPr>
            <p:ph idx="1" type="body"/>
          </p:nvPr>
        </p:nvSpPr>
        <p:spPr>
          <a:xfrm>
            <a:off x="729450" y="1378000"/>
            <a:ext cx="7688700" cy="33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el"/>
              <a:t>What is topology?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b="1" lang="el">
                <a:solidFill>
                  <a:schemeClr val="accent3"/>
                </a:solidFill>
              </a:rPr>
              <a:t>Topology </a:t>
            </a:r>
            <a:r>
              <a:rPr lang="el"/>
              <a:t>is concerned with the properties of a geometric object that are preserved under continuous deformations, such as stretching, twisting, crumpling, and bending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Nooooo! This is mathematics - see </a:t>
            </a:r>
            <a:r>
              <a:rPr lang="el" u="sng">
                <a:solidFill>
                  <a:schemeClr val="hlink"/>
                </a:solidFill>
                <a:hlinkClick r:id="rId3"/>
              </a:rPr>
              <a:t>here</a:t>
            </a:r>
            <a:r>
              <a:rPr lang="el"/>
              <a:t> for more.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>
                <a:solidFill>
                  <a:schemeClr val="dk1"/>
                </a:solidFill>
              </a:rPr>
              <a:t>Network topology</a:t>
            </a:r>
            <a:r>
              <a:rPr lang="el"/>
              <a:t> is the arrangement of the elements (links, nodes, etc.) of a communication network.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In everyday words: Topology is the logical and physical “cabling” of the network.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But, which words aren’t “everyday” ones?</a:t>
            </a:r>
            <a:endParaRPr/>
          </a:p>
        </p:txBody>
      </p:sp>
      <p:sp>
        <p:nvSpPr>
          <p:cNvPr id="205" name="Google Shape;205;p1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5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Network Topologies: Star</a:t>
            </a:r>
            <a:endParaRPr/>
          </a:p>
        </p:txBody>
      </p:sp>
      <p:sp>
        <p:nvSpPr>
          <p:cNvPr id="211" name="Google Shape;211;p1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  <p:pic>
        <p:nvPicPr>
          <p:cNvPr id="212" name="Google Shape;21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1925" y="1259525"/>
            <a:ext cx="7143750" cy="33337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3" name="Google Shape;213;p15"/>
          <p:cNvGrpSpPr/>
          <p:nvPr/>
        </p:nvGrpSpPr>
        <p:grpSpPr>
          <a:xfrm>
            <a:off x="655950" y="3133925"/>
            <a:ext cx="3217200" cy="685200"/>
            <a:chOff x="655950" y="3133925"/>
            <a:chExt cx="3217200" cy="685200"/>
          </a:xfrm>
        </p:grpSpPr>
        <p:sp>
          <p:nvSpPr>
            <p:cNvPr id="214" name="Google Shape;214;p15"/>
            <p:cNvSpPr txBox="1"/>
            <p:nvPr/>
          </p:nvSpPr>
          <p:spPr>
            <a:xfrm>
              <a:off x="655950" y="3425525"/>
              <a:ext cx="718500" cy="393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l" sz="1600" u="none" cap="none" strike="noStrike">
                  <a:solidFill>
                    <a:schemeClr val="accent3"/>
                  </a:solidFill>
                  <a:latin typeface="Lato"/>
                  <a:ea typeface="Lato"/>
                  <a:cs typeface="Lato"/>
                  <a:sym typeface="Lato"/>
                </a:rPr>
                <a:t>Hub</a:t>
              </a:r>
              <a:endParaRPr b="1" i="0" sz="1600" u="none" cap="none" strike="noStrike">
                <a:solidFill>
                  <a:schemeClr val="accent3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15" name="Google Shape;215;p15"/>
            <p:cNvCxnSpPr>
              <a:stCxn id="214" idx="3"/>
            </p:cNvCxnSpPr>
            <p:nvPr/>
          </p:nvCxnSpPr>
          <p:spPr>
            <a:xfrm flipH="1" rot="10800000">
              <a:off x="1374450" y="3133925"/>
              <a:ext cx="2498700" cy="488400"/>
            </a:xfrm>
            <a:prstGeom prst="straightConnector1">
              <a:avLst/>
            </a:prstGeom>
            <a:noFill/>
            <a:ln cap="flat" cmpd="sng" w="19050">
              <a:solidFill>
                <a:schemeClr val="accent3"/>
              </a:solidFill>
              <a:prstDash val="dash"/>
              <a:round/>
              <a:headEnd len="sm" w="sm" type="none"/>
              <a:tailEnd len="med" w="med" type="triangle"/>
            </a:ln>
          </p:spPr>
        </p:cxnSp>
      </p:grpSp>
      <p:grpSp>
        <p:nvGrpSpPr>
          <p:cNvPr id="216" name="Google Shape;216;p15"/>
          <p:cNvGrpSpPr/>
          <p:nvPr/>
        </p:nvGrpSpPr>
        <p:grpSpPr>
          <a:xfrm>
            <a:off x="3821075" y="1270250"/>
            <a:ext cx="4597000" cy="2426175"/>
            <a:chOff x="3821075" y="1270250"/>
            <a:chExt cx="4597000" cy="2426175"/>
          </a:xfrm>
        </p:grpSpPr>
        <p:sp>
          <p:nvSpPr>
            <p:cNvPr id="217" name="Google Shape;217;p15"/>
            <p:cNvSpPr txBox="1"/>
            <p:nvPr/>
          </p:nvSpPr>
          <p:spPr>
            <a:xfrm>
              <a:off x="7298775" y="1270250"/>
              <a:ext cx="1119300" cy="33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1" i="0" lang="el" sz="1600" u="none" cap="none" strike="noStrike">
                  <a:solidFill>
                    <a:schemeClr val="dk1"/>
                  </a:solidFill>
                  <a:latin typeface="Lato"/>
                  <a:ea typeface="Lato"/>
                  <a:cs typeface="Lato"/>
                  <a:sym typeface="Lato"/>
                </a:rPr>
                <a:t>Spokes</a:t>
              </a:r>
              <a:endParaRPr b="1" i="0" sz="16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18" name="Google Shape;218;p15"/>
            <p:cNvCxnSpPr>
              <a:stCxn id="217" idx="1"/>
            </p:cNvCxnSpPr>
            <p:nvPr/>
          </p:nvCxnSpPr>
          <p:spPr>
            <a:xfrm flipH="1">
              <a:off x="5018475" y="1436900"/>
              <a:ext cx="2280300" cy="20820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dash"/>
              <a:round/>
              <a:headEnd len="sm" w="sm" type="none"/>
              <a:tailEnd len="med" w="med" type="triangle"/>
            </a:ln>
          </p:spPr>
        </p:cxnSp>
        <p:cxnSp>
          <p:nvCxnSpPr>
            <p:cNvPr id="219" name="Google Shape;219;p15"/>
            <p:cNvCxnSpPr/>
            <p:nvPr/>
          </p:nvCxnSpPr>
          <p:spPr>
            <a:xfrm flipH="1">
              <a:off x="6528450" y="1759625"/>
              <a:ext cx="832800" cy="64560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dash"/>
              <a:round/>
              <a:headEnd len="sm" w="sm" type="none"/>
              <a:tailEnd len="med" w="med" type="triangle"/>
            </a:ln>
          </p:spPr>
        </p:cxnSp>
        <p:cxnSp>
          <p:nvCxnSpPr>
            <p:cNvPr id="220" name="Google Shape;220;p15"/>
            <p:cNvCxnSpPr/>
            <p:nvPr/>
          </p:nvCxnSpPr>
          <p:spPr>
            <a:xfrm flipH="1">
              <a:off x="3821075" y="1645075"/>
              <a:ext cx="3384000" cy="81210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dash"/>
              <a:round/>
              <a:headEnd len="sm" w="sm" type="none"/>
              <a:tailEnd len="med" w="med" type="triangle"/>
            </a:ln>
          </p:spPr>
        </p:cxnSp>
        <p:cxnSp>
          <p:nvCxnSpPr>
            <p:cNvPr id="221" name="Google Shape;221;p15"/>
            <p:cNvCxnSpPr/>
            <p:nvPr/>
          </p:nvCxnSpPr>
          <p:spPr>
            <a:xfrm flipH="1">
              <a:off x="6007800" y="1759625"/>
              <a:ext cx="1582500" cy="193680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dash"/>
              <a:round/>
              <a:headEnd len="sm" w="sm" type="none"/>
              <a:tailEnd len="med" w="med" type="triangle"/>
            </a:ln>
          </p:spPr>
        </p:cxnSp>
        <p:cxnSp>
          <p:nvCxnSpPr>
            <p:cNvPr id="222" name="Google Shape;222;p15"/>
            <p:cNvCxnSpPr/>
            <p:nvPr/>
          </p:nvCxnSpPr>
          <p:spPr>
            <a:xfrm flipH="1">
              <a:off x="4091775" y="1686725"/>
              <a:ext cx="3207000" cy="199920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dash"/>
              <a:round/>
              <a:headEnd len="sm" w="sm" type="none"/>
              <a:tailEnd len="med" w="med" type="triangle"/>
            </a:ln>
          </p:spPr>
        </p:cxnSp>
      </p:grp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6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Network Topologies: Star</a:t>
            </a:r>
            <a:endParaRPr/>
          </a:p>
        </p:txBody>
      </p:sp>
      <p:sp>
        <p:nvSpPr>
          <p:cNvPr id="228" name="Google Shape;228;p16"/>
          <p:cNvSpPr txBox="1"/>
          <p:nvPr>
            <p:ph idx="1" type="body"/>
          </p:nvPr>
        </p:nvSpPr>
        <p:spPr>
          <a:xfrm>
            <a:off x="729450" y="1378000"/>
            <a:ext cx="7688700" cy="13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Quite common in most simple / small / home networks.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Quite common in data networks.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The “Hub” is not necessarily a hub (actually, it never is, in our days). It is a logical entity, which means that it might be implemented by several devices.</a:t>
            </a:r>
            <a:endParaRPr/>
          </a:p>
        </p:txBody>
      </p:sp>
      <p:sp>
        <p:nvSpPr>
          <p:cNvPr id="229" name="Google Shape;229;p1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  <p:sp>
        <p:nvSpPr>
          <p:cNvPr id="230" name="Google Shape;230;p16"/>
          <p:cNvSpPr txBox="1"/>
          <p:nvPr/>
        </p:nvSpPr>
        <p:spPr>
          <a:xfrm>
            <a:off x="2682150" y="3030075"/>
            <a:ext cx="3779700" cy="1468200"/>
          </a:xfrm>
          <a:prstGeom prst="rect">
            <a:avLst/>
          </a:prstGeom>
          <a:solidFill>
            <a:srgbClr val="D9EAD3"/>
          </a:solidFill>
          <a:ln cap="flat" cmpd="sng" w="19050">
            <a:solidFill>
              <a:schemeClr val="dk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l" sz="16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We discuss about </a:t>
            </a:r>
            <a:r>
              <a:rPr b="1" i="0" lang="el" sz="16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physical connections</a:t>
            </a:r>
            <a:r>
              <a:rPr b="0" i="0" lang="el" sz="16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 but not about </a:t>
            </a:r>
            <a:r>
              <a:rPr b="1" i="0" lang="el" sz="1600" u="none" cap="none" strike="noStrike">
                <a:solidFill>
                  <a:schemeClr val="accent3"/>
                </a:solidFill>
                <a:latin typeface="Lato"/>
                <a:ea typeface="Lato"/>
                <a:cs typeface="Lato"/>
                <a:sym typeface="Lato"/>
              </a:rPr>
              <a:t>physical layouts</a:t>
            </a:r>
            <a:r>
              <a:rPr b="0" i="0" lang="el" sz="16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! For instance, devices might be in different floors, rooms, buildings (?) etc. These all are part of the network layout!</a:t>
            </a:r>
            <a:endParaRPr b="0" i="0" sz="1600" u="none" cap="none" strike="noStrike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7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Network Topologies: Ring</a:t>
            </a:r>
            <a:endParaRPr/>
          </a:p>
        </p:txBody>
      </p:sp>
      <p:sp>
        <p:nvSpPr>
          <p:cNvPr id="236" name="Google Shape;236;p1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  <p:pic>
        <p:nvPicPr>
          <p:cNvPr id="237" name="Google Shape;237;p17"/>
          <p:cNvPicPr preferRelativeResize="0"/>
          <p:nvPr/>
        </p:nvPicPr>
        <p:blipFill rotWithShape="1">
          <a:blip r:embed="rId3">
            <a:alphaModFix/>
          </a:blip>
          <a:srcRect b="0" l="16091" r="20147" t="0"/>
          <a:stretch/>
        </p:blipFill>
        <p:spPr>
          <a:xfrm>
            <a:off x="729450" y="1322000"/>
            <a:ext cx="4758249" cy="3731576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17"/>
          <p:cNvSpPr txBox="1"/>
          <p:nvPr/>
        </p:nvSpPr>
        <p:spPr>
          <a:xfrm>
            <a:off x="5747400" y="1322325"/>
            <a:ext cx="2842500" cy="347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Lato"/>
              <a:buChar char="●"/>
            </a:pPr>
            <a:r>
              <a:rPr b="0" i="0" lang="el" sz="16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All devices connected circularly, as a ring.</a:t>
            </a:r>
            <a:endParaRPr b="0" i="0" sz="1600" u="none" cap="none" strike="noStrike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Lato"/>
              <a:buChar char="●"/>
            </a:pPr>
            <a:r>
              <a:rPr b="0" i="0" lang="el" sz="16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Many times, devices are all connected to some central “hub” which implements the ring connection.</a:t>
            </a:r>
            <a:endParaRPr b="0" i="0" sz="1600" u="none" cap="none" strike="noStrike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Lato"/>
              <a:buChar char="●"/>
            </a:pPr>
            <a:r>
              <a:rPr b="0" i="0" lang="el" sz="16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What if one connection is lost?</a:t>
            </a:r>
            <a:endParaRPr b="0" i="0" sz="1600" u="none" cap="none" strike="noStrike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302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Lato"/>
              <a:buChar char="○"/>
            </a:pPr>
            <a:r>
              <a:rPr b="1" i="0" lang="el" sz="16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No problem!</a:t>
            </a:r>
            <a:endParaRPr b="1" i="0" sz="1600" u="none" cap="none" strike="noStrike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Lato"/>
              <a:buChar char="●"/>
            </a:pPr>
            <a:r>
              <a:rPr b="0" i="0" lang="el" sz="16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What if two connections are lost?</a:t>
            </a:r>
            <a:endParaRPr b="0" i="0" sz="1600" u="none" cap="none" strike="noStrike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302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Lato"/>
              <a:buChar char="○"/>
            </a:pPr>
            <a:r>
              <a:rPr b="1" i="0" lang="el" sz="1600" u="none" cap="none" strike="noStrike">
                <a:solidFill>
                  <a:schemeClr val="accent3"/>
                </a:solidFill>
                <a:latin typeface="Lato"/>
                <a:ea typeface="Lato"/>
                <a:cs typeface="Lato"/>
                <a:sym typeface="Lato"/>
              </a:rPr>
              <a:t>Problem!</a:t>
            </a:r>
            <a:endParaRPr b="1" i="0" sz="1600" u="none" cap="none" strike="noStrike">
              <a:solidFill>
                <a:schemeClr val="accent3"/>
              </a:solidFill>
              <a:latin typeface="Lato"/>
              <a:ea typeface="Lato"/>
              <a:cs typeface="Lato"/>
              <a:sym typeface="La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Lato"/>
              <a:buChar char="●"/>
            </a:pPr>
            <a:r>
              <a:rPr b="0" i="0" lang="el" sz="16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Barely used.</a:t>
            </a:r>
            <a:endParaRPr b="0" i="0" sz="1600" u="none" cap="none" strike="noStrike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8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Network Topologies: Bus</a:t>
            </a:r>
            <a:endParaRPr/>
          </a:p>
        </p:txBody>
      </p:sp>
      <p:sp>
        <p:nvSpPr>
          <p:cNvPr id="244" name="Google Shape;244;p1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  <p:pic>
        <p:nvPicPr>
          <p:cNvPr id="245" name="Google Shape;245;p18"/>
          <p:cNvPicPr preferRelativeResize="0"/>
          <p:nvPr/>
        </p:nvPicPr>
        <p:blipFill rotWithShape="1">
          <a:blip r:embed="rId3">
            <a:alphaModFix/>
          </a:blip>
          <a:srcRect b="0" l="0" r="0" t="17586"/>
          <a:stretch/>
        </p:blipFill>
        <p:spPr>
          <a:xfrm>
            <a:off x="1319000" y="1520150"/>
            <a:ext cx="6509599" cy="307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9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Network Topologies: Bus</a:t>
            </a:r>
            <a:endParaRPr/>
          </a:p>
        </p:txBody>
      </p:sp>
      <p:sp>
        <p:nvSpPr>
          <p:cNvPr id="251" name="Google Shape;251;p19"/>
          <p:cNvSpPr txBox="1"/>
          <p:nvPr>
            <p:ph idx="1" type="body"/>
          </p:nvPr>
        </p:nvSpPr>
        <p:spPr>
          <a:xfrm>
            <a:off x="729450" y="1378000"/>
            <a:ext cx="7688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el"/>
              <a:t>Pros: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Cheap (both to think / design and to implement).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Useful when all things should fail at the same time (i.e., serial behaviour, e.g., automotive applications and other control systems)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</a:pPr>
            <a:r>
              <a:rPr lang="el"/>
              <a:t>Cons: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Really slow.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What if somebody intercepts? Security!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How many messages can travel at the same time?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Only one…</a:t>
            </a:r>
            <a:endParaRPr/>
          </a:p>
        </p:txBody>
      </p:sp>
      <p:sp>
        <p:nvSpPr>
          <p:cNvPr id="252" name="Google Shape;252;p1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0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Network Topologies: Wireless</a:t>
            </a:r>
            <a:endParaRPr/>
          </a:p>
        </p:txBody>
      </p:sp>
      <p:sp>
        <p:nvSpPr>
          <p:cNvPr id="258" name="Google Shape;258;p2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  <p:sp>
        <p:nvSpPr>
          <p:cNvPr id="259" name="Google Shape;259;p20"/>
          <p:cNvSpPr txBox="1"/>
          <p:nvPr>
            <p:ph idx="1" type="body"/>
          </p:nvPr>
        </p:nvSpPr>
        <p:spPr>
          <a:xfrm>
            <a:off x="729450" y="1378000"/>
            <a:ext cx="7688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el"/>
              <a:t>Pros: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Cheap (both to think / design and to implement).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Useful when all things should fail at the same time (i.e., serial behaviour, e.g., automotive applications and other control systems)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</a:pPr>
            <a:r>
              <a:rPr lang="el"/>
              <a:t>Cons: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Speed depends heavily on physical parameters (obstacles etc).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What if somebody intercepts? Security!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How many messages can travel at the same time?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Only one…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1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(Reminder) Hubs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t/>
            </a:r>
            <a:endParaRPr/>
          </a:p>
        </p:txBody>
      </p:sp>
      <p:sp>
        <p:nvSpPr>
          <p:cNvPr id="265" name="Google Shape;265;p21"/>
          <p:cNvSpPr txBox="1"/>
          <p:nvPr>
            <p:ph idx="1" type="body"/>
          </p:nvPr>
        </p:nvSpPr>
        <p:spPr>
          <a:xfrm>
            <a:off x="729450" y="1474150"/>
            <a:ext cx="7688700" cy="91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l" sz="1500"/>
              <a:t>Unique name -&gt; (Media Access Control) </a:t>
            </a:r>
            <a:r>
              <a:rPr b="1" lang="el" sz="1500"/>
              <a:t>MAC Address</a:t>
            </a:r>
            <a:r>
              <a:rPr lang="el" sz="1500"/>
              <a:t>: 12-character alphanumeric code, unique for each device in a network, e.g., 00-A1-D2-C4-55-4A.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l" sz="1500"/>
              <a:t>A simply “clever” middleware could be as follows:</a:t>
            </a:r>
            <a:endParaRPr sz="1500"/>
          </a:p>
        </p:txBody>
      </p:sp>
      <p:grpSp>
        <p:nvGrpSpPr>
          <p:cNvPr id="266" name="Google Shape;266;p21"/>
          <p:cNvGrpSpPr/>
          <p:nvPr/>
        </p:nvGrpSpPr>
        <p:grpSpPr>
          <a:xfrm>
            <a:off x="111425" y="2603188"/>
            <a:ext cx="2538925" cy="2317737"/>
            <a:chOff x="111425" y="2603188"/>
            <a:chExt cx="2538925" cy="2317737"/>
          </a:xfrm>
        </p:grpSpPr>
        <p:sp>
          <p:nvSpPr>
            <p:cNvPr id="267" name="Google Shape;267;p21"/>
            <p:cNvSpPr/>
            <p:nvPr/>
          </p:nvSpPr>
          <p:spPr>
            <a:xfrm>
              <a:off x="389525" y="3654400"/>
              <a:ext cx="172800" cy="1728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268" name="Google Shape;268;p21"/>
            <p:cNvSpPr/>
            <p:nvPr/>
          </p:nvSpPr>
          <p:spPr>
            <a:xfrm>
              <a:off x="1433538" y="2603188"/>
              <a:ext cx="172800" cy="172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269" name="Google Shape;269;p21"/>
            <p:cNvSpPr/>
            <p:nvPr/>
          </p:nvSpPr>
          <p:spPr>
            <a:xfrm>
              <a:off x="2477550" y="3654400"/>
              <a:ext cx="172800" cy="172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270" name="Google Shape;270;p21"/>
            <p:cNvSpPr/>
            <p:nvPr/>
          </p:nvSpPr>
          <p:spPr>
            <a:xfrm>
              <a:off x="1433538" y="4649875"/>
              <a:ext cx="172800" cy="172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71" name="Google Shape;271;p21"/>
            <p:cNvCxnSpPr>
              <a:stCxn id="267" idx="6"/>
              <a:endCxn id="269" idx="2"/>
            </p:cNvCxnSpPr>
            <p:nvPr/>
          </p:nvCxnSpPr>
          <p:spPr>
            <a:xfrm>
              <a:off x="562325" y="3740800"/>
              <a:ext cx="1915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2" name="Google Shape;272;p21"/>
            <p:cNvCxnSpPr>
              <a:stCxn id="268" idx="4"/>
              <a:endCxn id="270" idx="0"/>
            </p:cNvCxnSpPr>
            <p:nvPr/>
          </p:nvCxnSpPr>
          <p:spPr>
            <a:xfrm>
              <a:off x="1519938" y="2775988"/>
              <a:ext cx="0" cy="187380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73" name="Google Shape;273;p21"/>
            <p:cNvSpPr/>
            <p:nvPr/>
          </p:nvSpPr>
          <p:spPr>
            <a:xfrm>
              <a:off x="1266888" y="3518638"/>
              <a:ext cx="506088" cy="388584"/>
            </a:xfrm>
            <a:prstGeom prst="cloud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l" sz="1400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rPr>
                <a:t>C</a:t>
              </a:r>
              <a:endParaRPr b="0" i="0" sz="14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74" name="Google Shape;274;p21"/>
            <p:cNvCxnSpPr/>
            <p:nvPr/>
          </p:nvCxnSpPr>
          <p:spPr>
            <a:xfrm flipH="1" rot="10800000">
              <a:off x="686163" y="3654400"/>
              <a:ext cx="456900" cy="900"/>
            </a:xfrm>
            <a:prstGeom prst="straightConnector1">
              <a:avLst/>
            </a:prstGeom>
            <a:noFill/>
            <a:ln cap="flat" cmpd="sng" w="19050">
              <a:solidFill>
                <a:schemeClr val="accent3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cxnSp>
          <p:nvCxnSpPr>
            <p:cNvPr id="275" name="Google Shape;275;p21"/>
            <p:cNvCxnSpPr/>
            <p:nvPr/>
          </p:nvCxnSpPr>
          <p:spPr>
            <a:xfrm flipH="1" rot="10800000">
              <a:off x="1896800" y="3654400"/>
              <a:ext cx="456900" cy="900"/>
            </a:xfrm>
            <a:prstGeom prst="straightConnector1">
              <a:avLst/>
            </a:prstGeom>
            <a:noFill/>
            <a:ln cap="flat" cmpd="sng" w="19050">
              <a:solidFill>
                <a:schemeClr val="accent3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cxnSp>
          <p:nvCxnSpPr>
            <p:cNvPr id="276" name="Google Shape;276;p21"/>
            <p:cNvCxnSpPr/>
            <p:nvPr/>
          </p:nvCxnSpPr>
          <p:spPr>
            <a:xfrm flipH="1" rot="-5400000">
              <a:off x="1378350" y="4333813"/>
              <a:ext cx="456900" cy="900"/>
            </a:xfrm>
            <a:prstGeom prst="straightConnector1">
              <a:avLst/>
            </a:prstGeom>
            <a:noFill/>
            <a:ln cap="flat" cmpd="sng" w="19050">
              <a:solidFill>
                <a:schemeClr val="accent3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cxnSp>
          <p:nvCxnSpPr>
            <p:cNvPr id="277" name="Google Shape;277;p21"/>
            <p:cNvCxnSpPr/>
            <p:nvPr/>
          </p:nvCxnSpPr>
          <p:spPr>
            <a:xfrm flipH="1" rot="5400000">
              <a:off x="1378350" y="3146863"/>
              <a:ext cx="456900" cy="900"/>
            </a:xfrm>
            <a:prstGeom prst="straightConnector1">
              <a:avLst/>
            </a:prstGeom>
            <a:noFill/>
            <a:ln cap="flat" cmpd="sng" w="19050">
              <a:solidFill>
                <a:schemeClr val="accent3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278" name="Google Shape;278;p21"/>
            <p:cNvSpPr txBox="1"/>
            <p:nvPr/>
          </p:nvSpPr>
          <p:spPr>
            <a:xfrm>
              <a:off x="111425" y="3286000"/>
              <a:ext cx="7290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l" sz="1200" u="none" cap="none" strike="noStrike">
                  <a:solidFill>
                    <a:schemeClr val="accent3"/>
                  </a:solidFill>
                  <a:latin typeface="Lato"/>
                  <a:ea typeface="Lato"/>
                  <a:cs typeface="Lato"/>
                  <a:sym typeface="Lato"/>
                </a:rPr>
                <a:t>source</a:t>
              </a:r>
              <a:endParaRPr b="0" i="0" sz="1200" u="none" cap="none" strike="noStrike">
                <a:solidFill>
                  <a:schemeClr val="accent3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279" name="Google Shape;279;p21"/>
            <p:cNvSpPr txBox="1"/>
            <p:nvPr/>
          </p:nvSpPr>
          <p:spPr>
            <a:xfrm>
              <a:off x="852050" y="4551625"/>
              <a:ext cx="7290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l" sz="1200" u="none" cap="none" strike="noStrike">
                  <a:solidFill>
                    <a:schemeClr val="accent2"/>
                  </a:solidFill>
                  <a:latin typeface="Lato"/>
                  <a:ea typeface="Lato"/>
                  <a:cs typeface="Lato"/>
                  <a:sym typeface="Lato"/>
                </a:rPr>
                <a:t>target</a:t>
              </a:r>
              <a:endParaRPr b="0" i="0" sz="1200" u="none" cap="none" strike="noStrike">
                <a:solidFill>
                  <a:schemeClr val="accent2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280" name="Google Shape;280;p21"/>
          <p:cNvSpPr txBox="1"/>
          <p:nvPr/>
        </p:nvSpPr>
        <p:spPr>
          <a:xfrm>
            <a:off x="4004400" y="2585350"/>
            <a:ext cx="5160900" cy="200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●"/>
            </a:pPr>
            <a:r>
              <a:rPr b="0" i="0" lang="el" sz="15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Simply “clever” middleware -&gt; </a:t>
            </a:r>
            <a:r>
              <a:rPr b="1" i="0" lang="el" sz="15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Hub</a:t>
            </a:r>
            <a:r>
              <a:rPr b="0" i="0" lang="el" sz="15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b="0" i="0" sz="1500" u="none" cap="none" strike="noStrike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●"/>
            </a:pPr>
            <a:r>
              <a:rPr b="0" i="0" lang="el" sz="15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Information flows towards all directions (the hub is oblivious to which is the target port / device).</a:t>
            </a:r>
            <a:endParaRPr b="0" i="0" sz="1500" u="none" cap="none" strike="noStrike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●"/>
            </a:pPr>
            <a:r>
              <a:rPr b="0" i="0" lang="el" sz="15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Can you see the problem here?</a:t>
            </a:r>
            <a:endParaRPr b="0" i="0" sz="1500" u="none" cap="none" strike="noStrike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●"/>
            </a:pPr>
            <a:r>
              <a:rPr b="0" i="0" lang="el" sz="15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Too many </a:t>
            </a:r>
            <a:r>
              <a:rPr b="1" i="0" lang="el" sz="15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collisions</a:t>
            </a:r>
            <a:r>
              <a:rPr b="0" i="0" lang="el" sz="15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 (we shall cover this extensively throughout the course).</a:t>
            </a:r>
            <a:endParaRPr b="0" i="0" sz="1500" u="none" cap="none" strike="noStrike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●"/>
            </a:pPr>
            <a:r>
              <a:rPr b="0" i="0" lang="el" sz="15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Hubs are not used anymore (really problematic).</a:t>
            </a:r>
            <a:endParaRPr b="0" i="0" sz="1500" u="none" cap="none" strike="noStrike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81" name="Google Shape;281;p2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2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(Reminder) Layer 2 Switches</a:t>
            </a:r>
            <a:endParaRPr/>
          </a:p>
        </p:txBody>
      </p:sp>
      <p:sp>
        <p:nvSpPr>
          <p:cNvPr id="287" name="Google Shape;287;p22"/>
          <p:cNvSpPr txBox="1"/>
          <p:nvPr>
            <p:ph idx="1" type="body"/>
          </p:nvPr>
        </p:nvSpPr>
        <p:spPr>
          <a:xfrm>
            <a:off x="729450" y="1474150"/>
            <a:ext cx="7688700" cy="101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l" sz="1500"/>
              <a:t>But, why not take advantage of local connectivity?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l" sz="1500"/>
              <a:t>A “really clever” middleware could take advantage of the local </a:t>
            </a:r>
            <a:r>
              <a:rPr b="1" lang="el" sz="1500"/>
              <a:t>physical connections</a:t>
            </a:r>
            <a:r>
              <a:rPr lang="el" sz="1500"/>
              <a:t> to direct information properly:</a:t>
            </a:r>
            <a:endParaRPr sz="1500"/>
          </a:p>
        </p:txBody>
      </p:sp>
      <p:grpSp>
        <p:nvGrpSpPr>
          <p:cNvPr id="288" name="Google Shape;288;p22"/>
          <p:cNvGrpSpPr/>
          <p:nvPr/>
        </p:nvGrpSpPr>
        <p:grpSpPr>
          <a:xfrm>
            <a:off x="111425" y="2486025"/>
            <a:ext cx="3984425" cy="2434900"/>
            <a:chOff x="111425" y="2486025"/>
            <a:chExt cx="3984425" cy="2434900"/>
          </a:xfrm>
        </p:grpSpPr>
        <p:sp>
          <p:nvSpPr>
            <p:cNvPr id="289" name="Google Shape;289;p22"/>
            <p:cNvSpPr/>
            <p:nvPr/>
          </p:nvSpPr>
          <p:spPr>
            <a:xfrm>
              <a:off x="389525" y="3654400"/>
              <a:ext cx="172800" cy="1728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290" name="Google Shape;290;p22"/>
            <p:cNvSpPr/>
            <p:nvPr/>
          </p:nvSpPr>
          <p:spPr>
            <a:xfrm>
              <a:off x="1433538" y="2603188"/>
              <a:ext cx="172800" cy="172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291" name="Google Shape;291;p22"/>
            <p:cNvSpPr/>
            <p:nvPr/>
          </p:nvSpPr>
          <p:spPr>
            <a:xfrm>
              <a:off x="2477550" y="3654400"/>
              <a:ext cx="172800" cy="1728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292" name="Google Shape;292;p22"/>
            <p:cNvSpPr/>
            <p:nvPr/>
          </p:nvSpPr>
          <p:spPr>
            <a:xfrm>
              <a:off x="1433538" y="4649875"/>
              <a:ext cx="172800" cy="172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93" name="Google Shape;293;p22"/>
            <p:cNvCxnSpPr>
              <a:stCxn id="289" idx="6"/>
              <a:endCxn id="291" idx="2"/>
            </p:cNvCxnSpPr>
            <p:nvPr/>
          </p:nvCxnSpPr>
          <p:spPr>
            <a:xfrm>
              <a:off x="562325" y="3740800"/>
              <a:ext cx="1915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94" name="Google Shape;294;p22"/>
            <p:cNvCxnSpPr>
              <a:stCxn id="290" idx="4"/>
              <a:endCxn id="292" idx="0"/>
            </p:cNvCxnSpPr>
            <p:nvPr/>
          </p:nvCxnSpPr>
          <p:spPr>
            <a:xfrm>
              <a:off x="1519938" y="2775988"/>
              <a:ext cx="0" cy="187380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95" name="Google Shape;295;p22"/>
            <p:cNvSpPr/>
            <p:nvPr/>
          </p:nvSpPr>
          <p:spPr>
            <a:xfrm>
              <a:off x="1266888" y="3518638"/>
              <a:ext cx="506088" cy="388584"/>
            </a:xfrm>
            <a:prstGeom prst="cloud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l" sz="1400" u="none" cap="none" strike="noStrike">
                  <a:solidFill>
                    <a:srgbClr val="000000"/>
                  </a:solidFill>
                  <a:latin typeface="Lato"/>
                  <a:ea typeface="Lato"/>
                  <a:cs typeface="Lato"/>
                  <a:sym typeface="Lato"/>
                </a:rPr>
                <a:t>C</a:t>
              </a:r>
              <a:endParaRPr b="0" i="0" sz="1400" u="none" cap="none" strike="noStrike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96" name="Google Shape;296;p22"/>
            <p:cNvCxnSpPr/>
            <p:nvPr/>
          </p:nvCxnSpPr>
          <p:spPr>
            <a:xfrm flipH="1" rot="10800000">
              <a:off x="686163" y="3654400"/>
              <a:ext cx="456900" cy="900"/>
            </a:xfrm>
            <a:prstGeom prst="straightConnector1">
              <a:avLst/>
            </a:prstGeom>
            <a:noFill/>
            <a:ln cap="flat" cmpd="sng" w="19050">
              <a:solidFill>
                <a:schemeClr val="accent3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cxnSp>
          <p:nvCxnSpPr>
            <p:cNvPr id="297" name="Google Shape;297;p22"/>
            <p:cNvCxnSpPr/>
            <p:nvPr/>
          </p:nvCxnSpPr>
          <p:spPr>
            <a:xfrm flipH="1" rot="-5400000">
              <a:off x="1378350" y="4333813"/>
              <a:ext cx="456900" cy="900"/>
            </a:xfrm>
            <a:prstGeom prst="straightConnector1">
              <a:avLst/>
            </a:prstGeom>
            <a:noFill/>
            <a:ln cap="flat" cmpd="sng" w="19050">
              <a:solidFill>
                <a:schemeClr val="accent3"/>
              </a:solidFill>
              <a:prstDash val="solid"/>
              <a:round/>
              <a:headEnd len="sm" w="sm" type="none"/>
              <a:tailEnd len="med" w="med" type="triangle"/>
            </a:ln>
          </p:spPr>
        </p:cxnSp>
        <p:sp>
          <p:nvSpPr>
            <p:cNvPr id="298" name="Google Shape;298;p22"/>
            <p:cNvSpPr txBox="1"/>
            <p:nvPr/>
          </p:nvSpPr>
          <p:spPr>
            <a:xfrm>
              <a:off x="111425" y="3286000"/>
              <a:ext cx="7290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l" sz="1200" u="none" cap="none" strike="noStrike">
                  <a:solidFill>
                    <a:schemeClr val="accent3"/>
                  </a:solidFill>
                  <a:latin typeface="Lato"/>
                  <a:ea typeface="Lato"/>
                  <a:cs typeface="Lato"/>
                  <a:sym typeface="Lato"/>
                </a:rPr>
                <a:t>source</a:t>
              </a:r>
              <a:endParaRPr b="0" i="0" sz="1200" u="none" cap="none" strike="noStrike">
                <a:solidFill>
                  <a:schemeClr val="accent3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299" name="Google Shape;299;p22"/>
            <p:cNvSpPr txBox="1"/>
            <p:nvPr/>
          </p:nvSpPr>
          <p:spPr>
            <a:xfrm>
              <a:off x="852050" y="4551625"/>
              <a:ext cx="7290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l" sz="1200" u="none" cap="none" strike="noStrike">
                  <a:solidFill>
                    <a:schemeClr val="accent2"/>
                  </a:solidFill>
                  <a:latin typeface="Lato"/>
                  <a:ea typeface="Lato"/>
                  <a:cs typeface="Lato"/>
                  <a:sym typeface="Lato"/>
                </a:rPr>
                <a:t>target</a:t>
              </a:r>
              <a:endParaRPr b="0" i="0" sz="1200" u="none" cap="none" strike="noStrike">
                <a:solidFill>
                  <a:schemeClr val="accent2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300" name="Google Shape;300;p22"/>
            <p:cNvSpPr/>
            <p:nvPr/>
          </p:nvSpPr>
          <p:spPr>
            <a:xfrm>
              <a:off x="1944850" y="2486025"/>
              <a:ext cx="2151000" cy="1082700"/>
            </a:xfrm>
            <a:prstGeom prst="wedgeEllipseCallout">
              <a:avLst>
                <a:gd fmla="val -55395" name="adj1"/>
                <a:gd fmla="val 49411" name="adj2"/>
              </a:avLst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0" i="0" lang="el" sz="950" u="none" cap="none" strike="noStrike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00-BC-11-22-A4-17:↑</a:t>
              </a:r>
              <a:br>
                <a:rPr b="0" i="0" lang="el" sz="950" u="none" cap="none" strike="noStrike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b="0" i="0" lang="el" sz="950" u="none" cap="none" strike="noStrike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00-AA-BC-1F-DE-33:←</a:t>
              </a:r>
              <a:br>
                <a:rPr b="0" i="0" lang="el" sz="950" u="none" cap="none" strike="noStrike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b="0" i="0" lang="el" sz="950" u="none" cap="none" strike="noStrike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00-DD-DD-C6-64-4B:→</a:t>
              </a:r>
              <a:br>
                <a:rPr b="0" i="0" lang="el" sz="950" u="none" cap="none" strike="noStrike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</a:br>
              <a:r>
                <a:rPr b="0" i="0" lang="el" sz="950" u="none" cap="none" strike="noStrike">
                  <a:solidFill>
                    <a:srgbClr val="000000"/>
                  </a:solidFill>
                  <a:latin typeface="Consolas"/>
                  <a:ea typeface="Consolas"/>
                  <a:cs typeface="Consolas"/>
                  <a:sym typeface="Consolas"/>
                </a:rPr>
                <a:t>00-32-21-98-BB-CA:↓</a:t>
              </a:r>
              <a:endParaRPr b="0" i="0" sz="95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  <p:sp>
        <p:nvSpPr>
          <p:cNvPr id="301" name="Google Shape;301;p22"/>
          <p:cNvSpPr txBox="1"/>
          <p:nvPr/>
        </p:nvSpPr>
        <p:spPr>
          <a:xfrm>
            <a:off x="4505325" y="2609850"/>
            <a:ext cx="46578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●"/>
            </a:pPr>
            <a:r>
              <a:rPr b="0" i="0" lang="el" sz="15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“Really clever” middleware -&gt; </a:t>
            </a:r>
            <a:r>
              <a:rPr b="1" i="0" lang="el" sz="15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Layer 2 switch</a:t>
            </a:r>
            <a:r>
              <a:rPr b="0" i="0" lang="el" sz="15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b="0" i="0" sz="1500" u="none" cap="none" strike="noStrike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●"/>
            </a:pPr>
            <a:r>
              <a:rPr b="0" i="0" lang="el" sz="15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Keep track of which devices (i.e., MAC addresses) are connected to which ports of C.</a:t>
            </a:r>
            <a:endParaRPr b="0" i="0" sz="1500" u="none" cap="none" strike="noStrike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Lato"/>
              <a:buChar char="●"/>
            </a:pPr>
            <a:r>
              <a:rPr b="0" i="0" lang="el" sz="15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Essentially, memory is what makes a Layer 2 switch “really clever”.</a:t>
            </a:r>
            <a:endParaRPr b="0" i="0" sz="1500" u="none" cap="none" strike="noStrike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02" name="Google Shape;302;p2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3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Collision Domain</a:t>
            </a:r>
            <a:endParaRPr/>
          </a:p>
        </p:txBody>
      </p:sp>
      <p:sp>
        <p:nvSpPr>
          <p:cNvPr id="308" name="Google Shape;308;p23"/>
          <p:cNvSpPr txBox="1"/>
          <p:nvPr>
            <p:ph idx="1" type="body"/>
          </p:nvPr>
        </p:nvSpPr>
        <p:spPr>
          <a:xfrm>
            <a:off x="729450" y="1378000"/>
            <a:ext cx="7688700" cy="35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Collision Domain:</a:t>
            </a:r>
            <a:r>
              <a:rPr lang="el"/>
              <a:t> The LAN part (segment) where devices must compete to communicate.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One message at a time in this segment, from one source to one target device.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Collision:</a:t>
            </a:r>
            <a:r>
              <a:rPr lang="el"/>
              <a:t> When two messages encounter each other on the same “wire”.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How many collision domains are there in a Hub?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One.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How many collision domains are there in a Wireless network?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One.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How many collision domains are there in a Layer 2 Switch?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As many as the ports!</a:t>
            </a:r>
            <a:endParaRPr/>
          </a:p>
        </p:txBody>
      </p:sp>
      <p:sp>
        <p:nvSpPr>
          <p:cNvPr id="309" name="Google Shape;309;p2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4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Do we need Broadcasting?</a:t>
            </a:r>
            <a:endParaRPr/>
          </a:p>
        </p:txBody>
      </p:sp>
      <p:sp>
        <p:nvSpPr>
          <p:cNvPr id="315" name="Google Shape;315;p24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Why broadcast a message since it causes so much trouble?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Some messages are intended for all devices.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“Help!”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To inform that a new device has been installed.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…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Broadcast Domain:</a:t>
            </a:r>
            <a:r>
              <a:rPr lang="el"/>
              <a:t> The part of the network where a message can be “heard”.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How many broadcast domains on a: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Switch? One.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Router? It depends (remember, they are not just really clever, but amazingly clever). </a:t>
            </a:r>
            <a:r>
              <a:rPr b="1" lang="el">
                <a:solidFill>
                  <a:schemeClr val="accent3"/>
                </a:solidFill>
              </a:rPr>
              <a:t>Routers, in general, break broadcast domains!</a:t>
            </a:r>
            <a:endParaRPr b="1">
              <a:solidFill>
                <a:schemeClr val="accent3"/>
              </a:solidFill>
            </a:endParaRPr>
          </a:p>
        </p:txBody>
      </p:sp>
      <p:sp>
        <p:nvSpPr>
          <p:cNvPr id="316" name="Google Shape;316;p2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5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Why use Switches?</a:t>
            </a:r>
            <a:endParaRPr/>
          </a:p>
        </p:txBody>
      </p:sp>
      <p:sp>
        <p:nvSpPr>
          <p:cNvPr id="322" name="Google Shape;322;p25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They reduce network congestion by: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splitting the LAN into collision domains;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allowing bilateral communication between any two devices.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They offer many ports at low cost.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They have high speed ports.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They can temporarily remember large frames ( = packets + MAC) so as to help avoiding collisions (really clever, right?).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Switching is performed at the hardware level - so, it is faster than programmable solutions.</a:t>
            </a:r>
            <a:endParaRPr/>
          </a:p>
        </p:txBody>
      </p:sp>
      <p:sp>
        <p:nvSpPr>
          <p:cNvPr id="323" name="Google Shape;323;p2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26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Pick your Weapon (aka Device)</a:t>
            </a:r>
            <a:endParaRPr/>
          </a:p>
        </p:txBody>
      </p:sp>
      <p:sp>
        <p:nvSpPr>
          <p:cNvPr id="329" name="Google Shape;329;p26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el"/>
              <a:t>What would you consider when looking for network devices?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Cost?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Connectivity? (e.g., number of ports)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Network speed? (hopefully better than your current equipment)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The future? (Is it expandable? Easy to maintain?)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Comprehension? (Can you understand how to use it? Can your colleagues?)</a:t>
            </a:r>
            <a:endParaRPr/>
          </a:p>
        </p:txBody>
      </p:sp>
      <p:sp>
        <p:nvSpPr>
          <p:cNvPr id="330" name="Google Shape;330;p2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7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Simple yet Dangerous 1 / n</a:t>
            </a:r>
            <a:endParaRPr/>
          </a:p>
        </p:txBody>
      </p:sp>
      <p:sp>
        <p:nvSpPr>
          <p:cNvPr id="336" name="Google Shape;336;p27"/>
          <p:cNvSpPr txBox="1"/>
          <p:nvPr>
            <p:ph idx="1" type="body"/>
          </p:nvPr>
        </p:nvSpPr>
        <p:spPr>
          <a:xfrm>
            <a:off x="4572000" y="1378000"/>
            <a:ext cx="38460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This is a </a:t>
            </a:r>
            <a:r>
              <a:rPr b="1" lang="el">
                <a:solidFill>
                  <a:schemeClr val="accent3"/>
                </a:solidFill>
              </a:rPr>
              <a:t>destroyed server</a:t>
            </a:r>
            <a:r>
              <a:rPr lang="el"/>
              <a:t>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Yes, this is a physically damaged computer.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It once worked “like a charm”, but now gone are the days of its youth.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Potential physical damage is probably the no. 1 consideration that goes unnoticed when picking network equipment, but it shouldn’t…</a:t>
            </a:r>
            <a:endParaRPr/>
          </a:p>
        </p:txBody>
      </p:sp>
      <p:sp>
        <p:nvSpPr>
          <p:cNvPr id="337" name="Google Shape;337;p2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  <p:pic>
        <p:nvPicPr>
          <p:cNvPr id="338" name="Google Shape;338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52225" y="1304975"/>
            <a:ext cx="2795187" cy="373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28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Simple yet Dangerous 2 / n</a:t>
            </a:r>
            <a:endParaRPr/>
          </a:p>
        </p:txBody>
      </p:sp>
      <p:sp>
        <p:nvSpPr>
          <p:cNvPr id="344" name="Google Shape;344;p28"/>
          <p:cNvSpPr txBox="1"/>
          <p:nvPr>
            <p:ph idx="1" type="body"/>
          </p:nvPr>
        </p:nvSpPr>
        <p:spPr>
          <a:xfrm>
            <a:off x="4572000" y="1378000"/>
            <a:ext cx="38460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Yes, electrical devices </a:t>
            </a:r>
            <a:r>
              <a:rPr b="1" lang="el">
                <a:solidFill>
                  <a:schemeClr val="accent3"/>
                </a:solidFill>
              </a:rPr>
              <a:t>do melt</a:t>
            </a:r>
            <a:r>
              <a:rPr lang="el"/>
              <a:t>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This is a router that has not had a good time in the past.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Extreme temperature can severely hurt electrical devices.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So, take that into account the next time you put your router close to a working heat-pump.</a:t>
            </a:r>
            <a:endParaRPr/>
          </a:p>
        </p:txBody>
      </p:sp>
      <p:sp>
        <p:nvSpPr>
          <p:cNvPr id="345" name="Google Shape;345;p2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  <p:pic>
        <p:nvPicPr>
          <p:cNvPr id="346" name="Google Shape;346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4800" y="1378000"/>
            <a:ext cx="4267200" cy="3200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29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Simple yet Dangerous 3 / n</a:t>
            </a:r>
            <a:endParaRPr/>
          </a:p>
        </p:txBody>
      </p:sp>
      <p:sp>
        <p:nvSpPr>
          <p:cNvPr id="352" name="Google Shape;352;p29"/>
          <p:cNvSpPr txBox="1"/>
          <p:nvPr>
            <p:ph idx="1" type="body"/>
          </p:nvPr>
        </p:nvSpPr>
        <p:spPr>
          <a:xfrm>
            <a:off x="4572000" y="1378000"/>
            <a:ext cx="38463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Do you know what this is?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Oops?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No, </a:t>
            </a:r>
            <a:r>
              <a:rPr b="1" lang="el">
                <a:solidFill>
                  <a:schemeClr val="accent3"/>
                </a:solidFill>
              </a:rPr>
              <a:t>UPS: Uninterruptible Power Supply</a:t>
            </a:r>
            <a:r>
              <a:rPr lang="el"/>
              <a:t>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This one can save your machines in case of frequent voltage spikes or electrical noise.</a:t>
            </a:r>
            <a:endParaRPr/>
          </a:p>
        </p:txBody>
      </p:sp>
      <p:sp>
        <p:nvSpPr>
          <p:cNvPr id="353" name="Google Shape;353;p2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  <p:pic>
        <p:nvPicPr>
          <p:cNvPr id="354" name="Google Shape;35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2375" y="1502050"/>
            <a:ext cx="4267203" cy="28378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30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Simple yet Dangerous 4 / n</a:t>
            </a:r>
            <a:endParaRPr/>
          </a:p>
        </p:txBody>
      </p:sp>
      <p:sp>
        <p:nvSpPr>
          <p:cNvPr id="360" name="Google Shape;360;p30"/>
          <p:cNvSpPr txBox="1"/>
          <p:nvPr>
            <p:ph idx="1" type="body"/>
          </p:nvPr>
        </p:nvSpPr>
        <p:spPr>
          <a:xfrm>
            <a:off x="4572000" y="1378000"/>
            <a:ext cx="38463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Poor Homo Sapiens Sapiens trying to figure out how they ended up there…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>
                <a:solidFill>
                  <a:schemeClr val="accent3"/>
                </a:solidFill>
              </a:rPr>
              <a:t>Maintenance</a:t>
            </a:r>
            <a:r>
              <a:rPr lang="el"/>
              <a:t> means that you have taken care of proper cabling, labelling, having available spare parts for your network, handling connections properly etc.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Do take those into account!</a:t>
            </a:r>
            <a:endParaRPr b="1"/>
          </a:p>
        </p:txBody>
      </p:sp>
      <p:sp>
        <p:nvSpPr>
          <p:cNvPr id="361" name="Google Shape;361;p3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  <p:pic>
        <p:nvPicPr>
          <p:cNvPr id="362" name="Google Shape;362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1400" y="1482400"/>
            <a:ext cx="3810000" cy="28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31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Reliability</a:t>
            </a:r>
            <a:endParaRPr/>
          </a:p>
        </p:txBody>
      </p:sp>
      <p:sp>
        <p:nvSpPr>
          <p:cNvPr id="368" name="Google Shape;368;p31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Single Points of Failure:</a:t>
            </a:r>
            <a:r>
              <a:rPr lang="el"/>
              <a:t> Parts of the network that if a failure occurs you have no back-up plan.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Good or Bad?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In general, </a:t>
            </a:r>
            <a:r>
              <a:rPr b="1" lang="el">
                <a:solidFill>
                  <a:schemeClr val="accent3"/>
                </a:solidFill>
              </a:rPr>
              <a:t>bad</a:t>
            </a:r>
            <a:r>
              <a:rPr lang="el"/>
              <a:t> (e.g., auth access, server access, internet access etc)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Some times </a:t>
            </a:r>
            <a:r>
              <a:rPr lang="el">
                <a:solidFill>
                  <a:schemeClr val="dk1"/>
                </a:solidFill>
              </a:rPr>
              <a:t>tolerable</a:t>
            </a:r>
            <a:r>
              <a:rPr lang="el"/>
              <a:t>, though (e.g., user access).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Solution?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>
                <a:solidFill>
                  <a:schemeClr val="dk1"/>
                </a:solidFill>
              </a:rPr>
              <a:t>Redundancy!</a:t>
            </a:r>
            <a:r>
              <a:rPr lang="el"/>
              <a:t> Duplicate (or even more) some links / parts of the network.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Essentially, back-up plans, e.g., parts of the network that are not used but for cases when the actively used (“main”) ones fail.</a:t>
            </a:r>
            <a:endParaRPr/>
          </a:p>
        </p:txBody>
      </p:sp>
      <p:sp>
        <p:nvSpPr>
          <p:cNvPr id="369" name="Google Shape;369;p3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32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Firewalls == Walls of Fire?</a:t>
            </a:r>
            <a:endParaRPr/>
          </a:p>
        </p:txBody>
      </p:sp>
      <p:sp>
        <p:nvSpPr>
          <p:cNvPr id="375" name="Google Shape;375;p32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Firewalls act like “filters” between two or more networks, filtering: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packets, e.g., Stateful Packet Inspection (SPI): incoming packets must correspond to some request,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applications, e.g., your typical OS Firewall,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URL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Use cases?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Separating you from the Internet.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Separating you from your neighbouring LAN.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Separating you from yourself (i.e., the internal network of your own machine).</a:t>
            </a:r>
            <a:endParaRPr/>
          </a:p>
        </p:txBody>
      </p:sp>
      <p:sp>
        <p:nvSpPr>
          <p:cNvPr id="376" name="Google Shape;376;p3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33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(Reminder) Networks of different sizes</a:t>
            </a:r>
            <a:endParaRPr/>
          </a:p>
        </p:txBody>
      </p:sp>
      <p:sp>
        <p:nvSpPr>
          <p:cNvPr id="382" name="Google Shape;382;p33"/>
          <p:cNvSpPr txBox="1"/>
          <p:nvPr>
            <p:ph idx="1" type="body"/>
          </p:nvPr>
        </p:nvSpPr>
        <p:spPr>
          <a:xfrm>
            <a:off x="729450" y="1378000"/>
            <a:ext cx="7688700" cy="21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 sz="1600"/>
              <a:t>PAN:</a:t>
            </a:r>
            <a:r>
              <a:rPr lang="el" sz="1600"/>
              <a:t> Personal Area Network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 sz="1600"/>
              <a:t>LAN:</a:t>
            </a:r>
            <a:r>
              <a:rPr lang="el" sz="1600"/>
              <a:t> Local Area Network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 sz="1600"/>
              <a:t>WLAN:</a:t>
            </a:r>
            <a:r>
              <a:rPr lang="el" sz="1600"/>
              <a:t> Wireless LAN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 sz="1600"/>
              <a:t>SAN:</a:t>
            </a:r>
            <a:r>
              <a:rPr lang="el" sz="1600"/>
              <a:t> Storage Area Network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 sz="1600"/>
              <a:t>MAN:</a:t>
            </a:r>
            <a:r>
              <a:rPr lang="el" sz="1600"/>
              <a:t> Metropolitan Area Network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 sz="1600"/>
              <a:t>WAN:</a:t>
            </a:r>
            <a:r>
              <a:rPr lang="el" sz="1600"/>
              <a:t> Wide Area Network</a:t>
            </a:r>
            <a:endParaRPr sz="1600"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 sz="1600"/>
              <a:t>Wireless variants of the above…</a:t>
            </a:r>
            <a:endParaRPr sz="1600"/>
          </a:p>
        </p:txBody>
      </p:sp>
      <p:sp>
        <p:nvSpPr>
          <p:cNvPr id="383" name="Google Shape;383;p3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  <p:sp>
        <p:nvSpPr>
          <p:cNvPr id="384" name="Google Shape;384;p33"/>
          <p:cNvSpPr txBox="1"/>
          <p:nvPr/>
        </p:nvSpPr>
        <p:spPr>
          <a:xfrm>
            <a:off x="2531400" y="3653975"/>
            <a:ext cx="4081200" cy="972600"/>
          </a:xfrm>
          <a:prstGeom prst="rect">
            <a:avLst/>
          </a:prstGeom>
          <a:solidFill>
            <a:srgbClr val="D9EAD3"/>
          </a:solidFill>
          <a:ln cap="flat" cmpd="sng" w="19050">
            <a:solidFill>
              <a:schemeClr val="dk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Lato"/>
              <a:buChar char="●"/>
            </a:pPr>
            <a:r>
              <a:rPr b="1" i="0" lang="el" sz="16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Small networks:</a:t>
            </a:r>
            <a:r>
              <a:rPr b="0" i="0" lang="el" sz="16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 1 - 200 users.</a:t>
            </a:r>
            <a:endParaRPr b="0" i="0" sz="1600" u="none" cap="none" strike="noStrike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Lato"/>
              <a:buChar char="●"/>
            </a:pPr>
            <a:r>
              <a:rPr b="1" i="0" lang="el" sz="16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Medium networks:</a:t>
            </a:r>
            <a:r>
              <a:rPr b="0" i="0" lang="el" sz="16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 200 - 1000 users.</a:t>
            </a:r>
            <a:endParaRPr b="0" i="0" sz="1600" u="none" cap="none" strike="noStrike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Lato"/>
              <a:buChar char="●"/>
            </a:pPr>
            <a:r>
              <a:rPr b="1" i="0" lang="el" sz="16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Large networks:</a:t>
            </a:r>
            <a:r>
              <a:rPr b="0" i="0" lang="el" sz="16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 1000+ users.</a:t>
            </a:r>
            <a:endParaRPr b="0" i="0" sz="1600" u="none" cap="none" strike="noStrike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34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A Network Grows (in Brooklyn?)</a:t>
            </a:r>
            <a:endParaRPr/>
          </a:p>
        </p:txBody>
      </p:sp>
      <p:sp>
        <p:nvSpPr>
          <p:cNvPr id="390" name="Google Shape;390;p34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Documentation: how it is built, logically and physically.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Device inventory: what devices are being / have been used.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Budget.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Traffic analysis: what protocols and services are used, what are their traffic requirements etc.</a:t>
            </a:r>
            <a:endParaRPr/>
          </a:p>
        </p:txBody>
      </p:sp>
      <p:sp>
        <p:nvSpPr>
          <p:cNvPr id="391" name="Google Shape;391;p3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35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Which devices are part of IP design?</a:t>
            </a:r>
            <a:endParaRPr/>
          </a:p>
        </p:txBody>
      </p:sp>
      <p:sp>
        <p:nvSpPr>
          <p:cNvPr id="397" name="Google Shape;397;p35"/>
          <p:cNvSpPr txBox="1"/>
          <p:nvPr>
            <p:ph idx="1" type="body"/>
          </p:nvPr>
        </p:nvSpPr>
        <p:spPr>
          <a:xfrm>
            <a:off x="729450" y="1378000"/>
            <a:ext cx="7688700" cy="163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End user devices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Servers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Hosts but not all: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Just those accessible from the Internet.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Intermediate devices.</a:t>
            </a:r>
            <a:endParaRPr/>
          </a:p>
        </p:txBody>
      </p:sp>
      <p:sp>
        <p:nvSpPr>
          <p:cNvPr id="398" name="Google Shape;398;p3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  <p:sp>
        <p:nvSpPr>
          <p:cNvPr id="399" name="Google Shape;399;p35"/>
          <p:cNvSpPr txBox="1"/>
          <p:nvPr/>
        </p:nvSpPr>
        <p:spPr>
          <a:xfrm>
            <a:off x="2524050" y="3208450"/>
            <a:ext cx="4099500" cy="1200000"/>
          </a:xfrm>
          <a:prstGeom prst="rect">
            <a:avLst/>
          </a:prstGeom>
          <a:solidFill>
            <a:srgbClr val="FCE5CD"/>
          </a:solidFill>
          <a:ln cap="flat" cmpd="sng" w="19050">
            <a:solidFill>
              <a:schemeClr val="accent3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l" sz="16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The </a:t>
            </a:r>
            <a:r>
              <a:rPr b="1" i="0" lang="el" sz="1600" u="none" cap="none" strike="noStrike">
                <a:solidFill>
                  <a:schemeClr val="accent3"/>
                </a:solidFill>
                <a:latin typeface="Lato"/>
                <a:ea typeface="Lato"/>
                <a:cs typeface="Lato"/>
                <a:sym typeface="Lato"/>
              </a:rPr>
              <a:t>IP Addressing scheme should be planned</a:t>
            </a:r>
            <a:r>
              <a:rPr b="0" i="0" lang="el" sz="16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 so as to help the network admin:</a:t>
            </a:r>
            <a:endParaRPr b="0" i="0" sz="1600" u="none" cap="none" strike="noStrike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Lato"/>
              <a:buChar char="●"/>
            </a:pPr>
            <a:r>
              <a:rPr b="0" i="0" lang="el" sz="16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Troubleshoot.</a:t>
            </a:r>
            <a:endParaRPr b="0" i="0" sz="1600" u="none" cap="none" strike="noStrike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Lato"/>
              <a:buChar char="●"/>
            </a:pPr>
            <a:r>
              <a:rPr b="0" i="0" lang="el" sz="16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Control network access.</a:t>
            </a:r>
            <a:endParaRPr b="0" i="0" sz="1600" u="none" cap="none" strike="noStrike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6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Hierarchical Network Design</a:t>
            </a:r>
            <a:endParaRPr/>
          </a:p>
        </p:txBody>
      </p:sp>
      <p:sp>
        <p:nvSpPr>
          <p:cNvPr id="405" name="Google Shape;405;p36"/>
          <p:cNvSpPr txBox="1"/>
          <p:nvPr>
            <p:ph idx="1" type="body"/>
          </p:nvPr>
        </p:nvSpPr>
        <p:spPr>
          <a:xfrm>
            <a:off x="4572000" y="1378000"/>
            <a:ext cx="38463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Access layer:</a:t>
            </a:r>
            <a:r>
              <a:rPr lang="el"/>
              <a:t> User-level access to the network.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Distribution layer:</a:t>
            </a:r>
            <a:r>
              <a:rPr lang="el"/>
              <a:t> Policy-based access.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Core layer:</a:t>
            </a:r>
            <a:r>
              <a:rPr lang="el"/>
              <a:t> Lower-level access → fast communication between switches.</a:t>
            </a:r>
            <a:endParaRPr/>
          </a:p>
        </p:txBody>
      </p:sp>
      <p:sp>
        <p:nvSpPr>
          <p:cNvPr id="406" name="Google Shape;406;p3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  <p:pic>
        <p:nvPicPr>
          <p:cNvPr id="407" name="Google Shape;40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9450" y="1378000"/>
            <a:ext cx="3642575" cy="3642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37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Access Layer</a:t>
            </a:r>
            <a:endParaRPr/>
          </a:p>
        </p:txBody>
      </p:sp>
      <p:sp>
        <p:nvSpPr>
          <p:cNvPr id="413" name="Google Shape;413;p37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Layer 2 switches.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Requirements: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High availability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Port security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How is (electric) power transmitted?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Power over Ethernet (PoE):</a:t>
            </a:r>
            <a:r>
              <a:rPr lang="el"/>
              <a:t> Power “travels” through Ethernet twisted-pair cables alongside data.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Quality of Service (QoS):</a:t>
            </a:r>
            <a:r>
              <a:rPr lang="el"/>
              <a:t> What is this?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The quality of service offered to you by the network, e.g., measured when you run a network speed test.</a:t>
            </a:r>
            <a:endParaRPr/>
          </a:p>
        </p:txBody>
      </p:sp>
      <p:sp>
        <p:nvSpPr>
          <p:cNvPr id="414" name="Google Shape;414;p3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38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Distribution Layer</a:t>
            </a:r>
            <a:endParaRPr/>
          </a:p>
        </p:txBody>
      </p:sp>
      <p:sp>
        <p:nvSpPr>
          <p:cNvPr id="420" name="Google Shape;420;p38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Multiple LAN / WAN links - scaling by using more “stuff”.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Redundancy.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Routing.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In general, Layer 3 (network) services.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What about security?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Packet filtering.</a:t>
            </a:r>
            <a:endParaRPr/>
          </a:p>
        </p:txBody>
      </p:sp>
      <p:sp>
        <p:nvSpPr>
          <p:cNvPr id="421" name="Google Shape;421;p3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39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Core Layer</a:t>
            </a:r>
            <a:endParaRPr/>
          </a:p>
        </p:txBody>
      </p:sp>
      <p:sp>
        <p:nvSpPr>
          <p:cNvPr id="427" name="Google Shape;427;p39"/>
          <p:cNvSpPr txBox="1"/>
          <p:nvPr>
            <p:ph idx="1" type="body"/>
          </p:nvPr>
        </p:nvSpPr>
        <p:spPr>
          <a:xfrm>
            <a:off x="729450" y="1378000"/>
            <a:ext cx="7688700" cy="183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High-speed switching: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Implemented at the physical / hardware level.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Reliability and fault tolerance.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Scaling </a:t>
            </a:r>
            <a:r>
              <a:rPr b="1" lang="el">
                <a:solidFill>
                  <a:schemeClr val="accent3"/>
                </a:solidFill>
              </a:rPr>
              <a:t>not</a:t>
            </a:r>
            <a:r>
              <a:rPr lang="el"/>
              <a:t> by using </a:t>
            </a:r>
            <a:r>
              <a:rPr b="1" lang="el">
                <a:solidFill>
                  <a:schemeClr val="accent3"/>
                </a:solidFill>
              </a:rPr>
              <a:t>more</a:t>
            </a:r>
            <a:r>
              <a:rPr lang="el"/>
              <a:t> but </a:t>
            </a:r>
            <a:r>
              <a:rPr b="1" lang="el">
                <a:solidFill>
                  <a:schemeClr val="dk1"/>
                </a:solidFill>
              </a:rPr>
              <a:t>faster</a:t>
            </a:r>
            <a:r>
              <a:rPr lang="el"/>
              <a:t> devices.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Lower level.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Higher level processing of bulk information is avoided.</a:t>
            </a:r>
            <a:endParaRPr/>
          </a:p>
        </p:txBody>
      </p:sp>
      <p:sp>
        <p:nvSpPr>
          <p:cNvPr id="428" name="Google Shape;428;p3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  <p:sp>
        <p:nvSpPr>
          <p:cNvPr id="429" name="Google Shape;429;p39"/>
          <p:cNvSpPr txBox="1"/>
          <p:nvPr/>
        </p:nvSpPr>
        <p:spPr>
          <a:xfrm>
            <a:off x="1949700" y="3488475"/>
            <a:ext cx="5244600" cy="963600"/>
          </a:xfrm>
          <a:prstGeom prst="rect">
            <a:avLst/>
          </a:prstGeom>
          <a:solidFill>
            <a:srgbClr val="D9EAD3"/>
          </a:solidFill>
          <a:ln cap="flat" cmpd="sng" w="19050">
            <a:solidFill>
              <a:schemeClr val="dk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l" sz="16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Collapsed Core Layer:</a:t>
            </a:r>
            <a:r>
              <a:rPr b="0" i="0" lang="el" sz="16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 Often, distribution and core layers are implemented by the same devices, leading to cost reduction without significant losses.</a:t>
            </a:r>
            <a:endParaRPr b="0" i="0" sz="1600" u="none" cap="none" strike="noStrike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40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What about home networks?</a:t>
            </a:r>
            <a:endParaRPr/>
          </a:p>
        </p:txBody>
      </p:sp>
      <p:sp>
        <p:nvSpPr>
          <p:cNvPr id="435" name="Google Shape;435;p40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ISP Wireless Routers offer: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Access (device connectivity)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Distribution (Routing)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Core (local connectivity)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Right or wrong? Routers are programmable.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Right. Routers are essentially computers.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b="1" lang="el">
                <a:solidFill>
                  <a:schemeClr val="accent3"/>
                </a:solidFill>
              </a:rPr>
              <a:t>Few</a:t>
            </a:r>
            <a:r>
              <a:rPr lang="el"/>
              <a:t> but </a:t>
            </a:r>
            <a:r>
              <a:rPr b="1" lang="el">
                <a:solidFill>
                  <a:schemeClr val="dk1"/>
                </a:solidFill>
              </a:rPr>
              <a:t>diverse</a:t>
            </a:r>
            <a:r>
              <a:rPr lang="el"/>
              <a:t> ports.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Can convert between protocols.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Switching is done at the software level, thus much (much) slower than switches.</a:t>
            </a:r>
            <a:endParaRPr/>
          </a:p>
        </p:txBody>
      </p:sp>
      <p:sp>
        <p:nvSpPr>
          <p:cNvPr id="436" name="Google Shape;436;p4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41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Layer 3 Switches</a:t>
            </a:r>
            <a:endParaRPr/>
          </a:p>
        </p:txBody>
      </p:sp>
      <p:sp>
        <p:nvSpPr>
          <p:cNvPr id="442" name="Google Shape;442;p41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Like layer 2 switches.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Like multiport routers.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Many ports.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Low cost (per port) but expensive in total.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Fewer protocols than routers.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IP packet forwarding:</a:t>
            </a:r>
            <a:r>
              <a:rPr lang="el"/>
              <a:t> sharing packets with other networks.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Part of the distribution layer: LAN - LAN connection.</a:t>
            </a:r>
            <a:endParaRPr/>
          </a:p>
        </p:txBody>
      </p:sp>
      <p:sp>
        <p:nvSpPr>
          <p:cNvPr id="443" name="Google Shape;443;p4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42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Documenting a network</a:t>
            </a:r>
            <a:endParaRPr/>
          </a:p>
        </p:txBody>
      </p:sp>
      <p:sp>
        <p:nvSpPr>
          <p:cNvPr id="449" name="Google Shape;449;p42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el"/>
              <a:t>Relevant documentation should, at least, refer to: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Device names.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Interfaces: points of interaction with users.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IP addresses.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Subnet masks:</a:t>
            </a:r>
            <a:r>
              <a:rPr lang="el"/>
              <a:t> Broadcast domains within the network.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Default gateways:</a:t>
            </a:r>
            <a:r>
              <a:rPr lang="el"/>
              <a:t> Which router(s) leads out of a certain broadcast domain.</a:t>
            </a:r>
            <a:endParaRPr/>
          </a:p>
        </p:txBody>
      </p:sp>
      <p:sp>
        <p:nvSpPr>
          <p:cNvPr id="450" name="Google Shape;450;p4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43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IP Addressing</a:t>
            </a:r>
            <a:endParaRPr/>
          </a:p>
        </p:txBody>
      </p:sp>
      <p:sp>
        <p:nvSpPr>
          <p:cNvPr id="456" name="Google Shape;456;p43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Statically:</a:t>
            </a:r>
            <a:r>
              <a:rPr lang="el"/>
              <a:t> The host is provided with an IP, subnet mask, default gateway: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Easy to do in small networks.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Used in certain network resources.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Dynamically:</a:t>
            </a:r>
            <a:r>
              <a:rPr lang="el"/>
              <a:t> As above but a server does everything on its own (Dynamic Host Configuration Protocol → DHCP):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Widely used.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Offered by routers or servers.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Client IP changes frequently.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Reserved:</a:t>
            </a:r>
            <a:r>
              <a:rPr lang="el"/>
              <a:t> DHCP can be configured to assign the same IP to the same device.</a:t>
            </a:r>
            <a:endParaRPr/>
          </a:p>
        </p:txBody>
      </p:sp>
      <p:sp>
        <p:nvSpPr>
          <p:cNvPr id="457" name="Google Shape;457;p4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44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Scalability</a:t>
            </a:r>
            <a:endParaRPr/>
          </a:p>
        </p:txBody>
      </p:sp>
      <p:sp>
        <p:nvSpPr>
          <p:cNvPr id="463" name="Google Shape;463;p44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Modular equipment - not “all-in-one” solutions.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Independent parts within the network: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Safe.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Upgradable.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Modifiable.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Hierarchical addressing scheme.</a:t>
            </a:r>
            <a:endParaRPr/>
          </a:p>
        </p:txBody>
      </p:sp>
      <p:sp>
        <p:nvSpPr>
          <p:cNvPr id="464" name="Google Shape;464;p4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45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What we saw today… 1 / n</a:t>
            </a:r>
            <a:endParaRPr/>
          </a:p>
        </p:txBody>
      </p:sp>
      <p:sp>
        <p:nvSpPr>
          <p:cNvPr id="470" name="Google Shape;470;p45"/>
          <p:cNvSpPr txBox="1"/>
          <p:nvPr>
            <p:ph idx="1" type="body"/>
          </p:nvPr>
        </p:nvSpPr>
        <p:spPr>
          <a:xfrm>
            <a:off x="729450" y="1378000"/>
            <a:ext cx="7688700" cy="37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Name some network design principles.</a:t>
            </a:r>
            <a:endParaRPr b="1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</a:pPr>
            <a:r>
              <a:rPr lang="el"/>
              <a:t>	Good Network Design Principles: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Internal accessibility (you should have access to any device you need to)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External access (see and show what you should from / to the world)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Logical security (take care of security at the design level of the network)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Physical security (remember those firewalls?)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High transfer speed / minimal delays (</a:t>
            </a:r>
            <a:r>
              <a:rPr lang="el" u="sng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www.google.com</a:t>
            </a:r>
            <a:r>
              <a:rPr lang="el"/>
              <a:t> should load instantly)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Reliability and Resilience (you should not fear that you will get disconnected every time the clock ticks)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Adaptable to extensions / future needs (you should not build a network only for today)</a:t>
            </a:r>
            <a:endParaRPr/>
          </a:p>
        </p:txBody>
      </p:sp>
      <p:sp>
        <p:nvSpPr>
          <p:cNvPr id="471" name="Google Shape;471;p4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46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What we saw today… 2 / n</a:t>
            </a:r>
            <a:endParaRPr/>
          </a:p>
        </p:txBody>
      </p:sp>
      <p:sp>
        <p:nvSpPr>
          <p:cNvPr id="477" name="Google Shape;477;p46"/>
          <p:cNvSpPr txBox="1"/>
          <p:nvPr>
            <p:ph idx="1" type="body"/>
          </p:nvPr>
        </p:nvSpPr>
        <p:spPr>
          <a:xfrm>
            <a:off x="729450" y="1378000"/>
            <a:ext cx="7688700" cy="36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What is network topology?</a:t>
            </a:r>
            <a:endParaRPr b="1"/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</a:pPr>
            <a:r>
              <a:rPr lang="el"/>
              <a:t>Network Topology is the arrangement of the elements (links, nodes, etc.) of a communication network.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Name some popular network topologies.</a:t>
            </a:r>
            <a:endParaRPr b="1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</a:pPr>
            <a:r>
              <a:rPr lang="el"/>
              <a:t>	Some topologies: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Star → Popular, reliable.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Ring → Somewhat unreliable.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Bus → Cheap, easy to get bus-y (?)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Wireless (like bus)</a:t>
            </a:r>
            <a:endParaRPr/>
          </a:p>
        </p:txBody>
      </p:sp>
      <p:sp>
        <p:nvSpPr>
          <p:cNvPr id="478" name="Google Shape;478;p4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7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What we saw today… 3 / n</a:t>
            </a:r>
            <a:endParaRPr/>
          </a:p>
        </p:txBody>
      </p:sp>
      <p:sp>
        <p:nvSpPr>
          <p:cNvPr id="484" name="Google Shape;484;p47"/>
          <p:cNvSpPr txBox="1"/>
          <p:nvPr>
            <p:ph idx="1" type="body"/>
          </p:nvPr>
        </p:nvSpPr>
        <p:spPr>
          <a:xfrm>
            <a:off x="729450" y="1378000"/>
            <a:ext cx="7688700" cy="36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What is a collision domain?</a:t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</a:pPr>
            <a:r>
              <a:rPr lang="el"/>
              <a:t>A Collision Domain is the LAN part (segment) where devices must compete to communicate.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What is a broadcast domain?</a:t>
            </a:r>
            <a:endParaRPr b="1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</a:pPr>
            <a:r>
              <a:rPr lang="el"/>
              <a:t>	The part of the network where a message can be “heard”.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Right or Wrong? Switches create one collision domain and multiple broadcast domains.</a:t>
            </a:r>
            <a:endParaRPr b="1"/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600"/>
              <a:buNone/>
            </a:pPr>
            <a:r>
              <a:rPr lang="el"/>
              <a:t>Wrong. Switches split the collision domain to each port and a single broadcast domain.</a:t>
            </a:r>
            <a:endParaRPr/>
          </a:p>
        </p:txBody>
      </p:sp>
      <p:sp>
        <p:nvSpPr>
          <p:cNvPr id="485" name="Google Shape;485;p4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48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What we saw today… 4 / n</a:t>
            </a:r>
            <a:endParaRPr/>
          </a:p>
        </p:txBody>
      </p:sp>
      <p:sp>
        <p:nvSpPr>
          <p:cNvPr id="491" name="Google Shape;491;p48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What would you consider when looking for network devices?</a:t>
            </a:r>
            <a:endParaRPr b="1"/>
          </a:p>
          <a:p>
            <a:pPr indent="45720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</a:pPr>
            <a:r>
              <a:rPr lang="el"/>
              <a:t>Indicatively: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Cost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Connectivity (e.g., number of ports)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Network speed (hopefully better than your current equipment)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The future (Is it expandable? Easy to maintain?)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Comprehension (Can you understand how to use it? Can your colleagues?)</a:t>
            </a:r>
            <a:endParaRPr/>
          </a:p>
        </p:txBody>
      </p:sp>
      <p:sp>
        <p:nvSpPr>
          <p:cNvPr id="492" name="Google Shape;492;p4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49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What we saw today… 5 / n</a:t>
            </a:r>
            <a:endParaRPr/>
          </a:p>
        </p:txBody>
      </p:sp>
      <p:sp>
        <p:nvSpPr>
          <p:cNvPr id="498" name="Google Shape;498;p49"/>
          <p:cNvSpPr txBox="1"/>
          <p:nvPr>
            <p:ph idx="1" type="body"/>
          </p:nvPr>
        </p:nvSpPr>
        <p:spPr>
          <a:xfrm>
            <a:off x="729450" y="1378000"/>
            <a:ext cx="7688700" cy="37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What are Single Points of Failure?</a:t>
            </a:r>
            <a:endParaRPr b="1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</a:pPr>
            <a:r>
              <a:rPr lang="el"/>
              <a:t>	Parts of the network that if a failure occurs you have no back-up plan.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How to address SPF?</a:t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</a:pPr>
            <a:r>
              <a:rPr lang="el"/>
              <a:t>Introducing redundancies to network links and parts, i.e., by using back-up plans.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What do Firewalls filter?</a:t>
            </a:r>
            <a:endParaRPr b="1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</a:pPr>
            <a:r>
              <a:rPr lang="el"/>
              <a:t>	Some examples: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packets, e.g., Stateful Packet Inspection (SPI): incoming packets must correspond to some request,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applications, e.g., your typical OS Firewall,</a:t>
            </a:r>
            <a:endParaRPr/>
          </a:p>
          <a:p>
            <a:pPr indent="-3302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l"/>
              <a:t>URL</a:t>
            </a:r>
            <a:endParaRPr/>
          </a:p>
        </p:txBody>
      </p:sp>
      <p:sp>
        <p:nvSpPr>
          <p:cNvPr id="499" name="Google Shape;499;p4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50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What we saw today… 6 / n</a:t>
            </a:r>
            <a:endParaRPr/>
          </a:p>
        </p:txBody>
      </p:sp>
      <p:sp>
        <p:nvSpPr>
          <p:cNvPr id="505" name="Google Shape;505;p50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What are the three layers of the Hierarchical Network Design?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</a:pPr>
            <a:r>
              <a:rPr lang="el"/>
              <a:t>	The three layers are: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Char char="○"/>
            </a:pPr>
            <a:r>
              <a:rPr b="1" lang="el"/>
              <a:t>Access layer:</a:t>
            </a:r>
            <a:r>
              <a:rPr lang="el"/>
              <a:t> User-level access to the network.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b="1" lang="el"/>
              <a:t>Distribution layer:</a:t>
            </a:r>
            <a:r>
              <a:rPr lang="el"/>
              <a:t> Policy-based access.</a:t>
            </a:r>
            <a:endParaRPr/>
          </a:p>
          <a:p>
            <a:pPr indent="-33020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b="1" lang="el"/>
              <a:t>Core layer:</a:t>
            </a:r>
            <a:r>
              <a:rPr lang="el"/>
              <a:t> Lower-level access → fast communication between switches.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b="1" lang="el"/>
              <a:t>What is the Collapsed Core Layer?</a:t>
            </a:r>
            <a:endParaRPr b="1"/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600"/>
              <a:buNone/>
            </a:pPr>
            <a:r>
              <a:rPr lang="el"/>
              <a:t>Often, distribution and core layers are implemented by the same devices, leading to cost reduction without significant losses.</a:t>
            </a:r>
            <a:endParaRPr/>
          </a:p>
        </p:txBody>
      </p:sp>
      <p:sp>
        <p:nvSpPr>
          <p:cNvPr id="506" name="Google Shape;506;p5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51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Homework</a:t>
            </a:r>
            <a:endParaRPr/>
          </a:p>
        </p:txBody>
      </p:sp>
      <p:sp>
        <p:nvSpPr>
          <p:cNvPr id="512" name="Google Shape;512;p51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600"/>
              <a:buNone/>
            </a:pPr>
            <a:r>
              <a:rPr lang="el"/>
              <a:t>Download and follow the following tutorial: ‘</a:t>
            </a:r>
            <a:r>
              <a:rPr b="1" lang="el">
                <a:latin typeface="Consolas"/>
                <a:ea typeface="Consolas"/>
                <a:cs typeface="Consolas"/>
                <a:sym typeface="Consolas"/>
              </a:rPr>
              <a:t>homework &gt; 2.1.1.5 Packet Tracer - Create a Simple Network Using Packet Tracer.pdf</a:t>
            </a:r>
            <a:r>
              <a:rPr lang="el"/>
              <a:t>’</a:t>
            </a:r>
            <a:endParaRPr/>
          </a:p>
        </p:txBody>
      </p:sp>
      <p:sp>
        <p:nvSpPr>
          <p:cNvPr id="513" name="Google Shape;513;p5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52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l"/>
              <a:t>Fun Time!</a:t>
            </a:r>
            <a:endParaRPr/>
          </a:p>
        </p:txBody>
      </p:sp>
      <p:sp>
        <p:nvSpPr>
          <p:cNvPr id="519" name="Google Shape;519;p5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53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Network Design</a:t>
            </a:r>
            <a:endParaRPr/>
          </a:p>
        </p:txBody>
      </p:sp>
      <p:sp>
        <p:nvSpPr>
          <p:cNvPr id="525" name="Google Shape;525;p53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Open ‘</a:t>
            </a:r>
            <a:r>
              <a:rPr b="1" lang="el">
                <a:latin typeface="Consolas"/>
                <a:ea typeface="Consolas"/>
                <a:cs typeface="Consolas"/>
                <a:sym typeface="Consolas"/>
              </a:rPr>
              <a:t>labs &gt; Week 4 Tutorial Basic network design Instructions.pdf</a:t>
            </a:r>
            <a:r>
              <a:rPr lang="el"/>
              <a:t>’ and follow the tutorial therein.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Open ‘</a:t>
            </a:r>
            <a:r>
              <a:rPr b="1" lang="el">
                <a:latin typeface="Consolas"/>
                <a:ea typeface="Consolas"/>
                <a:cs typeface="Consolas"/>
                <a:sym typeface="Consolas"/>
              </a:rPr>
              <a:t>labs &gt; Week 4 Selecting Provisioning and Cabling Routers Switches and PCs.7z</a:t>
            </a:r>
            <a:r>
              <a:rPr lang="el"/>
              <a:t>’ and follow the tutorial therein.</a:t>
            </a:r>
            <a:endParaRPr/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l"/>
              <a:t>Open ‘</a:t>
            </a:r>
            <a:r>
              <a:rPr b="1" lang="el">
                <a:latin typeface="Consolas"/>
                <a:ea typeface="Consolas"/>
                <a:cs typeface="Consolas"/>
                <a:sym typeface="Consolas"/>
              </a:rPr>
              <a:t>labs &gt; Week 4 Tutorial - Drawing Network Diagrams.pdf</a:t>
            </a:r>
            <a:r>
              <a:rPr lang="el"/>
              <a:t>’ and follow the tutorial therein.</a:t>
            </a:r>
            <a:endParaRPr/>
          </a:p>
        </p:txBody>
      </p:sp>
      <p:sp>
        <p:nvSpPr>
          <p:cNvPr id="526" name="Google Shape;526;p5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54"/>
          <p:cNvSpPr txBox="1"/>
          <p:nvPr>
            <p:ph type="title"/>
          </p:nvPr>
        </p:nvSpPr>
        <p:spPr>
          <a:xfrm>
            <a:off x="729450" y="571925"/>
            <a:ext cx="7688700" cy="53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l"/>
              <a:t>(Reminder) NetAcad Courses</a:t>
            </a:r>
            <a:endParaRPr/>
          </a:p>
        </p:txBody>
      </p:sp>
      <p:sp>
        <p:nvSpPr>
          <p:cNvPr id="532" name="Google Shape;532;p54"/>
          <p:cNvSpPr txBox="1"/>
          <p:nvPr>
            <p:ph idx="1" type="body"/>
          </p:nvPr>
        </p:nvSpPr>
        <p:spPr>
          <a:xfrm>
            <a:off x="729450" y="1378000"/>
            <a:ext cx="7688700" cy="29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el" sz="1500"/>
              <a:t>In the “Download Packet Tracer” page, above the “Download” section, you can find </a:t>
            </a:r>
            <a:r>
              <a:rPr b="1" lang="el" sz="1500"/>
              <a:t>three interesting courses</a:t>
            </a:r>
            <a:r>
              <a:rPr lang="el" sz="1500"/>
              <a:t> (</a:t>
            </a:r>
            <a:r>
              <a:rPr i="1" lang="el" sz="1500"/>
              <a:t>interesting course:</a:t>
            </a:r>
            <a:r>
              <a:rPr lang="el" sz="1500"/>
              <a:t> </a:t>
            </a:r>
            <a:r>
              <a:rPr i="1" lang="el" sz="1500"/>
              <a:t>a course is characterised as “interesting” to inform someone that they should take it, without telling them to do so directly</a:t>
            </a:r>
            <a:r>
              <a:rPr lang="el" sz="1500"/>
              <a:t>):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500"/>
              <a:buChar char="●"/>
            </a:pPr>
            <a:r>
              <a:rPr lang="el" sz="1500" u="sng">
                <a:solidFill>
                  <a:schemeClr val="hlink"/>
                </a:solidFill>
                <a:hlinkClick r:id="rId3"/>
              </a:rPr>
              <a:t>Getting Started with Cisco Packet Tracer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l" sz="1500" u="sng">
                <a:solidFill>
                  <a:schemeClr val="hlink"/>
                </a:solidFill>
                <a:hlinkClick r:id="rId4"/>
              </a:rPr>
              <a:t>Exploring Networking with Cisco Packet Tracer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l" sz="1500" u="sng">
                <a:solidFill>
                  <a:schemeClr val="hlink"/>
                </a:solidFill>
                <a:hlinkClick r:id="rId5"/>
              </a:rPr>
              <a:t>Exploring IoT with Cisco Packet Tracer</a:t>
            </a:r>
            <a:endParaRPr sz="15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</a:pPr>
            <a:r>
              <a:rPr lang="el" sz="1500"/>
              <a:t>Also interesting is the following NetAcad course:</a:t>
            </a:r>
            <a:endParaRPr sz="1500"/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500"/>
              <a:buChar char="●"/>
            </a:pPr>
            <a:r>
              <a:rPr lang="el" sz="1500" u="sng">
                <a:solidFill>
                  <a:schemeClr val="hlink"/>
                </a:solidFill>
                <a:hlinkClick r:id="rId6"/>
              </a:rPr>
              <a:t>Network Technician</a:t>
            </a:r>
            <a:endParaRPr sz="1500"/>
          </a:p>
        </p:txBody>
      </p:sp>
      <p:sp>
        <p:nvSpPr>
          <p:cNvPr id="533" name="Google Shape;533;p5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55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l"/>
              <a:t>Any Questions?</a:t>
            </a:r>
            <a:endParaRPr/>
          </a:p>
        </p:txBody>
      </p:sp>
      <p:sp>
        <p:nvSpPr>
          <p:cNvPr id="539" name="Google Shape;539;p55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el"/>
              <a:t>Don’t forget to fill-in the questionnaire! (look right)</a:t>
            </a:r>
            <a:endParaRPr/>
          </a:p>
        </p:txBody>
      </p:sp>
      <p:sp>
        <p:nvSpPr>
          <p:cNvPr id="540" name="Google Shape;540;p55"/>
          <p:cNvSpPr txBox="1"/>
          <p:nvPr/>
        </p:nvSpPr>
        <p:spPr>
          <a:xfrm>
            <a:off x="4749150" y="3960900"/>
            <a:ext cx="4309800" cy="5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l" sz="1600" u="sng" cap="none" strike="noStrike">
                <a:solidFill>
                  <a:schemeClr val="hlink"/>
                </a:solidFill>
                <a:latin typeface="Consolas"/>
                <a:ea typeface="Consolas"/>
                <a:cs typeface="Consolas"/>
                <a:sym typeface="Consolas"/>
                <a:hlinkClick r:id="rId3"/>
              </a:rPr>
              <a:t>https://forms.gle/6q2tuByroaan8kWH8</a:t>
            </a:r>
            <a:endParaRPr b="1" i="0" sz="1600" u="none" cap="none" strike="noStrike">
              <a:solidFill>
                <a:schemeClr val="accent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1" name="Google Shape;541;p5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l"/>
              <a:t>‹#›</a:t>
            </a:fld>
            <a:endParaRPr/>
          </a:p>
        </p:txBody>
      </p:sp>
      <p:pic>
        <p:nvPicPr>
          <p:cNvPr id="542" name="Google Shape;542;p55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08600" y="1143000"/>
            <a:ext cx="2857500" cy="28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