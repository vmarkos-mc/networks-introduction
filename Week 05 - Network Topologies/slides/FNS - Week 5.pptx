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58"/>
      <p:bold r:id="rId59"/>
      <p:italic r:id="rId60"/>
      <p:boldItalic r:id="rId61"/>
    </p:embeddedFont>
    <p:embeddedFont>
      <p:font typeface="Lato" panose="020F0502020204030203" pitchFamily="34" charset="0"/>
      <p:regular r:id="rId62"/>
      <p:bold r:id="rId63"/>
      <p:italic r:id="rId64"/>
      <p:boldItalic r:id="rId65"/>
    </p:embeddedFont>
    <p:embeddedFont>
      <p:font typeface="Raleway" panose="020F0502020204030204" pitchFamily="2" charset="0"/>
      <p:regular r:id="rId66"/>
      <p:bold r:id="rId67"/>
      <p:italic r:id="rId68"/>
      <p:boldItalic r:id="rId6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0" roundtripDataSignature="AMtx7mi00+dbqsT08dZBnM7J9SEP8QZk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" y="4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6.fntdata"/><Relationship Id="rId68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66" Type="http://schemas.openxmlformats.org/officeDocument/2006/relationships/font" Target="fonts/font9.fntdata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7.fntdata"/><Relationship Id="rId69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Relationship Id="rId67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5.fntdata"/><Relationship Id="rId7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" name="Google Shape;31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5" name="Google Shape;365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" name="Google Shape;372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4" name="Google Shape;394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" name="Google Shape;410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9" name="Google Shape;43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6" name="Google Shape;446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0" name="Google Shape;460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7" name="Google Shape;467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4" name="Google Shape;474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5" name="Google Shape;495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2" name="Google Shape;502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9" name="Google Shape;509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" name="Google Shape;522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9" name="Google Shape;529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6" name="Google Shape;536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5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5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5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57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sz="42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57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5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17" name="Google Shape;17;p57"/>
          <p:cNvSpPr txBox="1"/>
          <p:nvPr/>
        </p:nvSpPr>
        <p:spPr>
          <a:xfrm>
            <a:off x="6590950" y="3866975"/>
            <a:ext cx="1945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" name="Google Shape;18;p57"/>
          <p:cNvSpPr txBox="1">
            <a:spLocks noGrp="1"/>
          </p:cNvSpPr>
          <p:nvPr>
            <p:ph type="subTitle" idx="2"/>
          </p:nvPr>
        </p:nvSpPr>
        <p:spPr>
          <a:xfrm>
            <a:off x="6057025" y="3821800"/>
            <a:ext cx="2360700" cy="11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5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1" name="Google Shape;21;p5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5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Google Shape;23;p58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Τίτλος και κύριο μέρος - Προσοχή! 1">
  <p:cSld name="TITLE_AND_BODY_1_1_1">
    <p:bg>
      <p:bgPr>
        <a:solidFill>
          <a:schemeClr val="lt2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l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Quick Revision</a:t>
            </a: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oogle Shape;27;p5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8" name="Google Shape;28;p5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5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59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1" name="Google Shape;31;p59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5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" name="Google Shape;35;p6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6" name="Google Shape;36;p6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6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" name="Google Shape;38;p60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9" name="Google Shape;39;p60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6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Τίτλος και κύριο μέρος - Προσοχή!">
  <p:cSld name="TITLE_AND_BODY_1_1">
    <p:bg>
      <p:bgPr>
        <a:solidFill>
          <a:schemeClr val="lt2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l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Heads up!</a:t>
            </a: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" name="Google Shape;43;p6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4" name="Google Shape;44;p6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6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61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7" name="Google Shape;47;p61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6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" name="Google Shape;51;p6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2" name="Google Shape;52;p6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6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62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5" name="Google Shape;55;p62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6" name="Google Shape;56;p62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6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Τίτλος και κύριο μέρος - Εκτός ύλης">
  <p:cSld name="TITLE_AND_BODY_1">
    <p:bg>
      <p:bgPr>
        <a:solidFill>
          <a:schemeClr val="lt2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l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Not relevant for the assessment of the module!</a:t>
            </a: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" name="Google Shape;60;p6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1" name="Google Shape;61;p6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6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" name="Google Shape;63;p63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4" name="Google Shape;64;p63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6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Google Shape;68;p6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9" name="Google Shape;69;p6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6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p64"/>
          <p:cNvSpPr txBox="1">
            <a:spLocks noGrp="1"/>
          </p:cNvSpPr>
          <p:nvPr>
            <p:ph type="title"/>
          </p:nvPr>
        </p:nvSpPr>
        <p:spPr>
          <a:xfrm>
            <a:off x="727800" y="571925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2" name="Google Shape;72;p64"/>
          <p:cNvSpPr txBox="1">
            <a:spLocks noGrp="1"/>
          </p:cNvSpPr>
          <p:nvPr>
            <p:ph type="body" idx="1"/>
          </p:nvPr>
        </p:nvSpPr>
        <p:spPr>
          <a:xfrm>
            <a:off x="729325" y="1474150"/>
            <a:ext cx="3774300" cy="28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64"/>
          <p:cNvSpPr txBox="1">
            <a:spLocks noGrp="1"/>
          </p:cNvSpPr>
          <p:nvPr>
            <p:ph type="body" idx="2"/>
          </p:nvPr>
        </p:nvSpPr>
        <p:spPr>
          <a:xfrm>
            <a:off x="4643600" y="1474075"/>
            <a:ext cx="3774300" cy="28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6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" name="Google Shape;77;p6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8" name="Google Shape;78;p6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6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" name="Google Shape;80;p65"/>
          <p:cNvSpPr txBox="1">
            <a:spLocks noGrp="1"/>
          </p:cNvSpPr>
          <p:nvPr>
            <p:ph type="title"/>
          </p:nvPr>
        </p:nvSpPr>
        <p:spPr>
          <a:xfrm>
            <a:off x="727800" y="571925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81" name="Google Shape;81;p6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" name="Google Shape;84;p6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5" name="Google Shape;85;p6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6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" name="Google Shape;87;p66"/>
          <p:cNvSpPr txBox="1">
            <a:spLocks noGrp="1"/>
          </p:cNvSpPr>
          <p:nvPr>
            <p:ph type="title"/>
          </p:nvPr>
        </p:nvSpPr>
        <p:spPr>
          <a:xfrm>
            <a:off x="721225" y="523413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88" name="Google Shape;88;p66"/>
          <p:cNvSpPr txBox="1">
            <a:spLocks noGrp="1"/>
          </p:cNvSpPr>
          <p:nvPr>
            <p:ph type="body" idx="1"/>
          </p:nvPr>
        </p:nvSpPr>
        <p:spPr>
          <a:xfrm>
            <a:off x="721225" y="1452775"/>
            <a:ext cx="3300900" cy="29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89" name="Google Shape;89;p6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6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92" name="Google Shape;92;p6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6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6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8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98" name="Google Shape;98;p6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9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01" name="Google Shape;101;p6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6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69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ato"/>
              <a:buNone/>
              <a:defRPr sz="8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69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6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5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Topology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skillsforall.com/course/getting-started-cisco-packet-tracer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skillsforall.com/career-path/network-technician?courseLang=en-US" TargetMode="External"/><Relationship Id="rId5" Type="http://schemas.openxmlformats.org/officeDocument/2006/relationships/hyperlink" Target="https://skillsforall.com/course/exploring-iot-cisco-packet-tracer?courseLang=en-US" TargetMode="External"/><Relationship Id="rId4" Type="http://schemas.openxmlformats.org/officeDocument/2006/relationships/hyperlink" Target="https://skillsforall.com/course/exploring-networking-cisco-packet-tracer?courseLang=en-US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6q2tuByroaan8kWH8" TargetMode="Externa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l"/>
              <a:t>Fundamental of Networks and Security</a:t>
            </a:r>
            <a:endParaRPr/>
          </a:p>
        </p:txBody>
      </p:sp>
      <p:sp>
        <p:nvSpPr>
          <p:cNvPr id="113" name="Google Shape;113;p1"/>
          <p:cNvSpPr txBox="1">
            <a:spLocks noGrp="1"/>
          </p:cNvSpPr>
          <p:nvPr>
            <p:ph type="subTitle" idx="1"/>
          </p:nvPr>
        </p:nvSpPr>
        <p:spPr>
          <a:xfrm>
            <a:off x="729625" y="3172900"/>
            <a:ext cx="76881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dirty="0"/>
              <a:t>Markos Vassilis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Mediterranean College</a:t>
            </a:r>
            <a:endParaRPr/>
          </a:p>
        </p:txBody>
      </p:sp>
      <p:sp>
        <p:nvSpPr>
          <p:cNvPr id="114" name="Google Shape;114;p1"/>
          <p:cNvSpPr txBox="1"/>
          <p:nvPr/>
        </p:nvSpPr>
        <p:spPr>
          <a:xfrm>
            <a:off x="6029600" y="4001275"/>
            <a:ext cx="2388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" name="Google Shape;115;p1"/>
          <p:cNvSpPr txBox="1">
            <a:spLocks noGrp="1"/>
          </p:cNvSpPr>
          <p:nvPr>
            <p:ph type="subTitle" idx="2"/>
          </p:nvPr>
        </p:nvSpPr>
        <p:spPr>
          <a:xfrm>
            <a:off x="6057025" y="3821800"/>
            <a:ext cx="2360700" cy="11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l"/>
              <a:t>Week 05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l"/>
              <a:t>A Quick Revision</a:t>
            </a:r>
            <a:endParaRPr/>
          </a:p>
        </p:txBody>
      </p:sp>
      <p:sp>
        <p:nvSpPr>
          <p:cNvPr id="121" name="Google Shape;121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last time…1 / n</a:t>
            </a:r>
            <a:endParaRPr/>
          </a:p>
        </p:txBody>
      </p:sp>
      <p:sp>
        <p:nvSpPr>
          <p:cNvPr id="127" name="Google Shape;127;p3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Which are the layers of the OSI model?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	The OSI model comprises of 7 layers: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Physical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Data Link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Network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Transport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Session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Presentation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Application</a:t>
            </a:r>
            <a:endParaRPr/>
          </a:p>
        </p:txBody>
      </p:sp>
      <p:sp>
        <p:nvSpPr>
          <p:cNvPr id="128" name="Google Shape;128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last time…2 / n</a:t>
            </a:r>
            <a:endParaRPr/>
          </a:p>
        </p:txBody>
      </p:sp>
      <p:sp>
        <p:nvSpPr>
          <p:cNvPr id="134" name="Google Shape;134;p4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Which are the TCP/IP Conceptual layers and what is their correspondence with the OSI ones?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	There are four layers: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Network Interface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Network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Transport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Application</a:t>
            </a:r>
            <a:endParaRPr/>
          </a:p>
        </p:txBody>
      </p:sp>
      <p:sp>
        <p:nvSpPr>
          <p:cNvPr id="135" name="Google Shape;135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4</a:t>
            </a:fld>
            <a:endParaRPr/>
          </a:p>
        </p:txBody>
      </p:sp>
      <p:pic>
        <p:nvPicPr>
          <p:cNvPr id="136" name="Google Shape;13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48525" y="2092850"/>
            <a:ext cx="3669619" cy="296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last time…3 / n</a:t>
            </a:r>
            <a:endParaRPr/>
          </a:p>
        </p:txBody>
      </p:sp>
      <p:sp>
        <p:nvSpPr>
          <p:cNvPr id="142" name="Google Shape;142;p5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What are some benefits of using models to describe networks architecture?</a:t>
            </a:r>
            <a:endParaRPr b="1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Some benefits include: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Global representation of multiple, highly diverse systems.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Facilitates understanding of networks and similar concepts.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 </a:t>
            </a:r>
            <a:r>
              <a:rPr lang="el" b="1"/>
              <a:t>core processes are predetermined</a:t>
            </a:r>
            <a:r>
              <a:rPr lang="el"/>
              <a:t>. We don’t have to worry about them (at an abstract level).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We need to </a:t>
            </a:r>
            <a:r>
              <a:rPr lang="el" b="1"/>
              <a:t>take care of how information flows</a:t>
            </a:r>
            <a:r>
              <a:rPr lang="el"/>
              <a:t> across layers (i.e., how the information flow across processes).</a:t>
            </a:r>
            <a:endParaRPr/>
          </a:p>
        </p:txBody>
      </p:sp>
      <p:sp>
        <p:nvSpPr>
          <p:cNvPr id="143" name="Google Shape;143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last time…4 / n</a:t>
            </a:r>
            <a:endParaRPr/>
          </a:p>
        </p:txBody>
      </p:sp>
      <p:sp>
        <p:nvSpPr>
          <p:cNvPr id="149" name="Google Shape;149;p6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What is encapsulation?</a:t>
            </a:r>
            <a:endParaRPr b="1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Encapsulation is the process of adding information incrementally, as we move “downwards” through the layers, i.e., from the more abstract to the more lower-level layers.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What is decapsulation?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lang="el"/>
              <a:t>The opposite of encapsulation, i.e., moving backwards, from lower- to higher-level layers, we make use of and strip off the enabling information, thus efficiently getting back the original data.</a:t>
            </a:r>
            <a:endParaRPr/>
          </a:p>
        </p:txBody>
      </p:sp>
      <p:sp>
        <p:nvSpPr>
          <p:cNvPr id="150" name="Google Shape;150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last time…5 / n</a:t>
            </a:r>
            <a:endParaRPr/>
          </a:p>
        </p:txBody>
      </p:sp>
      <p:sp>
        <p:nvSpPr>
          <p:cNvPr id="156" name="Google Shape;156;p7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Port, IP, MAC: What does each of these help us identify?</a:t>
            </a:r>
            <a:endParaRPr b="1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Ports help us identify the exact location from where on a network device a process is made available.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IP address helps us identify a network.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MAC address helps us identify a certain network device.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Right or Wrong? A packet contains more information than a frame.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lang="el"/>
              <a:t>Wrong. Frames = Packets + MAC address.</a:t>
            </a:r>
            <a:endParaRPr/>
          </a:p>
        </p:txBody>
      </p:sp>
      <p:sp>
        <p:nvSpPr>
          <p:cNvPr id="157" name="Google Shape;157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last time…6 / n</a:t>
            </a:r>
            <a:endParaRPr/>
          </a:p>
        </p:txBody>
      </p:sp>
      <p:sp>
        <p:nvSpPr>
          <p:cNvPr id="163" name="Google Shape;163;p8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Right or Wrong? Packets refer to lower layer than frames.</a:t>
            </a:r>
            <a:endParaRPr b="1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Wrong. Frames, refer to layer 2 but packets to layer 3 - remember, frames are encapsulated packets, so we move down the layer stack!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At which layer of the OSI model do message segments live in?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lang="el"/>
              <a:t>	At the transport layer (layer 4).</a:t>
            </a:r>
            <a:endParaRPr/>
          </a:p>
        </p:txBody>
      </p:sp>
      <p:sp>
        <p:nvSpPr>
          <p:cNvPr id="164" name="Google Shape;164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last time…7 / n</a:t>
            </a:r>
            <a:endParaRPr/>
          </a:p>
        </p:txBody>
      </p:sp>
      <p:sp>
        <p:nvSpPr>
          <p:cNvPr id="170" name="Google Shape;170;p9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Name some pros and cons of message segmentation.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	Pros: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Different conversations can be interleaved (i.e., you can perplex multiple conversations simultaneously).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More reliable networks.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Con: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Complexity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endParaRPr/>
          </a:p>
        </p:txBody>
      </p:sp>
      <p:sp>
        <p:nvSpPr>
          <p:cNvPr id="171" name="Google Shape;171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l"/>
              <a:t>Network Topologies</a:t>
            </a:r>
            <a:endParaRPr/>
          </a:p>
        </p:txBody>
      </p:sp>
      <p:sp>
        <p:nvSpPr>
          <p:cNvPr id="177" name="Google Shape;177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Bad Networks: Vol I</a:t>
            </a:r>
            <a:endParaRPr/>
          </a:p>
        </p:txBody>
      </p:sp>
      <p:sp>
        <p:nvSpPr>
          <p:cNvPr id="183" name="Google Shape;183;p11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36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In an office network, why are the following bad?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You can’t access your local printer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Lack of local (internal) accessibility.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You can download stuff from all over the internet.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Lack of restrictions on external access.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When you download a Trojan, all PCs are infected.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 design of the network should have taken this into account (logical security).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There are no firewall devices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Lack of physical security</a:t>
            </a:r>
            <a:endParaRPr/>
          </a:p>
        </p:txBody>
      </p:sp>
      <p:sp>
        <p:nvSpPr>
          <p:cNvPr id="184" name="Google Shape;184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11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Bad Networks: Vol II</a:t>
            </a:r>
            <a:endParaRPr/>
          </a:p>
        </p:txBody>
      </p:sp>
      <p:sp>
        <p:nvSpPr>
          <p:cNvPr id="190" name="Google Shape;190;p12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You share a 3MB .png which takes roughly 8 minutes to complete.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Lack of a fast connection, large delays.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You want to connect to your local databases or any other service but, hey, Error 404 is there for you.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Unreliable.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It’s high time to connect some new devices but the connecting machinery you are using is as old as the deceased Queen Elizabeth.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Lack of “future-proof” design.</a:t>
            </a:r>
            <a:endParaRPr/>
          </a:p>
        </p:txBody>
      </p:sp>
      <p:sp>
        <p:nvSpPr>
          <p:cNvPr id="191" name="Google Shape;19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12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Good Networks</a:t>
            </a:r>
            <a:endParaRPr/>
          </a:p>
        </p:txBody>
      </p:sp>
      <p:sp>
        <p:nvSpPr>
          <p:cNvPr id="197" name="Google Shape;197;p13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Revert the above and you get all the good network design principles: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Internal accessibility (you should have access to any device you need to)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External access (see and show what you should from / to the world)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Logical security (take care of security at the design level of the network)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Physical security (remember those firewalls?)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High transfer speed / minimal delays (</a:t>
            </a:r>
            <a:r>
              <a:rPr lang="el" u="sng">
                <a:solidFill>
                  <a:schemeClr val="hlink"/>
                </a:solidFill>
                <a:hlinkClick r:id="rId3"/>
              </a:rPr>
              <a:t>www.google.com</a:t>
            </a:r>
            <a:r>
              <a:rPr lang="el"/>
              <a:t> should load instantly)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Reliability and Resilience (you should not fear that you will get disconnected every time the clock ticks)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Adaptable to extensions / future needs (you should not build a network only for today)</a:t>
            </a:r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13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Topology</a:t>
            </a:r>
            <a:endParaRPr/>
          </a:p>
        </p:txBody>
      </p:sp>
      <p:sp>
        <p:nvSpPr>
          <p:cNvPr id="204" name="Google Shape;204;p14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What is topology?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 b="1">
                <a:solidFill>
                  <a:schemeClr val="accent3"/>
                </a:solidFill>
              </a:rPr>
              <a:t>Topology </a:t>
            </a:r>
            <a:r>
              <a:rPr lang="el"/>
              <a:t>is concerned with the properties of a geometric object that are preserved under continuous deformations, such as stretching, twisting, crumpling, and bending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Nooooo! This is mathematics - see </a:t>
            </a:r>
            <a:r>
              <a:rPr lang="el" u="sng">
                <a:solidFill>
                  <a:schemeClr val="hlink"/>
                </a:solidFill>
                <a:hlinkClick r:id="rId3"/>
              </a:rPr>
              <a:t>here</a:t>
            </a:r>
            <a:r>
              <a:rPr lang="el"/>
              <a:t> for more.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>
                <a:solidFill>
                  <a:schemeClr val="dk1"/>
                </a:solidFill>
              </a:rPr>
              <a:t>Network topology</a:t>
            </a:r>
            <a:r>
              <a:rPr lang="el"/>
              <a:t> is the arrangement of the elements (links, nodes, etc.) of a communication network.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In everyday words: Topology is the logical and physical “cabling” of the network.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But, which words aren’t “everyday” ones?</a:t>
            </a:r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14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Network Topologies: Star</a:t>
            </a:r>
            <a:endParaRPr/>
          </a:p>
        </p:txBody>
      </p:sp>
      <p:sp>
        <p:nvSpPr>
          <p:cNvPr id="211" name="Google Shape;211;p1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15</a:t>
            </a:fld>
            <a:endParaRPr/>
          </a:p>
        </p:txBody>
      </p:sp>
      <p:pic>
        <p:nvPicPr>
          <p:cNvPr id="212" name="Google Shape;21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925" y="1259525"/>
            <a:ext cx="7143750" cy="3333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" name="Google Shape;213;p15"/>
          <p:cNvGrpSpPr/>
          <p:nvPr/>
        </p:nvGrpSpPr>
        <p:grpSpPr>
          <a:xfrm>
            <a:off x="655950" y="3133925"/>
            <a:ext cx="3217200" cy="685200"/>
            <a:chOff x="655950" y="3133925"/>
            <a:chExt cx="3217200" cy="685200"/>
          </a:xfrm>
        </p:grpSpPr>
        <p:sp>
          <p:nvSpPr>
            <p:cNvPr id="214" name="Google Shape;214;p15"/>
            <p:cNvSpPr txBox="1"/>
            <p:nvPr/>
          </p:nvSpPr>
          <p:spPr>
            <a:xfrm>
              <a:off x="655950" y="3425525"/>
              <a:ext cx="7185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l" sz="1600" b="1" i="0" u="none" strike="noStrike" cap="none">
                  <a:solidFill>
                    <a:schemeClr val="accent3"/>
                  </a:solidFill>
                  <a:latin typeface="Lato"/>
                  <a:ea typeface="Lato"/>
                  <a:cs typeface="Lato"/>
                  <a:sym typeface="Lato"/>
                </a:rPr>
                <a:t>Hub</a:t>
              </a:r>
              <a:endParaRPr sz="1600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15" name="Google Shape;215;p15"/>
            <p:cNvCxnSpPr>
              <a:stCxn id="214" idx="3"/>
            </p:cNvCxnSpPr>
            <p:nvPr/>
          </p:nvCxnSpPr>
          <p:spPr>
            <a:xfrm rot="10800000" flipH="1">
              <a:off x="1374450" y="3133925"/>
              <a:ext cx="2498700" cy="4884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dash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16" name="Google Shape;216;p15"/>
          <p:cNvGrpSpPr/>
          <p:nvPr/>
        </p:nvGrpSpPr>
        <p:grpSpPr>
          <a:xfrm>
            <a:off x="3821075" y="1270250"/>
            <a:ext cx="4597000" cy="2426175"/>
            <a:chOff x="3821075" y="1270250"/>
            <a:chExt cx="4597000" cy="2426175"/>
          </a:xfrm>
        </p:grpSpPr>
        <p:sp>
          <p:nvSpPr>
            <p:cNvPr id="217" name="Google Shape;217;p15"/>
            <p:cNvSpPr txBox="1"/>
            <p:nvPr/>
          </p:nvSpPr>
          <p:spPr>
            <a:xfrm>
              <a:off x="7298775" y="1270250"/>
              <a:ext cx="11193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l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Spokes</a:t>
              </a:r>
              <a:endParaRPr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18" name="Google Shape;218;p15"/>
            <p:cNvCxnSpPr>
              <a:stCxn id="217" idx="1"/>
            </p:cNvCxnSpPr>
            <p:nvPr/>
          </p:nvCxnSpPr>
          <p:spPr>
            <a:xfrm flipH="1">
              <a:off x="5018475" y="1436900"/>
              <a:ext cx="2280300" cy="208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triangle" w="med" len="med"/>
            </a:ln>
          </p:spPr>
        </p:cxnSp>
        <p:cxnSp>
          <p:nvCxnSpPr>
            <p:cNvPr id="219" name="Google Shape;219;p15"/>
            <p:cNvCxnSpPr/>
            <p:nvPr/>
          </p:nvCxnSpPr>
          <p:spPr>
            <a:xfrm flipH="1">
              <a:off x="6528450" y="1759625"/>
              <a:ext cx="832800" cy="64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triangle" w="med" len="med"/>
            </a:ln>
          </p:spPr>
        </p:cxnSp>
        <p:cxnSp>
          <p:nvCxnSpPr>
            <p:cNvPr id="220" name="Google Shape;220;p15"/>
            <p:cNvCxnSpPr/>
            <p:nvPr/>
          </p:nvCxnSpPr>
          <p:spPr>
            <a:xfrm flipH="1">
              <a:off x="3821075" y="1645075"/>
              <a:ext cx="3384000" cy="812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triangle" w="med" len="med"/>
            </a:ln>
          </p:spPr>
        </p:cxnSp>
        <p:cxnSp>
          <p:nvCxnSpPr>
            <p:cNvPr id="221" name="Google Shape;221;p15"/>
            <p:cNvCxnSpPr/>
            <p:nvPr/>
          </p:nvCxnSpPr>
          <p:spPr>
            <a:xfrm flipH="1">
              <a:off x="6007800" y="1759625"/>
              <a:ext cx="1582500" cy="1936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triangle" w="med" len="med"/>
            </a:ln>
          </p:spPr>
        </p:cxnSp>
        <p:cxnSp>
          <p:nvCxnSpPr>
            <p:cNvPr id="222" name="Google Shape;222;p15"/>
            <p:cNvCxnSpPr/>
            <p:nvPr/>
          </p:nvCxnSpPr>
          <p:spPr>
            <a:xfrm flipH="1">
              <a:off x="4091775" y="1686725"/>
              <a:ext cx="3207000" cy="1999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Network Topologies: Star</a:t>
            </a:r>
            <a:endParaRPr/>
          </a:p>
        </p:txBody>
      </p:sp>
      <p:sp>
        <p:nvSpPr>
          <p:cNvPr id="228" name="Google Shape;228;p16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1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Quite common in most simple / small / home networks.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Quite common in data networks.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 “Hub” is not necessarily a hub (actually, it never is, in our days). It is a logical entity, which means that it might be implemented by several devices.</a:t>
            </a:r>
            <a:endParaRPr/>
          </a:p>
        </p:txBody>
      </p:sp>
      <p:sp>
        <p:nvSpPr>
          <p:cNvPr id="229" name="Google Shape;229;p1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16</a:t>
            </a:fld>
            <a:endParaRPr/>
          </a:p>
        </p:txBody>
      </p:sp>
      <p:sp>
        <p:nvSpPr>
          <p:cNvPr id="230" name="Google Shape;230;p16"/>
          <p:cNvSpPr txBox="1"/>
          <p:nvPr/>
        </p:nvSpPr>
        <p:spPr>
          <a:xfrm>
            <a:off x="2682150" y="3030075"/>
            <a:ext cx="3779700" cy="14682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l"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We discuss about </a:t>
            </a:r>
            <a:r>
              <a:rPr lang="el"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physical connections</a:t>
            </a:r>
            <a:r>
              <a:rPr lang="el"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but not about </a:t>
            </a:r>
            <a:r>
              <a:rPr lang="el" sz="1600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physical layouts</a:t>
            </a:r>
            <a:r>
              <a:rPr lang="el"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! For instance, devices might be in different floors, rooms, buildings (?) etc. These all are part of the network layout!</a:t>
            </a:r>
            <a:endParaRPr sz="16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Network Topologies: Ring</a:t>
            </a:r>
            <a:endParaRPr/>
          </a:p>
        </p:txBody>
      </p:sp>
      <p:sp>
        <p:nvSpPr>
          <p:cNvPr id="236" name="Google Shape;236;p1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17</a:t>
            </a:fld>
            <a:endParaRPr/>
          </a:p>
        </p:txBody>
      </p:sp>
      <p:pic>
        <p:nvPicPr>
          <p:cNvPr id="237" name="Google Shape;237;p17"/>
          <p:cNvPicPr preferRelativeResize="0"/>
          <p:nvPr/>
        </p:nvPicPr>
        <p:blipFill rotWithShape="1">
          <a:blip r:embed="rId3">
            <a:alphaModFix/>
          </a:blip>
          <a:srcRect l="16091" r="20147"/>
          <a:stretch/>
        </p:blipFill>
        <p:spPr>
          <a:xfrm>
            <a:off x="729450" y="1322000"/>
            <a:ext cx="4758249" cy="3731576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7"/>
          <p:cNvSpPr txBox="1"/>
          <p:nvPr/>
        </p:nvSpPr>
        <p:spPr>
          <a:xfrm>
            <a:off x="5747400" y="1322325"/>
            <a:ext cx="2842500" cy="3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●"/>
            </a:pPr>
            <a:r>
              <a:rPr lang="el"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All devices connected circularly, as a ring.</a:t>
            </a:r>
            <a:endParaRPr sz="16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●"/>
            </a:pPr>
            <a:r>
              <a:rPr lang="el"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Many times, devices are all connected to some central “hub” which implements the ring connection.</a:t>
            </a:r>
            <a:endParaRPr sz="16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●"/>
            </a:pPr>
            <a:r>
              <a:rPr lang="el"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What if one connection is lost?</a:t>
            </a:r>
            <a:endParaRPr sz="16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Char char="○"/>
            </a:pPr>
            <a:r>
              <a:rPr lang="el"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 problem!</a:t>
            </a:r>
            <a:endParaRPr sz="1600" b="1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●"/>
            </a:pPr>
            <a:r>
              <a:rPr lang="el"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What if two connections are lost?</a:t>
            </a:r>
            <a:endParaRPr sz="16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Lato"/>
              <a:buChar char="○"/>
            </a:pPr>
            <a:r>
              <a:rPr lang="el" sz="1600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Problem!</a:t>
            </a:r>
            <a:endParaRPr sz="1600" b="1" i="0" u="none" strike="noStrike" cap="none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●"/>
            </a:pPr>
            <a:r>
              <a:rPr lang="el"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Barely used.</a:t>
            </a:r>
            <a:endParaRPr sz="16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Network Topologies: Bus</a:t>
            </a:r>
            <a:endParaRPr/>
          </a:p>
        </p:txBody>
      </p:sp>
      <p:sp>
        <p:nvSpPr>
          <p:cNvPr id="244" name="Google Shape;244;p1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18</a:t>
            </a:fld>
            <a:endParaRPr/>
          </a:p>
        </p:txBody>
      </p:sp>
      <p:pic>
        <p:nvPicPr>
          <p:cNvPr id="245" name="Google Shape;245;p18"/>
          <p:cNvPicPr preferRelativeResize="0"/>
          <p:nvPr/>
        </p:nvPicPr>
        <p:blipFill rotWithShape="1">
          <a:blip r:embed="rId3">
            <a:alphaModFix/>
          </a:blip>
          <a:srcRect t="17586"/>
          <a:stretch/>
        </p:blipFill>
        <p:spPr>
          <a:xfrm>
            <a:off x="1319000" y="1520150"/>
            <a:ext cx="6509599" cy="307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Network Topologies: Bus</a:t>
            </a:r>
            <a:endParaRPr/>
          </a:p>
        </p:txBody>
      </p:sp>
      <p:sp>
        <p:nvSpPr>
          <p:cNvPr id="251" name="Google Shape;251;p19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3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Pros: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Cheap (both to think / design and to implement).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Useful when all things should fail at the same time (i.e., serial behaviour, e.g., automotive applications and other control systems)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Cons: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Really slow.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What if somebody intercepts? Security!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many messages can travel at the same time?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Only one…</a:t>
            </a:r>
            <a:endParaRPr/>
          </a:p>
        </p:txBody>
      </p:sp>
      <p:sp>
        <p:nvSpPr>
          <p:cNvPr id="252" name="Google Shape;252;p1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19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0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Network Topologies: Wireless</a:t>
            </a:r>
            <a:endParaRPr/>
          </a:p>
        </p:txBody>
      </p:sp>
      <p:sp>
        <p:nvSpPr>
          <p:cNvPr id="258" name="Google Shape;258;p2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20</a:t>
            </a:fld>
            <a:endParaRPr/>
          </a:p>
        </p:txBody>
      </p:sp>
      <p:sp>
        <p:nvSpPr>
          <p:cNvPr id="259" name="Google Shape;259;p20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3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Pros: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Cheap (both to think / design and to implement).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Useful when all things should fail at the same time (i.e., serial behaviour, e.g., automotive applications and other control systems)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Cons: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Speed depends heavily on physical parameters (obstacles etc).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What if somebody intercepts? Security!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many messages can travel at the same time?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Only one…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(Reminder) Hubs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265" name="Google Shape;265;p21"/>
          <p:cNvSpPr txBox="1">
            <a:spLocks noGrp="1"/>
          </p:cNvSpPr>
          <p:nvPr>
            <p:ph type="body" idx="1"/>
          </p:nvPr>
        </p:nvSpPr>
        <p:spPr>
          <a:xfrm>
            <a:off x="729450" y="1474150"/>
            <a:ext cx="7688700" cy="9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l" sz="1500"/>
              <a:t>Unique name -&gt; (Media Access Control) </a:t>
            </a:r>
            <a:r>
              <a:rPr lang="el" sz="1500" b="1"/>
              <a:t>MAC Address</a:t>
            </a:r>
            <a:r>
              <a:rPr lang="el" sz="1500"/>
              <a:t>: 12-character alphanumeric code, unique for each device in a network, e.g., 00-A1-D2-C4-55-4A.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l" sz="1500"/>
              <a:t>A simply “clever” middleware could be as follows:</a:t>
            </a:r>
            <a:endParaRPr sz="1500"/>
          </a:p>
        </p:txBody>
      </p:sp>
      <p:grpSp>
        <p:nvGrpSpPr>
          <p:cNvPr id="266" name="Google Shape;266;p21"/>
          <p:cNvGrpSpPr/>
          <p:nvPr/>
        </p:nvGrpSpPr>
        <p:grpSpPr>
          <a:xfrm>
            <a:off x="111425" y="2603188"/>
            <a:ext cx="2538925" cy="2317737"/>
            <a:chOff x="111425" y="2603188"/>
            <a:chExt cx="2538925" cy="2317737"/>
          </a:xfrm>
        </p:grpSpPr>
        <p:sp>
          <p:nvSpPr>
            <p:cNvPr id="267" name="Google Shape;267;p21"/>
            <p:cNvSpPr/>
            <p:nvPr/>
          </p:nvSpPr>
          <p:spPr>
            <a:xfrm>
              <a:off x="389525" y="3654400"/>
              <a:ext cx="172800" cy="17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8" name="Google Shape;268;p21"/>
            <p:cNvSpPr/>
            <p:nvPr/>
          </p:nvSpPr>
          <p:spPr>
            <a:xfrm>
              <a:off x="1433538" y="2603188"/>
              <a:ext cx="172800" cy="172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9" name="Google Shape;269;p21"/>
            <p:cNvSpPr/>
            <p:nvPr/>
          </p:nvSpPr>
          <p:spPr>
            <a:xfrm>
              <a:off x="2477550" y="3654400"/>
              <a:ext cx="172800" cy="172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0" name="Google Shape;270;p21"/>
            <p:cNvSpPr/>
            <p:nvPr/>
          </p:nvSpPr>
          <p:spPr>
            <a:xfrm>
              <a:off x="1433538" y="4649875"/>
              <a:ext cx="172800" cy="172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71" name="Google Shape;271;p21"/>
            <p:cNvCxnSpPr>
              <a:stCxn id="267" idx="6"/>
              <a:endCxn id="269" idx="2"/>
            </p:cNvCxnSpPr>
            <p:nvPr/>
          </p:nvCxnSpPr>
          <p:spPr>
            <a:xfrm>
              <a:off x="562325" y="3740800"/>
              <a:ext cx="1915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2" name="Google Shape;272;p21"/>
            <p:cNvCxnSpPr>
              <a:stCxn id="268" idx="4"/>
              <a:endCxn id="270" idx="0"/>
            </p:cNvCxnSpPr>
            <p:nvPr/>
          </p:nvCxnSpPr>
          <p:spPr>
            <a:xfrm>
              <a:off x="1519938" y="2775988"/>
              <a:ext cx="0" cy="1873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73" name="Google Shape;273;p21"/>
            <p:cNvSpPr/>
            <p:nvPr/>
          </p:nvSpPr>
          <p:spPr>
            <a:xfrm>
              <a:off x="1266888" y="3518638"/>
              <a:ext cx="506088" cy="388584"/>
            </a:xfrm>
            <a:prstGeom prst="cloud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l" sz="1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74" name="Google Shape;274;p21"/>
            <p:cNvCxnSpPr/>
            <p:nvPr/>
          </p:nvCxnSpPr>
          <p:spPr>
            <a:xfrm rot="10800000" flipH="1">
              <a:off x="686163" y="3654400"/>
              <a:ext cx="456900" cy="9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75" name="Google Shape;275;p21"/>
            <p:cNvCxnSpPr/>
            <p:nvPr/>
          </p:nvCxnSpPr>
          <p:spPr>
            <a:xfrm rot="10800000" flipH="1">
              <a:off x="1896800" y="3654400"/>
              <a:ext cx="456900" cy="9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76" name="Google Shape;276;p21"/>
            <p:cNvCxnSpPr/>
            <p:nvPr/>
          </p:nvCxnSpPr>
          <p:spPr>
            <a:xfrm rot="-5400000" flipH="1">
              <a:off x="1378350" y="4333813"/>
              <a:ext cx="456900" cy="9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77" name="Google Shape;277;p21"/>
            <p:cNvCxnSpPr/>
            <p:nvPr/>
          </p:nvCxnSpPr>
          <p:spPr>
            <a:xfrm rot="5400000" flipH="1">
              <a:off x="1378350" y="3146863"/>
              <a:ext cx="456900" cy="9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78" name="Google Shape;278;p21"/>
            <p:cNvSpPr txBox="1"/>
            <p:nvPr/>
          </p:nvSpPr>
          <p:spPr>
            <a:xfrm>
              <a:off x="111425" y="3286000"/>
              <a:ext cx="72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l" sz="1200" b="0" i="0" u="none" strike="noStrike" cap="none">
                  <a:solidFill>
                    <a:schemeClr val="accent3"/>
                  </a:solidFill>
                  <a:latin typeface="Lato"/>
                  <a:ea typeface="Lato"/>
                  <a:cs typeface="Lato"/>
                  <a:sym typeface="Lato"/>
                </a:rPr>
                <a:t>source</a:t>
              </a:r>
              <a:endParaRPr sz="1200" b="0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9" name="Google Shape;279;p21"/>
            <p:cNvSpPr txBox="1"/>
            <p:nvPr/>
          </p:nvSpPr>
          <p:spPr>
            <a:xfrm>
              <a:off x="852050" y="4551625"/>
              <a:ext cx="72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l" sz="1200" b="0" i="0" u="none" strike="noStrike" cap="none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target</a:t>
              </a:r>
              <a:endParaRPr sz="1200" b="0" i="0" u="none" strike="noStrike" cap="none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80" name="Google Shape;280;p21"/>
          <p:cNvSpPr txBox="1"/>
          <p:nvPr/>
        </p:nvSpPr>
        <p:spPr>
          <a:xfrm>
            <a:off x="4004400" y="2585350"/>
            <a:ext cx="5160900" cy="20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l" sz="15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Simply “clever” middleware -&gt; </a:t>
            </a:r>
            <a:r>
              <a:rPr lang="el" sz="1500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Hub</a:t>
            </a:r>
            <a:r>
              <a:rPr lang="el" sz="15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5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l" sz="15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Information flows towards all directions (the hub is oblivious to which is the target port / device).</a:t>
            </a:r>
            <a:endParaRPr sz="15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l" sz="15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Can you see the problem here?</a:t>
            </a:r>
            <a:endParaRPr sz="15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l" sz="15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Too many </a:t>
            </a:r>
            <a:r>
              <a:rPr lang="el" sz="1500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collisions</a:t>
            </a:r>
            <a:r>
              <a:rPr lang="el" sz="15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(we shall cover this extensively throughout the course).</a:t>
            </a:r>
            <a:endParaRPr sz="15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l" sz="15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Hubs are not used anymore (really problematic).</a:t>
            </a:r>
            <a:endParaRPr sz="15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1" name="Google Shape;281;p2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21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2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(Reminder) Layer 2 Switches</a:t>
            </a:r>
            <a:endParaRPr/>
          </a:p>
        </p:txBody>
      </p:sp>
      <p:sp>
        <p:nvSpPr>
          <p:cNvPr id="287" name="Google Shape;287;p22"/>
          <p:cNvSpPr txBox="1">
            <a:spLocks noGrp="1"/>
          </p:cNvSpPr>
          <p:nvPr>
            <p:ph type="body" idx="1"/>
          </p:nvPr>
        </p:nvSpPr>
        <p:spPr>
          <a:xfrm>
            <a:off x="729450" y="1474150"/>
            <a:ext cx="7688700" cy="10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l" sz="1500"/>
              <a:t>But, why not take advantage of local connectivity?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l" sz="1500"/>
              <a:t>A “really clever” middleware could take advantage of the local </a:t>
            </a:r>
            <a:r>
              <a:rPr lang="el" sz="1500" b="1"/>
              <a:t>physical connections</a:t>
            </a:r>
            <a:r>
              <a:rPr lang="el" sz="1500"/>
              <a:t> to direct information properly:</a:t>
            </a:r>
            <a:endParaRPr sz="1500"/>
          </a:p>
        </p:txBody>
      </p:sp>
      <p:grpSp>
        <p:nvGrpSpPr>
          <p:cNvPr id="288" name="Google Shape;288;p22"/>
          <p:cNvGrpSpPr/>
          <p:nvPr/>
        </p:nvGrpSpPr>
        <p:grpSpPr>
          <a:xfrm>
            <a:off x="111425" y="2486025"/>
            <a:ext cx="3984425" cy="2434900"/>
            <a:chOff x="111425" y="2486025"/>
            <a:chExt cx="3984425" cy="2434900"/>
          </a:xfrm>
        </p:grpSpPr>
        <p:sp>
          <p:nvSpPr>
            <p:cNvPr id="289" name="Google Shape;289;p22"/>
            <p:cNvSpPr/>
            <p:nvPr/>
          </p:nvSpPr>
          <p:spPr>
            <a:xfrm>
              <a:off x="389525" y="3654400"/>
              <a:ext cx="172800" cy="17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0" name="Google Shape;290;p22"/>
            <p:cNvSpPr/>
            <p:nvPr/>
          </p:nvSpPr>
          <p:spPr>
            <a:xfrm>
              <a:off x="1433538" y="2603188"/>
              <a:ext cx="172800" cy="172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2477550" y="3654400"/>
              <a:ext cx="172800" cy="172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1433538" y="4649875"/>
              <a:ext cx="172800" cy="172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93" name="Google Shape;293;p22"/>
            <p:cNvCxnSpPr>
              <a:stCxn id="289" idx="6"/>
              <a:endCxn id="291" idx="2"/>
            </p:cNvCxnSpPr>
            <p:nvPr/>
          </p:nvCxnSpPr>
          <p:spPr>
            <a:xfrm>
              <a:off x="562325" y="3740800"/>
              <a:ext cx="1915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4" name="Google Shape;294;p22"/>
            <p:cNvCxnSpPr>
              <a:stCxn id="290" idx="4"/>
              <a:endCxn id="292" idx="0"/>
            </p:cNvCxnSpPr>
            <p:nvPr/>
          </p:nvCxnSpPr>
          <p:spPr>
            <a:xfrm>
              <a:off x="1519938" y="2775988"/>
              <a:ext cx="0" cy="1873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95" name="Google Shape;295;p22"/>
            <p:cNvSpPr/>
            <p:nvPr/>
          </p:nvSpPr>
          <p:spPr>
            <a:xfrm>
              <a:off x="1266888" y="3518638"/>
              <a:ext cx="506088" cy="388584"/>
            </a:xfrm>
            <a:prstGeom prst="cloud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l" sz="1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96" name="Google Shape;296;p22"/>
            <p:cNvCxnSpPr/>
            <p:nvPr/>
          </p:nvCxnSpPr>
          <p:spPr>
            <a:xfrm rot="10800000" flipH="1">
              <a:off x="686163" y="3654400"/>
              <a:ext cx="456900" cy="9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97" name="Google Shape;297;p22"/>
            <p:cNvCxnSpPr/>
            <p:nvPr/>
          </p:nvCxnSpPr>
          <p:spPr>
            <a:xfrm rot="-5400000" flipH="1">
              <a:off x="1378350" y="4333813"/>
              <a:ext cx="456900" cy="9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98" name="Google Shape;298;p22"/>
            <p:cNvSpPr txBox="1"/>
            <p:nvPr/>
          </p:nvSpPr>
          <p:spPr>
            <a:xfrm>
              <a:off x="111425" y="3286000"/>
              <a:ext cx="72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l" sz="1200" b="0" i="0" u="none" strike="noStrike" cap="none">
                  <a:solidFill>
                    <a:schemeClr val="accent3"/>
                  </a:solidFill>
                  <a:latin typeface="Lato"/>
                  <a:ea typeface="Lato"/>
                  <a:cs typeface="Lato"/>
                  <a:sym typeface="Lato"/>
                </a:rPr>
                <a:t>source</a:t>
              </a:r>
              <a:endParaRPr sz="1200" b="0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9" name="Google Shape;299;p22"/>
            <p:cNvSpPr txBox="1"/>
            <p:nvPr/>
          </p:nvSpPr>
          <p:spPr>
            <a:xfrm>
              <a:off x="852050" y="4551625"/>
              <a:ext cx="72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l" sz="1200" b="0" i="0" u="none" strike="noStrike" cap="none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target</a:t>
              </a:r>
              <a:endParaRPr sz="1200" b="0" i="0" u="none" strike="noStrike" cap="none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0" name="Google Shape;300;p22"/>
            <p:cNvSpPr/>
            <p:nvPr/>
          </p:nvSpPr>
          <p:spPr>
            <a:xfrm>
              <a:off x="1944850" y="2486025"/>
              <a:ext cx="2151000" cy="1082700"/>
            </a:xfrm>
            <a:prstGeom prst="wedgeEllipseCallout">
              <a:avLst>
                <a:gd name="adj1" fmla="val -55395"/>
                <a:gd name="adj2" fmla="val 49411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el" sz="950" b="0" i="0" u="none" strike="noStrike" cap="non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00-BC-11-22-A4-17:↑</a:t>
              </a:r>
              <a:br>
                <a:rPr lang="el" sz="950" b="0" i="0" u="none" strike="noStrike" cap="non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l" sz="950" b="0" i="0" u="none" strike="noStrike" cap="non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00-AA-BC-1F-DE-33:←</a:t>
              </a:r>
              <a:br>
                <a:rPr lang="el" sz="950" b="0" i="0" u="none" strike="noStrike" cap="non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l" sz="950" b="0" i="0" u="none" strike="noStrike" cap="non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00-DD-DD-C6-64-4B:→</a:t>
              </a:r>
              <a:br>
                <a:rPr lang="el" sz="950" b="0" i="0" u="none" strike="noStrike" cap="non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l" sz="950" b="0" i="0" u="none" strike="noStrike" cap="non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00-32-21-98-BB-CA:↓</a:t>
              </a:r>
              <a:endParaRPr sz="95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301" name="Google Shape;301;p22"/>
          <p:cNvSpPr txBox="1"/>
          <p:nvPr/>
        </p:nvSpPr>
        <p:spPr>
          <a:xfrm>
            <a:off x="4505325" y="2609850"/>
            <a:ext cx="46578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l" sz="15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“Really clever” middleware -&gt; </a:t>
            </a:r>
            <a:r>
              <a:rPr lang="el" sz="1500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Layer 2 switch</a:t>
            </a:r>
            <a:r>
              <a:rPr lang="el" sz="15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5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l" sz="15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Keep track of which devices (i.e., MAC addresses) are connected to which ports of C.</a:t>
            </a:r>
            <a:endParaRPr sz="15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l" sz="15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Essentially, memory is what makes a Layer 2 switch “really clever”.</a:t>
            </a:r>
            <a:endParaRPr sz="15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2" name="Google Shape;302;p2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22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3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Collision Domain</a:t>
            </a:r>
            <a:endParaRPr/>
          </a:p>
        </p:txBody>
      </p:sp>
      <p:sp>
        <p:nvSpPr>
          <p:cNvPr id="308" name="Google Shape;308;p23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3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Collision Domain:</a:t>
            </a:r>
            <a:r>
              <a:rPr lang="el"/>
              <a:t> The LAN part (segment) where devices must compete to communicate.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One message at a time in this segment, from one source to one target device.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Collision:</a:t>
            </a:r>
            <a:r>
              <a:rPr lang="el"/>
              <a:t> When two messages encounter each other on the same “wire”.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many collision domains are there in a Hub?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One.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many collision domains are there in a Wireless network?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One.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many collision domains are there in a Layer 2 Switch?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As many as the ports!</a:t>
            </a:r>
            <a:endParaRPr/>
          </a:p>
        </p:txBody>
      </p:sp>
      <p:sp>
        <p:nvSpPr>
          <p:cNvPr id="309" name="Google Shape;309;p2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23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4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Do we need Broadcasting?</a:t>
            </a:r>
            <a:endParaRPr/>
          </a:p>
        </p:txBody>
      </p:sp>
      <p:sp>
        <p:nvSpPr>
          <p:cNvPr id="315" name="Google Shape;315;p24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Why broadcast a message since it causes so much trouble?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Some messages are intended for all devices.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“Help!”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To inform that a new device has been installed.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…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Broadcast Domain:</a:t>
            </a:r>
            <a:r>
              <a:rPr lang="el"/>
              <a:t> The part of the network where a message can be “heard”.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many broadcast domains on a: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Switch? One.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Router? It depends (remember, they are not just really clever, but amazingly clever). </a:t>
            </a:r>
            <a:r>
              <a:rPr lang="el" b="1">
                <a:solidFill>
                  <a:schemeClr val="accent3"/>
                </a:solidFill>
              </a:rPr>
              <a:t>Routers, in general, break broadcast domains!</a:t>
            </a:r>
            <a:endParaRPr b="1">
              <a:solidFill>
                <a:schemeClr val="accent3"/>
              </a:solidFill>
            </a:endParaRPr>
          </a:p>
        </p:txBody>
      </p:sp>
      <p:sp>
        <p:nvSpPr>
          <p:cNvPr id="316" name="Google Shape;316;p2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24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5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Why use Switches?</a:t>
            </a:r>
            <a:endParaRPr/>
          </a:p>
        </p:txBody>
      </p:sp>
      <p:sp>
        <p:nvSpPr>
          <p:cNvPr id="322" name="Google Shape;322;p25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They reduce network congestion by: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splitting the LAN into collision domains;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allowing bilateral communication between any two devices.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They offer many ports at low cost.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They have high speed ports.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They can temporarily remember large frames ( = packets + MAC) so as to help avoiding collisions (really clever, right?).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Switching is performed at the hardware level - so, it is faster than programmable solutions.</a:t>
            </a:r>
            <a:endParaRPr/>
          </a:p>
        </p:txBody>
      </p:sp>
      <p:sp>
        <p:nvSpPr>
          <p:cNvPr id="323" name="Google Shape;323;p2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25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6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Pick your Weapon (aka Device)</a:t>
            </a:r>
            <a:endParaRPr/>
          </a:p>
        </p:txBody>
      </p:sp>
      <p:sp>
        <p:nvSpPr>
          <p:cNvPr id="329" name="Google Shape;329;p26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What would you consider when looking for network devices?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Cost?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Connectivity? (e.g., number of ports)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Network speed? (hopefully better than your current equipment)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 future? (Is it expandable? Easy to maintain?)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Comprehension? (Can you understand how to use it? Can your colleagues?)</a:t>
            </a:r>
            <a:endParaRPr/>
          </a:p>
        </p:txBody>
      </p:sp>
      <p:sp>
        <p:nvSpPr>
          <p:cNvPr id="330" name="Google Shape;330;p2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26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Simple yet Dangerous 1 / n</a:t>
            </a:r>
            <a:endParaRPr/>
          </a:p>
        </p:txBody>
      </p:sp>
      <p:sp>
        <p:nvSpPr>
          <p:cNvPr id="336" name="Google Shape;336;p27"/>
          <p:cNvSpPr txBox="1">
            <a:spLocks noGrp="1"/>
          </p:cNvSpPr>
          <p:nvPr>
            <p:ph type="body" idx="1"/>
          </p:nvPr>
        </p:nvSpPr>
        <p:spPr>
          <a:xfrm>
            <a:off x="4572000" y="1378000"/>
            <a:ext cx="38460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This is a </a:t>
            </a:r>
            <a:r>
              <a:rPr lang="el" b="1">
                <a:solidFill>
                  <a:schemeClr val="accent3"/>
                </a:solidFill>
              </a:rPr>
              <a:t>destroyed server</a:t>
            </a:r>
            <a:r>
              <a:rPr lang="el"/>
              <a:t>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Yes, this is a physically damaged computer.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It once worked “like a charm”, but now gone are the days of its youth.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Potential physical damage is probably the no. 1 consideration that goes unnoticed when picking network equipment, but it shouldn’t…</a:t>
            </a:r>
            <a:endParaRPr/>
          </a:p>
        </p:txBody>
      </p:sp>
      <p:sp>
        <p:nvSpPr>
          <p:cNvPr id="337" name="Google Shape;337;p2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27</a:t>
            </a:fld>
            <a:endParaRPr/>
          </a:p>
        </p:txBody>
      </p:sp>
      <p:pic>
        <p:nvPicPr>
          <p:cNvPr id="338" name="Google Shape;33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2225" y="1304975"/>
            <a:ext cx="2795187" cy="373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Simple yet Dangerous 2 / n</a:t>
            </a:r>
            <a:endParaRPr/>
          </a:p>
        </p:txBody>
      </p:sp>
      <p:sp>
        <p:nvSpPr>
          <p:cNvPr id="344" name="Google Shape;344;p28"/>
          <p:cNvSpPr txBox="1">
            <a:spLocks noGrp="1"/>
          </p:cNvSpPr>
          <p:nvPr>
            <p:ph type="body" idx="1"/>
          </p:nvPr>
        </p:nvSpPr>
        <p:spPr>
          <a:xfrm>
            <a:off x="4572000" y="1378000"/>
            <a:ext cx="38460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Yes, electrical devices </a:t>
            </a:r>
            <a:r>
              <a:rPr lang="el" b="1">
                <a:solidFill>
                  <a:schemeClr val="accent3"/>
                </a:solidFill>
              </a:rPr>
              <a:t>do melt</a:t>
            </a:r>
            <a:r>
              <a:rPr lang="el"/>
              <a:t>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This is a router that has not had a good time in the past.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Extreme temperature can severely hurt electrical devices.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take that into account the next time you put your router close to a working heat-pump.</a:t>
            </a:r>
            <a:endParaRPr/>
          </a:p>
        </p:txBody>
      </p:sp>
      <p:sp>
        <p:nvSpPr>
          <p:cNvPr id="345" name="Google Shape;345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28</a:t>
            </a:fld>
            <a:endParaRPr/>
          </a:p>
        </p:txBody>
      </p:sp>
      <p:pic>
        <p:nvPicPr>
          <p:cNvPr id="346" name="Google Shape;346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378000"/>
            <a:ext cx="426720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9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Simple yet Dangerous 3 / n</a:t>
            </a:r>
            <a:endParaRPr/>
          </a:p>
        </p:txBody>
      </p:sp>
      <p:sp>
        <p:nvSpPr>
          <p:cNvPr id="352" name="Google Shape;352;p29"/>
          <p:cNvSpPr txBox="1">
            <a:spLocks noGrp="1"/>
          </p:cNvSpPr>
          <p:nvPr>
            <p:ph type="body" idx="1"/>
          </p:nvPr>
        </p:nvSpPr>
        <p:spPr>
          <a:xfrm>
            <a:off x="4572000" y="1378000"/>
            <a:ext cx="38463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Do you know what this is?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Oops?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No, </a:t>
            </a:r>
            <a:r>
              <a:rPr lang="el" b="1">
                <a:solidFill>
                  <a:schemeClr val="accent3"/>
                </a:solidFill>
              </a:rPr>
              <a:t>UPS: Uninterruptible Power Supply</a:t>
            </a:r>
            <a:r>
              <a:rPr lang="el"/>
              <a:t>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This one can save your machines in case of frequent voltage spikes or electrical noise.</a:t>
            </a:r>
            <a:endParaRPr/>
          </a:p>
        </p:txBody>
      </p:sp>
      <p:sp>
        <p:nvSpPr>
          <p:cNvPr id="353" name="Google Shape;353;p2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29</a:t>
            </a:fld>
            <a:endParaRPr/>
          </a:p>
        </p:txBody>
      </p:sp>
      <p:pic>
        <p:nvPicPr>
          <p:cNvPr id="354" name="Google Shape;35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375" y="1502050"/>
            <a:ext cx="4267203" cy="2837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0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Simple yet Dangerous 4 / n</a:t>
            </a:r>
            <a:endParaRPr/>
          </a:p>
        </p:txBody>
      </p:sp>
      <p:sp>
        <p:nvSpPr>
          <p:cNvPr id="360" name="Google Shape;360;p30"/>
          <p:cNvSpPr txBox="1">
            <a:spLocks noGrp="1"/>
          </p:cNvSpPr>
          <p:nvPr>
            <p:ph type="body" idx="1"/>
          </p:nvPr>
        </p:nvSpPr>
        <p:spPr>
          <a:xfrm>
            <a:off x="4572000" y="1378000"/>
            <a:ext cx="38463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Poor Homo Sapiens Sapiens trying to figure out how they ended up there…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>
                <a:solidFill>
                  <a:schemeClr val="accent3"/>
                </a:solidFill>
              </a:rPr>
              <a:t>Maintenance</a:t>
            </a:r>
            <a:r>
              <a:rPr lang="el"/>
              <a:t> means that you have taken care of proper cabling, labelling, having available spare parts for your network, handling connections properly etc.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Do take those into account!</a:t>
            </a:r>
            <a:endParaRPr b="1"/>
          </a:p>
        </p:txBody>
      </p:sp>
      <p:sp>
        <p:nvSpPr>
          <p:cNvPr id="361" name="Google Shape;361;p3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30</a:t>
            </a:fld>
            <a:endParaRPr/>
          </a:p>
        </p:txBody>
      </p:sp>
      <p:pic>
        <p:nvPicPr>
          <p:cNvPr id="362" name="Google Shape;362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400" y="1482400"/>
            <a:ext cx="38100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1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Reliability</a:t>
            </a:r>
            <a:endParaRPr/>
          </a:p>
        </p:txBody>
      </p:sp>
      <p:sp>
        <p:nvSpPr>
          <p:cNvPr id="368" name="Google Shape;368;p31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Single Points of Failure:</a:t>
            </a:r>
            <a:r>
              <a:rPr lang="el"/>
              <a:t> Parts of the network that if a failure occurs you have no back-up plan.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Good or Bad?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In general, </a:t>
            </a:r>
            <a:r>
              <a:rPr lang="el" b="1">
                <a:solidFill>
                  <a:schemeClr val="accent3"/>
                </a:solidFill>
              </a:rPr>
              <a:t>bad</a:t>
            </a:r>
            <a:r>
              <a:rPr lang="el"/>
              <a:t> (e.g., auth access, server access, internet access etc)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Some times </a:t>
            </a:r>
            <a:r>
              <a:rPr lang="el">
                <a:solidFill>
                  <a:schemeClr val="dk1"/>
                </a:solidFill>
              </a:rPr>
              <a:t>tolerable</a:t>
            </a:r>
            <a:r>
              <a:rPr lang="el"/>
              <a:t>, though (e.g., user access).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Solution?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>
                <a:solidFill>
                  <a:schemeClr val="dk1"/>
                </a:solidFill>
              </a:rPr>
              <a:t>Redundancy!</a:t>
            </a:r>
            <a:r>
              <a:rPr lang="el"/>
              <a:t> Duplicate (or even more) some links / parts of the network.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Essentially, back-up plans, e.g., parts of the network that are not used but for cases when the actively used (“main”) ones fail.</a:t>
            </a:r>
            <a:endParaRPr/>
          </a:p>
        </p:txBody>
      </p:sp>
      <p:sp>
        <p:nvSpPr>
          <p:cNvPr id="369" name="Google Shape;369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31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Firewalls == Walls of Fire?</a:t>
            </a:r>
            <a:endParaRPr/>
          </a:p>
        </p:txBody>
      </p:sp>
      <p:sp>
        <p:nvSpPr>
          <p:cNvPr id="375" name="Google Shape;375;p32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Firewalls act like “filters” between two or more networks, filtering: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packets, e.g., Stateful Packet Inspection (SPI): incoming packets must correspond to some request,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applications, e.g., your typical OS Firewall,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URL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Use cases?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Separating you from the Internet.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Separating you from your neighbouring LAN.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Separating you from yourself (i.e., the internal network of your own machine).</a:t>
            </a:r>
            <a:endParaRPr/>
          </a:p>
        </p:txBody>
      </p:sp>
      <p:sp>
        <p:nvSpPr>
          <p:cNvPr id="376" name="Google Shape;376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32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3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(Reminder) Networks of different sizes</a:t>
            </a:r>
            <a:endParaRPr/>
          </a:p>
        </p:txBody>
      </p:sp>
      <p:sp>
        <p:nvSpPr>
          <p:cNvPr id="382" name="Google Shape;382;p33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1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 b="1"/>
              <a:t>PAN:</a:t>
            </a:r>
            <a:r>
              <a:rPr lang="el" sz="1600"/>
              <a:t> Personal Area Network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 b="1"/>
              <a:t>LAN:</a:t>
            </a:r>
            <a:r>
              <a:rPr lang="el" sz="1600"/>
              <a:t> Local Area Network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 b="1"/>
              <a:t>WLAN:</a:t>
            </a:r>
            <a:r>
              <a:rPr lang="el" sz="1600"/>
              <a:t> Wireless LAN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 b="1"/>
              <a:t>SAN:</a:t>
            </a:r>
            <a:r>
              <a:rPr lang="el" sz="1600"/>
              <a:t> Storage Area Network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 b="1"/>
              <a:t>MAN:</a:t>
            </a:r>
            <a:r>
              <a:rPr lang="el" sz="1600"/>
              <a:t> Metropolitan Area Network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 b="1"/>
              <a:t>WAN:</a:t>
            </a:r>
            <a:r>
              <a:rPr lang="el" sz="1600"/>
              <a:t> Wide Area Network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Wireless variants of the above…</a:t>
            </a:r>
            <a:endParaRPr sz="1600"/>
          </a:p>
        </p:txBody>
      </p:sp>
      <p:sp>
        <p:nvSpPr>
          <p:cNvPr id="383" name="Google Shape;383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33</a:t>
            </a:fld>
            <a:endParaRPr/>
          </a:p>
        </p:txBody>
      </p:sp>
      <p:sp>
        <p:nvSpPr>
          <p:cNvPr id="384" name="Google Shape;384;p33"/>
          <p:cNvSpPr txBox="1"/>
          <p:nvPr/>
        </p:nvSpPr>
        <p:spPr>
          <a:xfrm>
            <a:off x="2531400" y="3653975"/>
            <a:ext cx="4081200" cy="9726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●"/>
            </a:pPr>
            <a:r>
              <a:rPr lang="el" sz="1600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Small networks:</a:t>
            </a:r>
            <a:r>
              <a:rPr lang="el"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1 - 200 users.</a:t>
            </a:r>
            <a:endParaRPr sz="16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●"/>
            </a:pPr>
            <a:r>
              <a:rPr lang="el" sz="1600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Medium networks:</a:t>
            </a:r>
            <a:r>
              <a:rPr lang="el"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200 - 1000 users.</a:t>
            </a:r>
            <a:endParaRPr sz="16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●"/>
            </a:pPr>
            <a:r>
              <a:rPr lang="el" sz="1600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Large networks:</a:t>
            </a:r>
            <a:r>
              <a:rPr lang="el"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1000+ users.</a:t>
            </a:r>
            <a:endParaRPr sz="16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4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A Network Grows (in Brooklyn?)</a:t>
            </a:r>
            <a:endParaRPr/>
          </a:p>
        </p:txBody>
      </p:sp>
      <p:sp>
        <p:nvSpPr>
          <p:cNvPr id="390" name="Google Shape;390;p34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Documentation: how it is built, logically and physically.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Device inventory: what devices are being / have been used.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Budget.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Traffic analysis: what protocols and services are used, what are their traffic requirements etc.</a:t>
            </a:r>
            <a:endParaRPr/>
          </a:p>
        </p:txBody>
      </p:sp>
      <p:sp>
        <p:nvSpPr>
          <p:cNvPr id="391" name="Google Shape;391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34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5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Which devices are part of IP design?</a:t>
            </a:r>
            <a:endParaRPr/>
          </a:p>
        </p:txBody>
      </p:sp>
      <p:sp>
        <p:nvSpPr>
          <p:cNvPr id="397" name="Google Shape;397;p35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16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End user devices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Servers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Hosts but not all: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Just those accessible from the Internet.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Intermediate devices.</a:t>
            </a:r>
            <a:endParaRPr/>
          </a:p>
        </p:txBody>
      </p:sp>
      <p:sp>
        <p:nvSpPr>
          <p:cNvPr id="398" name="Google Shape;398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35</a:t>
            </a:fld>
            <a:endParaRPr/>
          </a:p>
        </p:txBody>
      </p:sp>
      <p:sp>
        <p:nvSpPr>
          <p:cNvPr id="399" name="Google Shape;399;p35"/>
          <p:cNvSpPr txBox="1"/>
          <p:nvPr/>
        </p:nvSpPr>
        <p:spPr>
          <a:xfrm>
            <a:off x="2524050" y="3208450"/>
            <a:ext cx="4099500" cy="12000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l"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l" sz="1600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IP Addressing scheme should be planned</a:t>
            </a:r>
            <a:r>
              <a:rPr lang="el"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so as to help the network admin:</a:t>
            </a:r>
            <a:endParaRPr sz="16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●"/>
            </a:pPr>
            <a:r>
              <a:rPr lang="el"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Troubleshoot.</a:t>
            </a:r>
            <a:endParaRPr sz="16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●"/>
            </a:pPr>
            <a:r>
              <a:rPr lang="el"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Control network access.</a:t>
            </a:r>
            <a:endParaRPr sz="16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6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Hierarchical Network Design</a:t>
            </a:r>
            <a:endParaRPr/>
          </a:p>
        </p:txBody>
      </p:sp>
      <p:sp>
        <p:nvSpPr>
          <p:cNvPr id="405" name="Google Shape;405;p36"/>
          <p:cNvSpPr txBox="1">
            <a:spLocks noGrp="1"/>
          </p:cNvSpPr>
          <p:nvPr>
            <p:ph type="body" idx="1"/>
          </p:nvPr>
        </p:nvSpPr>
        <p:spPr>
          <a:xfrm>
            <a:off x="4572000" y="1378000"/>
            <a:ext cx="38463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Access layer:</a:t>
            </a:r>
            <a:r>
              <a:rPr lang="el"/>
              <a:t> User-level access to the network.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Distribution layer:</a:t>
            </a:r>
            <a:r>
              <a:rPr lang="el"/>
              <a:t> Policy-based access.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Core layer:</a:t>
            </a:r>
            <a:r>
              <a:rPr lang="el"/>
              <a:t> Lower-level access → fast communication between switches.</a:t>
            </a:r>
            <a:endParaRPr/>
          </a:p>
        </p:txBody>
      </p:sp>
      <p:sp>
        <p:nvSpPr>
          <p:cNvPr id="406" name="Google Shape;406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36</a:t>
            </a:fld>
            <a:endParaRPr/>
          </a:p>
        </p:txBody>
      </p:sp>
      <p:pic>
        <p:nvPicPr>
          <p:cNvPr id="407" name="Google Shape;407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9450" y="1378000"/>
            <a:ext cx="3642575" cy="364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7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Access Layer</a:t>
            </a:r>
            <a:endParaRPr/>
          </a:p>
        </p:txBody>
      </p:sp>
      <p:sp>
        <p:nvSpPr>
          <p:cNvPr id="413" name="Google Shape;413;p37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Layer 2 switches.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Requirements: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High availability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Port security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is (electric) power transmitted?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Power over Ethernet (PoE):</a:t>
            </a:r>
            <a:r>
              <a:rPr lang="el"/>
              <a:t> Power “travels” through Ethernet twisted-pair cables alongside data.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Quality of Service (QoS):</a:t>
            </a:r>
            <a:r>
              <a:rPr lang="el"/>
              <a:t> What is this?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 quality of service offered to you by the network, e.g., measured when you run a network speed test.</a:t>
            </a:r>
            <a:endParaRPr/>
          </a:p>
        </p:txBody>
      </p:sp>
      <p:sp>
        <p:nvSpPr>
          <p:cNvPr id="414" name="Google Shape;414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37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8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Distribution Layer</a:t>
            </a:r>
            <a:endParaRPr/>
          </a:p>
        </p:txBody>
      </p:sp>
      <p:sp>
        <p:nvSpPr>
          <p:cNvPr id="420" name="Google Shape;420;p38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Multiple LAN / WAN links - scaling by using more “stuff”.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Redundancy.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Routing.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In general, Layer 3 (network) services.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What about security?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Packet filtering.</a:t>
            </a:r>
            <a:endParaRPr/>
          </a:p>
        </p:txBody>
      </p:sp>
      <p:sp>
        <p:nvSpPr>
          <p:cNvPr id="421" name="Google Shape;421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38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9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Core Layer</a:t>
            </a:r>
            <a:endParaRPr/>
          </a:p>
        </p:txBody>
      </p:sp>
      <p:sp>
        <p:nvSpPr>
          <p:cNvPr id="427" name="Google Shape;427;p39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18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High-speed switching: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Implemented at the physical / hardware level.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Reliability and fault tolerance.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Scaling </a:t>
            </a:r>
            <a:r>
              <a:rPr lang="el" b="1">
                <a:solidFill>
                  <a:schemeClr val="accent3"/>
                </a:solidFill>
              </a:rPr>
              <a:t>not</a:t>
            </a:r>
            <a:r>
              <a:rPr lang="el"/>
              <a:t> by using </a:t>
            </a:r>
            <a:r>
              <a:rPr lang="el" b="1">
                <a:solidFill>
                  <a:schemeClr val="accent3"/>
                </a:solidFill>
              </a:rPr>
              <a:t>more</a:t>
            </a:r>
            <a:r>
              <a:rPr lang="el"/>
              <a:t> but </a:t>
            </a:r>
            <a:r>
              <a:rPr lang="el" b="1">
                <a:solidFill>
                  <a:schemeClr val="dk1"/>
                </a:solidFill>
              </a:rPr>
              <a:t>faster</a:t>
            </a:r>
            <a:r>
              <a:rPr lang="el"/>
              <a:t> devices.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Lower level.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Higher level processing of bulk information is avoided.</a:t>
            </a:r>
            <a:endParaRPr/>
          </a:p>
        </p:txBody>
      </p:sp>
      <p:sp>
        <p:nvSpPr>
          <p:cNvPr id="428" name="Google Shape;428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39</a:t>
            </a:fld>
            <a:endParaRPr/>
          </a:p>
        </p:txBody>
      </p:sp>
      <p:sp>
        <p:nvSpPr>
          <p:cNvPr id="429" name="Google Shape;429;p39"/>
          <p:cNvSpPr txBox="1"/>
          <p:nvPr/>
        </p:nvSpPr>
        <p:spPr>
          <a:xfrm>
            <a:off x="1949700" y="3488475"/>
            <a:ext cx="5244600" cy="9636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l"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Collapsed Core Layer:</a:t>
            </a:r>
            <a:r>
              <a:rPr lang="el"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Often, distribution and core layers are implemented by the same devices, leading to cost reduction without significant losses.</a:t>
            </a:r>
            <a:endParaRPr sz="16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0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about home networks?</a:t>
            </a:r>
            <a:endParaRPr/>
          </a:p>
        </p:txBody>
      </p:sp>
      <p:sp>
        <p:nvSpPr>
          <p:cNvPr id="435" name="Google Shape;435;p40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ISP Wireless Routers offer: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Access (device connectivity)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Distribution (Routing)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Core (local connectivity)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Right or wrong? Routers are programmable.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Right. Routers are essentially computers.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b="1">
                <a:solidFill>
                  <a:schemeClr val="accent3"/>
                </a:solidFill>
              </a:rPr>
              <a:t>Few</a:t>
            </a:r>
            <a:r>
              <a:rPr lang="el"/>
              <a:t> but </a:t>
            </a:r>
            <a:r>
              <a:rPr lang="el" b="1">
                <a:solidFill>
                  <a:schemeClr val="dk1"/>
                </a:solidFill>
              </a:rPr>
              <a:t>diverse</a:t>
            </a:r>
            <a:r>
              <a:rPr lang="el"/>
              <a:t> ports.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Can convert between protocols.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Switching is done at the software level, thus much (much) slower than switches.</a:t>
            </a:r>
            <a:endParaRPr/>
          </a:p>
        </p:txBody>
      </p:sp>
      <p:sp>
        <p:nvSpPr>
          <p:cNvPr id="436" name="Google Shape;43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40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1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Layer 3 Switches</a:t>
            </a:r>
            <a:endParaRPr/>
          </a:p>
        </p:txBody>
      </p:sp>
      <p:sp>
        <p:nvSpPr>
          <p:cNvPr id="442" name="Google Shape;442;p41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Like layer 2 switches.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Like multiport routers.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Many ports.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Low cost (per port) but expensive in total.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Fewer protocols than routers.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IP packet forwarding:</a:t>
            </a:r>
            <a:r>
              <a:rPr lang="el"/>
              <a:t> sharing packets with other networks.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Part of the distribution layer: LAN - LAN connection.</a:t>
            </a:r>
            <a:endParaRPr/>
          </a:p>
        </p:txBody>
      </p:sp>
      <p:sp>
        <p:nvSpPr>
          <p:cNvPr id="443" name="Google Shape;443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41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2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Documenting a network</a:t>
            </a:r>
            <a:endParaRPr/>
          </a:p>
        </p:txBody>
      </p:sp>
      <p:sp>
        <p:nvSpPr>
          <p:cNvPr id="449" name="Google Shape;449;p42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Relevant documentation should, at least, refer to: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Device names.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Interfaces: points of interaction with users.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IP addresses.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Subnet masks:</a:t>
            </a:r>
            <a:r>
              <a:rPr lang="el"/>
              <a:t> Broadcast domains within the network.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Default gateways:</a:t>
            </a:r>
            <a:r>
              <a:rPr lang="el"/>
              <a:t> Which router(s) leads out of a certain broadcast domain.</a:t>
            </a:r>
            <a:endParaRPr/>
          </a:p>
        </p:txBody>
      </p:sp>
      <p:sp>
        <p:nvSpPr>
          <p:cNvPr id="450" name="Google Shape;450;p4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42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3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IP Addressing</a:t>
            </a:r>
            <a:endParaRPr/>
          </a:p>
        </p:txBody>
      </p:sp>
      <p:sp>
        <p:nvSpPr>
          <p:cNvPr id="456" name="Google Shape;456;p43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Statically:</a:t>
            </a:r>
            <a:r>
              <a:rPr lang="el"/>
              <a:t> The host is provided with an IP, subnet mask, default gateway: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Easy to do in small networks.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Used in certain network resources.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Dynamically:</a:t>
            </a:r>
            <a:r>
              <a:rPr lang="el"/>
              <a:t> As above but a server does everything on its own (Dynamic Host Configuration Protocol → DHCP):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Widely used.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Offered by routers or servers.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Client IP changes frequently.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Reserved:</a:t>
            </a:r>
            <a:r>
              <a:rPr lang="el"/>
              <a:t> DHCP can be configured to assign the same IP to the same device.</a:t>
            </a:r>
            <a:endParaRPr/>
          </a:p>
        </p:txBody>
      </p:sp>
      <p:sp>
        <p:nvSpPr>
          <p:cNvPr id="457" name="Google Shape;457;p4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43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4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Scalability</a:t>
            </a:r>
            <a:endParaRPr/>
          </a:p>
        </p:txBody>
      </p:sp>
      <p:sp>
        <p:nvSpPr>
          <p:cNvPr id="463" name="Google Shape;463;p44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Modular equipment - not “all-in-one” solutions.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Independent parts within the network: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Safe.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Upgradable.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Modifiable.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Hierarchical addressing scheme.</a:t>
            </a:r>
            <a:endParaRPr/>
          </a:p>
        </p:txBody>
      </p:sp>
      <p:sp>
        <p:nvSpPr>
          <p:cNvPr id="464" name="Google Shape;464;p4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44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5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today… 1 / n</a:t>
            </a:r>
            <a:endParaRPr/>
          </a:p>
        </p:txBody>
      </p:sp>
      <p:sp>
        <p:nvSpPr>
          <p:cNvPr id="470" name="Google Shape;470;p45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3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Name some network design principles.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	Good Network Design Principles: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Internal accessibility (you should have access to any device you need to)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External access (see and show what you should from / to the world)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Logical security (take care of security at the design level of the network)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Physical security (remember those firewalls?)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High transfer speed / minimal delays (</a:t>
            </a:r>
            <a:r>
              <a:rPr lang="el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www.google.com</a:t>
            </a:r>
            <a:r>
              <a:rPr lang="el"/>
              <a:t> should load instantly)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Reliability and Resilience (you should not fear that you will get disconnected every time the clock ticks)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Adaptable to extensions / future needs (you should not build a network only for today)</a:t>
            </a:r>
            <a:endParaRPr/>
          </a:p>
        </p:txBody>
      </p:sp>
      <p:sp>
        <p:nvSpPr>
          <p:cNvPr id="471" name="Google Shape;471;p4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45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6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today… 2 / n</a:t>
            </a:r>
            <a:endParaRPr/>
          </a:p>
        </p:txBody>
      </p:sp>
      <p:sp>
        <p:nvSpPr>
          <p:cNvPr id="477" name="Google Shape;477;p46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36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What is network topology?</a:t>
            </a:r>
            <a:endParaRPr b="1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Network Topology is the arrangement of the elements (links, nodes, etc.) of a communication network.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Name some popular network topologies.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	Some topologies: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Star → Popular, reliable.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Ring → Somewhat unreliable.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Bus → Cheap, easy to get bus-y (?)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Wireless (like bus)</a:t>
            </a:r>
            <a:endParaRPr/>
          </a:p>
        </p:txBody>
      </p:sp>
      <p:sp>
        <p:nvSpPr>
          <p:cNvPr id="478" name="Google Shape;478;p4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46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7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today… 3 / n</a:t>
            </a:r>
            <a:endParaRPr/>
          </a:p>
        </p:txBody>
      </p:sp>
      <p:sp>
        <p:nvSpPr>
          <p:cNvPr id="484" name="Google Shape;484;p47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3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What is a collision domain?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A Collision Domain is the LAN part (segment) where devices must compete to communicate.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What is a broadcast domain?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	The part of the network where a message can be “heard”.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Right or Wrong? Switches create one collision domain and multiple broadcast domains.</a:t>
            </a:r>
            <a:endParaRPr b="1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lang="el"/>
              <a:t>Wrong. Switches split the collision domain to each port and a single broadcast domain.</a:t>
            </a:r>
            <a:endParaRPr/>
          </a:p>
        </p:txBody>
      </p:sp>
      <p:sp>
        <p:nvSpPr>
          <p:cNvPr id="485" name="Google Shape;485;p4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47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8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today… 4 / n</a:t>
            </a:r>
            <a:endParaRPr/>
          </a:p>
        </p:txBody>
      </p:sp>
      <p:sp>
        <p:nvSpPr>
          <p:cNvPr id="491" name="Google Shape;491;p48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What would you consider when looking for network devices?</a:t>
            </a:r>
            <a:endParaRPr b="1"/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Indicatively: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Cost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Connectivity (e.g., number of ports)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Network speed (hopefully better than your current equipment)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 future (Is it expandable? Easy to maintain?)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Comprehension (Can you understand how to use it? Can your colleagues?)</a:t>
            </a:r>
            <a:endParaRPr/>
          </a:p>
        </p:txBody>
      </p:sp>
      <p:sp>
        <p:nvSpPr>
          <p:cNvPr id="492" name="Google Shape;492;p4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48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9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today… 5 / n</a:t>
            </a:r>
            <a:endParaRPr/>
          </a:p>
        </p:txBody>
      </p:sp>
      <p:sp>
        <p:nvSpPr>
          <p:cNvPr id="498" name="Google Shape;498;p49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What are Single Points of Failure?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	Parts of the network that if a failure occurs you have no back-up plan.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How to address SPF?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Introducing redundancies to network links and parts, i.e., by using back-up plans.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What do Firewalls filter?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	Some examples: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packets, e.g., Stateful Packet Inspection (SPI): incoming packets must correspond to some request,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applications, e.g., your typical OS Firewall,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URL</a:t>
            </a:r>
            <a:endParaRPr/>
          </a:p>
        </p:txBody>
      </p:sp>
      <p:sp>
        <p:nvSpPr>
          <p:cNvPr id="499" name="Google Shape;499;p4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49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0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today… 6 / n</a:t>
            </a:r>
            <a:endParaRPr/>
          </a:p>
        </p:txBody>
      </p:sp>
      <p:sp>
        <p:nvSpPr>
          <p:cNvPr id="505" name="Google Shape;505;p50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What are the three layers of the Hierarchical Network Design?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	The three layers are: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○"/>
            </a:pPr>
            <a:r>
              <a:rPr lang="el" b="1"/>
              <a:t>Access layer:</a:t>
            </a:r>
            <a:r>
              <a:rPr lang="el"/>
              <a:t> User-level access to the network.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b="1"/>
              <a:t>Distribution layer:</a:t>
            </a:r>
            <a:r>
              <a:rPr lang="el"/>
              <a:t> Policy-based access.</a:t>
            </a:r>
            <a:endParaRPr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b="1"/>
              <a:t>Core layer:</a:t>
            </a:r>
            <a:r>
              <a:rPr lang="el"/>
              <a:t> Lower-level access → fast communication between switches.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What is the Collapsed Core Layer?</a:t>
            </a:r>
            <a:endParaRPr b="1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lang="el"/>
              <a:t>Often, distribution and core layers are implemented by the same devices, leading to cost reduction without significant losses.</a:t>
            </a:r>
            <a:endParaRPr/>
          </a:p>
        </p:txBody>
      </p:sp>
      <p:sp>
        <p:nvSpPr>
          <p:cNvPr id="506" name="Google Shape;506;p5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50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1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Homework</a:t>
            </a:r>
            <a:endParaRPr/>
          </a:p>
        </p:txBody>
      </p:sp>
      <p:sp>
        <p:nvSpPr>
          <p:cNvPr id="512" name="Google Shape;512;p51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600"/>
              <a:buNone/>
            </a:pPr>
            <a:r>
              <a:rPr lang="el"/>
              <a:t>Download and follow the following tutorial: ‘</a:t>
            </a:r>
            <a:r>
              <a:rPr lang="el" b="1">
                <a:latin typeface="Consolas"/>
                <a:ea typeface="Consolas"/>
                <a:cs typeface="Consolas"/>
                <a:sym typeface="Consolas"/>
              </a:rPr>
              <a:t>homework &gt; 2.1.1.5 Packet Tracer - Create a Simple Network Using Packet Tracer.pdf</a:t>
            </a:r>
            <a:r>
              <a:rPr lang="el"/>
              <a:t>’</a:t>
            </a:r>
            <a:endParaRPr/>
          </a:p>
        </p:txBody>
      </p:sp>
      <p:sp>
        <p:nvSpPr>
          <p:cNvPr id="513" name="Google Shape;513;p5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51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l"/>
              <a:t>Fun Time!</a:t>
            </a:r>
            <a:endParaRPr/>
          </a:p>
        </p:txBody>
      </p:sp>
      <p:sp>
        <p:nvSpPr>
          <p:cNvPr id="519" name="Google Shape;519;p5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52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3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Network Design</a:t>
            </a:r>
            <a:endParaRPr/>
          </a:p>
        </p:txBody>
      </p:sp>
      <p:sp>
        <p:nvSpPr>
          <p:cNvPr id="525" name="Google Shape;525;p53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Open ‘</a:t>
            </a:r>
            <a:r>
              <a:rPr lang="el" b="1">
                <a:latin typeface="Consolas"/>
                <a:ea typeface="Consolas"/>
                <a:cs typeface="Consolas"/>
                <a:sym typeface="Consolas"/>
              </a:rPr>
              <a:t>labs &gt; Week 4 Tutorial Basic network design Instructions.pdf</a:t>
            </a:r>
            <a:r>
              <a:rPr lang="el"/>
              <a:t>’ and follow the tutorial therein.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Open ‘</a:t>
            </a:r>
            <a:r>
              <a:rPr lang="el" b="1">
                <a:latin typeface="Consolas"/>
                <a:ea typeface="Consolas"/>
                <a:cs typeface="Consolas"/>
                <a:sym typeface="Consolas"/>
              </a:rPr>
              <a:t>labs &gt; Week 4 Selecting Provisioning and Cabling Routers Switches and PCs.7z</a:t>
            </a:r>
            <a:r>
              <a:rPr lang="el"/>
              <a:t>’ and follow the tutorial therein.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Open ‘</a:t>
            </a:r>
            <a:r>
              <a:rPr lang="el" b="1">
                <a:latin typeface="Consolas"/>
                <a:ea typeface="Consolas"/>
                <a:cs typeface="Consolas"/>
                <a:sym typeface="Consolas"/>
              </a:rPr>
              <a:t>labs &gt; Week 4 Tutorial - Drawing Network Diagrams.pdf</a:t>
            </a:r>
            <a:r>
              <a:rPr lang="el"/>
              <a:t>’ and follow the tutorial therein.</a:t>
            </a:r>
            <a:endParaRPr/>
          </a:p>
        </p:txBody>
      </p:sp>
      <p:sp>
        <p:nvSpPr>
          <p:cNvPr id="526" name="Google Shape;526;p5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53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4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(Reminder) NetAcad Courses</a:t>
            </a:r>
            <a:endParaRPr/>
          </a:p>
        </p:txBody>
      </p:sp>
      <p:sp>
        <p:nvSpPr>
          <p:cNvPr id="532" name="Google Shape;532;p54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500"/>
              <a:t>In the “Download Packet Tracer” page, above the “Download” section, you can find </a:t>
            </a:r>
            <a:r>
              <a:rPr lang="el" sz="1500" b="1"/>
              <a:t>three interesting courses</a:t>
            </a:r>
            <a:r>
              <a:rPr lang="el" sz="1500"/>
              <a:t> (</a:t>
            </a:r>
            <a:r>
              <a:rPr lang="el" sz="1500" i="1"/>
              <a:t>interesting course:</a:t>
            </a:r>
            <a:r>
              <a:rPr lang="el" sz="1500"/>
              <a:t> </a:t>
            </a:r>
            <a:r>
              <a:rPr lang="el" sz="1500" i="1"/>
              <a:t>a course is characterised as “interesting” to inform someone that they should take it, without telling them to do so directly</a:t>
            </a:r>
            <a:r>
              <a:rPr lang="el" sz="1500"/>
              <a:t>):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l" sz="1500" u="sng">
                <a:solidFill>
                  <a:schemeClr val="hlink"/>
                </a:solidFill>
                <a:hlinkClick r:id="rId3"/>
              </a:rPr>
              <a:t>Getting Started with Cisco Packet Tracer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l" sz="1500" u="sng">
                <a:solidFill>
                  <a:schemeClr val="hlink"/>
                </a:solidFill>
                <a:hlinkClick r:id="rId4"/>
              </a:rPr>
              <a:t>Exploring Networking with Cisco Packet Tracer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l" sz="1500" u="sng">
                <a:solidFill>
                  <a:schemeClr val="hlink"/>
                </a:solidFill>
                <a:hlinkClick r:id="rId5"/>
              </a:rPr>
              <a:t>Exploring IoT with Cisco Packet Tracer</a:t>
            </a:r>
            <a:endParaRPr sz="15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 sz="1500"/>
              <a:t>Also interesting is the following NetAcad course: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l" sz="1500" u="sng">
                <a:solidFill>
                  <a:schemeClr val="hlink"/>
                </a:solidFill>
                <a:hlinkClick r:id="rId6"/>
              </a:rPr>
              <a:t>Network Technician</a:t>
            </a:r>
            <a:endParaRPr sz="1500"/>
          </a:p>
        </p:txBody>
      </p:sp>
      <p:sp>
        <p:nvSpPr>
          <p:cNvPr id="533" name="Google Shape;533;p5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54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5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l"/>
              <a:t>Any Questions?</a:t>
            </a:r>
            <a:endParaRPr/>
          </a:p>
        </p:txBody>
      </p:sp>
      <p:sp>
        <p:nvSpPr>
          <p:cNvPr id="539" name="Google Shape;539;p55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Don’t forget to fill-in the questionnaire! (look right)</a:t>
            </a:r>
            <a:endParaRPr/>
          </a:p>
        </p:txBody>
      </p:sp>
      <p:sp>
        <p:nvSpPr>
          <p:cNvPr id="540" name="Google Shape;540;p55"/>
          <p:cNvSpPr txBox="1"/>
          <p:nvPr/>
        </p:nvSpPr>
        <p:spPr>
          <a:xfrm>
            <a:off x="4749150" y="3960900"/>
            <a:ext cx="43098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l" sz="1600" b="1" i="0" u="sng" strike="noStrike" cap="none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https://forms.gle/6q2tuByroaan8kWH8</a:t>
            </a:r>
            <a:endParaRPr sz="1600" b="1" i="0" u="none" strike="noStrike" cap="none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1" name="Google Shape;541;p5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55</a:t>
            </a:fld>
            <a:endParaRPr/>
          </a:p>
        </p:txBody>
      </p:sp>
      <p:pic>
        <p:nvPicPr>
          <p:cNvPr id="542" name="Google Shape;542;p5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08600" y="114300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3473</Words>
  <Application>Microsoft Office PowerPoint</Application>
  <PresentationFormat>On-screen Show (16:9)</PresentationFormat>
  <Paragraphs>431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Lato</vt:lpstr>
      <vt:lpstr>Raleway</vt:lpstr>
      <vt:lpstr>Arial</vt:lpstr>
      <vt:lpstr>Consolas</vt:lpstr>
      <vt:lpstr>Streamline</vt:lpstr>
      <vt:lpstr>Fundamental of Networks and Security</vt:lpstr>
      <vt:lpstr>A Quick Revision</vt:lpstr>
      <vt:lpstr>What we saw last time…1 / n</vt:lpstr>
      <vt:lpstr>What we saw last time…2 / n</vt:lpstr>
      <vt:lpstr>What we saw last time…3 / n</vt:lpstr>
      <vt:lpstr>What we saw last time…4 / n</vt:lpstr>
      <vt:lpstr>What we saw last time…5 / n</vt:lpstr>
      <vt:lpstr>What we saw last time…6 / n</vt:lpstr>
      <vt:lpstr>What we saw last time…7 / n</vt:lpstr>
      <vt:lpstr>Network Topologies</vt:lpstr>
      <vt:lpstr>Bad Networks: Vol I</vt:lpstr>
      <vt:lpstr>Bad Networks: Vol II</vt:lpstr>
      <vt:lpstr>Good Networks</vt:lpstr>
      <vt:lpstr>Topology</vt:lpstr>
      <vt:lpstr>Network Topologies: Star</vt:lpstr>
      <vt:lpstr>Network Topologies: Star</vt:lpstr>
      <vt:lpstr>Network Topologies: Ring</vt:lpstr>
      <vt:lpstr>Network Topologies: Bus</vt:lpstr>
      <vt:lpstr>Network Topologies: Bus</vt:lpstr>
      <vt:lpstr>Network Topologies: Wireless</vt:lpstr>
      <vt:lpstr>(Reminder) Hubs </vt:lpstr>
      <vt:lpstr>(Reminder) Layer 2 Switches</vt:lpstr>
      <vt:lpstr>Collision Domain</vt:lpstr>
      <vt:lpstr>Do we need Broadcasting?</vt:lpstr>
      <vt:lpstr>Why use Switches?</vt:lpstr>
      <vt:lpstr>Pick your Weapon (aka Device)</vt:lpstr>
      <vt:lpstr>Simple yet Dangerous 1 / n</vt:lpstr>
      <vt:lpstr>Simple yet Dangerous 2 / n</vt:lpstr>
      <vt:lpstr>Simple yet Dangerous 3 / n</vt:lpstr>
      <vt:lpstr>Simple yet Dangerous 4 / n</vt:lpstr>
      <vt:lpstr>Reliability</vt:lpstr>
      <vt:lpstr>Firewalls == Walls of Fire?</vt:lpstr>
      <vt:lpstr>(Reminder) Networks of different sizes</vt:lpstr>
      <vt:lpstr>A Network Grows (in Brooklyn?)</vt:lpstr>
      <vt:lpstr>Which devices are part of IP design?</vt:lpstr>
      <vt:lpstr>Hierarchical Network Design</vt:lpstr>
      <vt:lpstr>Access Layer</vt:lpstr>
      <vt:lpstr>Distribution Layer</vt:lpstr>
      <vt:lpstr>Core Layer</vt:lpstr>
      <vt:lpstr>What about home networks?</vt:lpstr>
      <vt:lpstr>Layer 3 Switches</vt:lpstr>
      <vt:lpstr>Documenting a network</vt:lpstr>
      <vt:lpstr>IP Addressing</vt:lpstr>
      <vt:lpstr>Scalability</vt:lpstr>
      <vt:lpstr>What we saw today… 1 / n</vt:lpstr>
      <vt:lpstr>What we saw today… 2 / n</vt:lpstr>
      <vt:lpstr>What we saw today… 3 / n</vt:lpstr>
      <vt:lpstr>What we saw today… 4 / n</vt:lpstr>
      <vt:lpstr>What we saw today… 5 / n</vt:lpstr>
      <vt:lpstr>What we saw today… 6 / n</vt:lpstr>
      <vt:lpstr>Homework</vt:lpstr>
      <vt:lpstr>Fun Time!</vt:lpstr>
      <vt:lpstr>Network Design</vt:lpstr>
      <vt:lpstr>(Reminder) NetAcad Courses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l2b l2b</cp:lastModifiedBy>
  <cp:revision>1</cp:revision>
  <dcterms:modified xsi:type="dcterms:W3CDTF">2025-11-07T07:06:35Z</dcterms:modified>
</cp:coreProperties>
</file>