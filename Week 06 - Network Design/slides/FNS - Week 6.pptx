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Raleway"/>
      <p:regular r:id="rId46"/>
      <p:bold r:id="rId47"/>
      <p:italic r:id="rId48"/>
      <p:boldItalic r:id="rId49"/>
    </p:embeddedFont>
    <p:embeddedFont>
      <p:font typeface="La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4" roundtripDataSignature="AMtx7micDVzy5JktFAJeinAF5znT8KYP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aleway-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italic.fntdata"/><Relationship Id="rId47" Type="http://schemas.openxmlformats.org/officeDocument/2006/relationships/font" Target="fonts/Raleway-bold.fntdata"/><Relationship Id="rId49"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4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42"/>
          <p:cNvGrpSpPr/>
          <p:nvPr/>
        </p:nvGrpSpPr>
        <p:grpSpPr>
          <a:xfrm>
            <a:off x="830392" y="1191256"/>
            <a:ext cx="745763" cy="45826"/>
            <a:chOff x="4580561" y="2589004"/>
            <a:chExt cx="1064464" cy="25200"/>
          </a:xfrm>
        </p:grpSpPr>
        <p:sp>
          <p:nvSpPr>
            <p:cNvPr id="12" name="Google Shape;12;p4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4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Font typeface="Lato"/>
              <a:buNone/>
              <a:defRPr sz="4200">
                <a:latin typeface="Lato"/>
                <a:ea typeface="Lato"/>
                <a:cs typeface="Lato"/>
                <a:sym typeface="Lato"/>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42"/>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17" name="Google Shape;17;p42"/>
          <p:cNvSpPr txBox="1"/>
          <p:nvPr/>
        </p:nvSpPr>
        <p:spPr>
          <a:xfrm>
            <a:off x="6590950" y="3866975"/>
            <a:ext cx="1945500" cy="73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 name="Google Shape;18;p42"/>
          <p:cNvSpPr txBox="1"/>
          <p:nvPr>
            <p:ph idx="2" type="subTitle"/>
          </p:nvPr>
        </p:nvSpPr>
        <p:spPr>
          <a:xfrm>
            <a:off x="6057025" y="3821800"/>
            <a:ext cx="2360700" cy="1121700"/>
          </a:xfrm>
          <a:prstGeom prst="rect">
            <a:avLst/>
          </a:prstGeom>
          <a:noFill/>
          <a:ln>
            <a:noFill/>
          </a:ln>
        </p:spPr>
        <p:txBody>
          <a:bodyPr anchorCtr="0" anchor="t" bIns="91425" lIns="91425" spcFirstLastPara="1" rIns="91425" wrap="square" tIns="91425">
            <a:normAutofit/>
          </a:bodyPr>
          <a:lstStyle>
            <a:lvl1pPr lvl="0" algn="r">
              <a:lnSpc>
                <a:spcPct val="115000"/>
              </a:lnSpc>
              <a:spcBef>
                <a:spcPts val="0"/>
              </a:spcBef>
              <a:spcAft>
                <a:spcPts val="0"/>
              </a:spcAft>
              <a:buSzPts val="1300"/>
              <a:buNone/>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43"/>
          <p:cNvGrpSpPr/>
          <p:nvPr/>
        </p:nvGrpSpPr>
        <p:grpSpPr>
          <a:xfrm>
            <a:off x="830392" y="1191256"/>
            <a:ext cx="745763" cy="45826"/>
            <a:chOff x="4580561" y="2589004"/>
            <a:chExt cx="1064464" cy="25200"/>
          </a:xfrm>
        </p:grpSpPr>
        <p:sp>
          <p:nvSpPr>
            <p:cNvPr id="21" name="Google Shape;21;p4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43"/>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4" name="Google Shape;24;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1">
  <p:cSld name="TITLE_AND_BODY_1_1_1">
    <p:bg>
      <p:bgPr>
        <a:solidFill>
          <a:schemeClr val="lt2"/>
        </a:solidFill>
      </p:bgPr>
    </p:bg>
    <p:spTree>
      <p:nvGrpSpPr>
        <p:cNvPr id="25" name="Shape 25"/>
        <p:cNvGrpSpPr/>
        <p:nvPr/>
      </p:nvGrpSpPr>
      <p:grpSpPr>
        <a:xfrm>
          <a:off x="0" y="0"/>
          <a:ext cx="0" cy="0"/>
          <a:chOff x="0" y="0"/>
          <a:chExt cx="0" cy="0"/>
        </a:xfrm>
      </p:grpSpPr>
      <p:sp>
        <p:nvSpPr>
          <p:cNvPr id="26" name="Google Shape;26;p44"/>
          <p:cNvSpPr/>
          <p:nvPr/>
        </p:nvSpPr>
        <p:spPr>
          <a:xfrm>
            <a:off x="0" y="0"/>
            <a:ext cx="9144000" cy="4878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Quick Revision</a:t>
            </a:r>
            <a:endParaRPr b="1" i="0" sz="1400" u="none" cap="none" strike="noStrike">
              <a:solidFill>
                <a:schemeClr val="lt1"/>
              </a:solidFill>
              <a:latin typeface="Arial"/>
              <a:ea typeface="Arial"/>
              <a:cs typeface="Arial"/>
              <a:sym typeface="Arial"/>
            </a:endParaRPr>
          </a:p>
        </p:txBody>
      </p:sp>
      <p:grpSp>
        <p:nvGrpSpPr>
          <p:cNvPr id="27" name="Google Shape;27;p44"/>
          <p:cNvGrpSpPr/>
          <p:nvPr/>
        </p:nvGrpSpPr>
        <p:grpSpPr>
          <a:xfrm>
            <a:off x="830392" y="1191256"/>
            <a:ext cx="745763" cy="45826"/>
            <a:chOff x="4580561" y="2589004"/>
            <a:chExt cx="1064464" cy="25200"/>
          </a:xfrm>
        </p:grpSpPr>
        <p:sp>
          <p:nvSpPr>
            <p:cNvPr id="28" name="Google Shape;28;p4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4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1" name="Google Shape;31;p4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2" name="Google Shape;32;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p:cSld name="TITLE_AND_BODY_1_1">
    <p:bg>
      <p:bgPr>
        <a:solidFill>
          <a:schemeClr val="lt2"/>
        </a:solidFill>
      </p:bgPr>
    </p:bg>
    <p:spTree>
      <p:nvGrpSpPr>
        <p:cNvPr id="33" name="Shape 33"/>
        <p:cNvGrpSpPr/>
        <p:nvPr/>
      </p:nvGrpSpPr>
      <p:grpSpPr>
        <a:xfrm>
          <a:off x="0" y="0"/>
          <a:ext cx="0" cy="0"/>
          <a:chOff x="0" y="0"/>
          <a:chExt cx="0" cy="0"/>
        </a:xfrm>
      </p:grpSpPr>
      <p:sp>
        <p:nvSpPr>
          <p:cNvPr id="34" name="Google Shape;34;p45"/>
          <p:cNvSpPr/>
          <p:nvPr/>
        </p:nvSpPr>
        <p:spPr>
          <a:xfrm>
            <a:off x="0" y="0"/>
            <a:ext cx="9144000" cy="48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Heads up!</a:t>
            </a:r>
            <a:endParaRPr b="1" i="0" sz="1400" u="none" cap="none" strike="noStrike">
              <a:solidFill>
                <a:schemeClr val="lt1"/>
              </a:solidFill>
              <a:latin typeface="Arial"/>
              <a:ea typeface="Arial"/>
              <a:cs typeface="Arial"/>
              <a:sym typeface="Arial"/>
            </a:endParaRPr>
          </a:p>
        </p:txBody>
      </p:sp>
      <p:grpSp>
        <p:nvGrpSpPr>
          <p:cNvPr id="35" name="Google Shape;35;p45"/>
          <p:cNvGrpSpPr/>
          <p:nvPr/>
        </p:nvGrpSpPr>
        <p:grpSpPr>
          <a:xfrm>
            <a:off x="830392" y="1191256"/>
            <a:ext cx="745763" cy="45826"/>
            <a:chOff x="4580561" y="2589004"/>
            <a:chExt cx="1064464" cy="25200"/>
          </a:xfrm>
        </p:grpSpPr>
        <p:sp>
          <p:nvSpPr>
            <p:cNvPr id="36" name="Google Shape;36;p4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4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9" name="Google Shape;39;p4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0" name="Google Shape;40;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4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 name="Google Shape;43;p46"/>
          <p:cNvGrpSpPr/>
          <p:nvPr/>
        </p:nvGrpSpPr>
        <p:grpSpPr>
          <a:xfrm>
            <a:off x="830392" y="1191256"/>
            <a:ext cx="745763" cy="45826"/>
            <a:chOff x="4580561" y="2589004"/>
            <a:chExt cx="1064464" cy="25200"/>
          </a:xfrm>
        </p:grpSpPr>
        <p:sp>
          <p:nvSpPr>
            <p:cNvPr id="44" name="Google Shape;44;p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4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7" name="Google Shape;47;p4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9" name="Shape 49"/>
        <p:cNvGrpSpPr/>
        <p:nvPr/>
      </p:nvGrpSpPr>
      <p:grpSpPr>
        <a:xfrm>
          <a:off x="0" y="0"/>
          <a:ext cx="0" cy="0"/>
          <a:chOff x="0" y="0"/>
          <a:chExt cx="0" cy="0"/>
        </a:xfrm>
      </p:grpSpPr>
      <p:sp>
        <p:nvSpPr>
          <p:cNvPr id="50" name="Google Shape;50;p47"/>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47"/>
          <p:cNvGrpSpPr/>
          <p:nvPr/>
        </p:nvGrpSpPr>
        <p:grpSpPr>
          <a:xfrm>
            <a:off x="830392" y="1191256"/>
            <a:ext cx="745763" cy="45826"/>
            <a:chOff x="4580561" y="2589004"/>
            <a:chExt cx="1064464" cy="25200"/>
          </a:xfrm>
        </p:grpSpPr>
        <p:sp>
          <p:nvSpPr>
            <p:cNvPr id="52" name="Google Shape;52;p4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47"/>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47"/>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56" name="Google Shape;56;p47"/>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7" name="Google Shape;57;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Εκτός ύλης">
  <p:cSld name="TITLE_AND_BODY_1">
    <p:bg>
      <p:bgPr>
        <a:solidFill>
          <a:schemeClr val="lt2"/>
        </a:solidFill>
      </p:bgPr>
    </p:bg>
    <p:spTree>
      <p:nvGrpSpPr>
        <p:cNvPr id="58" name="Shape 58"/>
        <p:cNvGrpSpPr/>
        <p:nvPr/>
      </p:nvGrpSpPr>
      <p:grpSpPr>
        <a:xfrm>
          <a:off x="0" y="0"/>
          <a:ext cx="0" cy="0"/>
          <a:chOff x="0" y="0"/>
          <a:chExt cx="0" cy="0"/>
        </a:xfrm>
      </p:grpSpPr>
      <p:sp>
        <p:nvSpPr>
          <p:cNvPr id="59" name="Google Shape;59;p48"/>
          <p:cNvSpPr/>
          <p:nvPr/>
        </p:nvSpPr>
        <p:spPr>
          <a:xfrm>
            <a:off x="0" y="0"/>
            <a:ext cx="9144000" cy="4878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Not relevant for the assessment of the module!</a:t>
            </a:r>
            <a:endParaRPr b="1" i="0" sz="1400" u="none" cap="none" strike="noStrike">
              <a:solidFill>
                <a:schemeClr val="lt1"/>
              </a:solidFill>
              <a:latin typeface="Arial"/>
              <a:ea typeface="Arial"/>
              <a:cs typeface="Arial"/>
              <a:sym typeface="Arial"/>
            </a:endParaRPr>
          </a:p>
        </p:txBody>
      </p:sp>
      <p:grpSp>
        <p:nvGrpSpPr>
          <p:cNvPr id="60" name="Google Shape;60;p48"/>
          <p:cNvGrpSpPr/>
          <p:nvPr/>
        </p:nvGrpSpPr>
        <p:grpSpPr>
          <a:xfrm>
            <a:off x="830392" y="1191256"/>
            <a:ext cx="745763" cy="45826"/>
            <a:chOff x="4580561" y="2589004"/>
            <a:chExt cx="1064464" cy="25200"/>
          </a:xfrm>
        </p:grpSpPr>
        <p:sp>
          <p:nvSpPr>
            <p:cNvPr id="61" name="Google Shape;61;p4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4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4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4" name="Google Shape;64;p4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5" name="Google Shape;65;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4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8" name="Google Shape;68;p49"/>
          <p:cNvGrpSpPr/>
          <p:nvPr/>
        </p:nvGrpSpPr>
        <p:grpSpPr>
          <a:xfrm>
            <a:off x="830392" y="1191256"/>
            <a:ext cx="745763" cy="45826"/>
            <a:chOff x="4580561" y="2589004"/>
            <a:chExt cx="1064464" cy="25200"/>
          </a:xfrm>
        </p:grpSpPr>
        <p:sp>
          <p:nvSpPr>
            <p:cNvPr id="69" name="Google Shape;69;p4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4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 name="Google Shape;71;p49"/>
          <p:cNvSpPr txBox="1"/>
          <p:nvPr>
            <p:ph type="title"/>
          </p:nvPr>
        </p:nvSpPr>
        <p:spPr>
          <a:xfrm>
            <a:off x="727800" y="571925"/>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2" name="Google Shape;72;p49"/>
          <p:cNvSpPr txBox="1"/>
          <p:nvPr>
            <p:ph idx="1" type="body"/>
          </p:nvPr>
        </p:nvSpPr>
        <p:spPr>
          <a:xfrm>
            <a:off x="729325" y="1474150"/>
            <a:ext cx="3774300" cy="286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3" name="Google Shape;73;p49"/>
          <p:cNvSpPr txBox="1"/>
          <p:nvPr>
            <p:ph idx="2" type="body"/>
          </p:nvPr>
        </p:nvSpPr>
        <p:spPr>
          <a:xfrm>
            <a:off x="4643600" y="1474075"/>
            <a:ext cx="3774300" cy="286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4" name="Google Shape;74;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5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 name="Google Shape;77;p50"/>
          <p:cNvGrpSpPr/>
          <p:nvPr/>
        </p:nvGrpSpPr>
        <p:grpSpPr>
          <a:xfrm>
            <a:off x="830392" y="1191256"/>
            <a:ext cx="745763" cy="45826"/>
            <a:chOff x="4580561" y="2589004"/>
            <a:chExt cx="1064464" cy="25200"/>
          </a:xfrm>
        </p:grpSpPr>
        <p:sp>
          <p:nvSpPr>
            <p:cNvPr id="78" name="Google Shape;78;p5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5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50"/>
          <p:cNvSpPr txBox="1"/>
          <p:nvPr>
            <p:ph type="title"/>
          </p:nvPr>
        </p:nvSpPr>
        <p:spPr>
          <a:xfrm>
            <a:off x="727800" y="571925"/>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81" name="Google Shape;81;p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 name="Shape 82"/>
        <p:cNvGrpSpPr/>
        <p:nvPr/>
      </p:nvGrpSpPr>
      <p:grpSpPr>
        <a:xfrm>
          <a:off x="0" y="0"/>
          <a:ext cx="0" cy="0"/>
          <a:chOff x="0" y="0"/>
          <a:chExt cx="0" cy="0"/>
        </a:xfrm>
      </p:grpSpPr>
      <p:sp>
        <p:nvSpPr>
          <p:cNvPr id="83" name="Google Shape;83;p5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 name="Google Shape;84;p51"/>
          <p:cNvGrpSpPr/>
          <p:nvPr/>
        </p:nvGrpSpPr>
        <p:grpSpPr>
          <a:xfrm>
            <a:off x="830392" y="1191256"/>
            <a:ext cx="745763" cy="45826"/>
            <a:chOff x="4580561" y="2589004"/>
            <a:chExt cx="1064464" cy="25200"/>
          </a:xfrm>
        </p:grpSpPr>
        <p:sp>
          <p:nvSpPr>
            <p:cNvPr id="85" name="Google Shape;85;p5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 name="Google Shape;87;p51"/>
          <p:cNvSpPr txBox="1"/>
          <p:nvPr>
            <p:ph type="title"/>
          </p:nvPr>
        </p:nvSpPr>
        <p:spPr>
          <a:xfrm>
            <a:off x="721225" y="523413"/>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88" name="Google Shape;88;p51"/>
          <p:cNvSpPr txBox="1"/>
          <p:nvPr>
            <p:ph idx="1" type="body"/>
          </p:nvPr>
        </p:nvSpPr>
        <p:spPr>
          <a:xfrm>
            <a:off x="721225" y="1452775"/>
            <a:ext cx="3300900" cy="2926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89" name="Google Shape;89;p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90" name="Shape 90"/>
        <p:cNvGrpSpPr/>
        <p:nvPr/>
      </p:nvGrpSpPr>
      <p:grpSpPr>
        <a:xfrm>
          <a:off x="0" y="0"/>
          <a:ext cx="0" cy="0"/>
          <a:chOff x="0" y="0"/>
          <a:chExt cx="0" cy="0"/>
        </a:xfrm>
      </p:grpSpPr>
      <p:grpSp>
        <p:nvGrpSpPr>
          <p:cNvPr id="91" name="Google Shape;91;p52"/>
          <p:cNvGrpSpPr/>
          <p:nvPr/>
        </p:nvGrpSpPr>
        <p:grpSpPr>
          <a:xfrm>
            <a:off x="830392" y="4169130"/>
            <a:ext cx="745763" cy="45826"/>
            <a:chOff x="4580561" y="2589004"/>
            <a:chExt cx="1064464" cy="25200"/>
          </a:xfrm>
        </p:grpSpPr>
        <p:sp>
          <p:nvSpPr>
            <p:cNvPr id="92" name="Google Shape;92;p5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4" name="Google Shape;94;p5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95" name="Google Shape;95;p5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6" name="Shape 96"/>
        <p:cNvGrpSpPr/>
        <p:nvPr/>
      </p:nvGrpSpPr>
      <p:grpSpPr>
        <a:xfrm>
          <a:off x="0" y="0"/>
          <a:ext cx="0" cy="0"/>
          <a:chOff x="0" y="0"/>
          <a:chExt cx="0" cy="0"/>
        </a:xfrm>
      </p:grpSpPr>
      <p:sp>
        <p:nvSpPr>
          <p:cNvPr id="97" name="Google Shape;97;p53"/>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98" name="Google Shape;98;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99" name="Shape 99"/>
        <p:cNvGrpSpPr/>
        <p:nvPr/>
      </p:nvGrpSpPr>
      <p:grpSpPr>
        <a:xfrm>
          <a:off x="0" y="0"/>
          <a:ext cx="0" cy="0"/>
          <a:chOff x="0" y="0"/>
          <a:chExt cx="0" cy="0"/>
        </a:xfrm>
      </p:grpSpPr>
      <p:grpSp>
        <p:nvGrpSpPr>
          <p:cNvPr id="100" name="Google Shape;100;p54"/>
          <p:cNvGrpSpPr/>
          <p:nvPr/>
        </p:nvGrpSpPr>
        <p:grpSpPr>
          <a:xfrm>
            <a:off x="830392" y="4169130"/>
            <a:ext cx="745763" cy="45826"/>
            <a:chOff x="4580561" y="2589004"/>
            <a:chExt cx="1064464" cy="25200"/>
          </a:xfrm>
        </p:grpSpPr>
        <p:sp>
          <p:nvSpPr>
            <p:cNvPr id="101" name="Google Shape;101;p5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54"/>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Font typeface="Lato"/>
              <a:buNone/>
              <a:defRPr sz="80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104" name="Google Shape;104;p54"/>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105" name="Google Shape;105;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6" name="Shape 106"/>
        <p:cNvGrpSpPr/>
        <p:nvPr/>
      </p:nvGrpSpPr>
      <p:grpSpPr>
        <a:xfrm>
          <a:off x="0" y="0"/>
          <a:ext cx="0" cy="0"/>
          <a:chOff x="0" y="0"/>
          <a:chExt cx="0" cy="0"/>
        </a:xfrm>
      </p:grpSpPr>
      <p:sp>
        <p:nvSpPr>
          <p:cNvPr id="107" name="Google Shape;107;p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google.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6.jpg"/><Relationship Id="rId4" Type="http://schemas.openxmlformats.org/officeDocument/2006/relationships/hyperlink" Target="https://knowyourmeme.com/memes/i-love-seeing-people-smile-at-their-phones-in-public"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11.png"/><Relationship Id="rId7"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hyperlink" Target="https://www.vcelink.com/blogs/focus/rj45-connector-10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hyperlink" Target="https://skillsforall.com/course/getting-started-cisco-packet-tracer" TargetMode="External"/><Relationship Id="rId4" Type="http://schemas.openxmlformats.org/officeDocument/2006/relationships/hyperlink" Target="https://skillsforall.com/course/exploring-networking-cisco-packet-tracer?courseLang=en-US" TargetMode="External"/><Relationship Id="rId5" Type="http://schemas.openxmlformats.org/officeDocument/2006/relationships/hyperlink" Target="https://skillsforall.com/course/exploring-iot-cisco-packet-tracer?courseLang=en-US" TargetMode="External"/><Relationship Id="rId6" Type="http://schemas.openxmlformats.org/officeDocument/2006/relationships/hyperlink" Target="https://skillsforall.com/career-path/network-technician?courseLang=en-U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hyperlink" Target="https://forms.gle/6q2tuByroaan8kWH8" TargetMode="External"/><Relationship Id="rId4" Type="http://schemas.openxmlformats.org/officeDocument/2006/relationships/hyperlink" Target="https://forms.gle/6q2tuByroaan8kWH8" TargetMode="External"/><Relationship Id="rId5"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l"/>
              <a:t>Fundamentals of Networks and Security</a:t>
            </a:r>
            <a:endParaRPr/>
          </a:p>
        </p:txBody>
      </p:sp>
      <p:sp>
        <p:nvSpPr>
          <p:cNvPr id="113" name="Google Shape;113;p1"/>
          <p:cNvSpPr txBox="1"/>
          <p:nvPr>
            <p:ph idx="1" type="subTitle"/>
          </p:nvPr>
        </p:nvSpPr>
        <p:spPr>
          <a:xfrm>
            <a:off x="729625" y="3172900"/>
            <a:ext cx="7688100" cy="828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l"/>
              <a:t>Vassilis Markos</a:t>
            </a:r>
            <a:endParaRPr/>
          </a:p>
          <a:p>
            <a:pPr indent="0" lvl="0" marL="0" rtl="0" algn="l">
              <a:lnSpc>
                <a:spcPct val="100000"/>
              </a:lnSpc>
              <a:spcBef>
                <a:spcPts val="0"/>
              </a:spcBef>
              <a:spcAft>
                <a:spcPts val="0"/>
              </a:spcAft>
              <a:buSzPts val="1600"/>
              <a:buNone/>
            </a:pPr>
            <a:r>
              <a:rPr lang="el"/>
              <a:t>Mediterranean College</a:t>
            </a:r>
            <a:endParaRPr/>
          </a:p>
        </p:txBody>
      </p:sp>
      <p:sp>
        <p:nvSpPr>
          <p:cNvPr id="114" name="Google Shape;114;p1"/>
          <p:cNvSpPr txBox="1"/>
          <p:nvPr/>
        </p:nvSpPr>
        <p:spPr>
          <a:xfrm>
            <a:off x="6029600" y="4001275"/>
            <a:ext cx="2388000" cy="616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ato"/>
              <a:ea typeface="Lato"/>
              <a:cs typeface="Lato"/>
              <a:sym typeface="Lato"/>
            </a:endParaRPr>
          </a:p>
        </p:txBody>
      </p:sp>
      <p:sp>
        <p:nvSpPr>
          <p:cNvPr id="115" name="Google Shape;115;p1"/>
          <p:cNvSpPr txBox="1"/>
          <p:nvPr>
            <p:ph idx="2" type="subTitle"/>
          </p:nvPr>
        </p:nvSpPr>
        <p:spPr>
          <a:xfrm>
            <a:off x="6057025" y="3821800"/>
            <a:ext cx="2360700" cy="1121700"/>
          </a:xfrm>
          <a:prstGeom prst="rect">
            <a:avLst/>
          </a:prstGeom>
          <a:noFill/>
          <a:ln>
            <a:noFill/>
          </a:ln>
        </p:spPr>
        <p:txBody>
          <a:bodyPr anchorCtr="0" anchor="t" bIns="91425" lIns="91425" spcFirstLastPara="1" rIns="91425" wrap="square" tIns="91425">
            <a:normAutofit/>
          </a:bodyPr>
          <a:lstStyle/>
          <a:p>
            <a:pPr indent="0" lvl="0" marL="0" rtl="0" algn="r">
              <a:lnSpc>
                <a:spcPct val="115000"/>
              </a:lnSpc>
              <a:spcBef>
                <a:spcPts val="0"/>
              </a:spcBef>
              <a:spcAft>
                <a:spcPts val="1200"/>
              </a:spcAft>
              <a:buSzPts val="1300"/>
              <a:buNone/>
            </a:pPr>
            <a:r>
              <a:rPr lang="el"/>
              <a:t>Week 06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A Quick Revision</a:t>
            </a:r>
            <a:endParaRPr/>
          </a:p>
        </p:txBody>
      </p:sp>
      <p:sp>
        <p:nvSpPr>
          <p:cNvPr id="121" name="Google Shape;121;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time…1 / n</a:t>
            </a:r>
            <a:endParaRPr/>
          </a:p>
        </p:txBody>
      </p:sp>
      <p:sp>
        <p:nvSpPr>
          <p:cNvPr id="127" name="Google Shape;127;p3"/>
          <p:cNvSpPr txBox="1"/>
          <p:nvPr>
            <p:ph idx="1" type="body"/>
          </p:nvPr>
        </p:nvSpPr>
        <p:spPr>
          <a:xfrm>
            <a:off x="729450" y="1378000"/>
            <a:ext cx="7688700" cy="3702900"/>
          </a:xfrm>
          <a:prstGeom prst="rect">
            <a:avLst/>
          </a:prstGeom>
          <a:noFill/>
          <a:ln>
            <a:noFill/>
          </a:ln>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Char char="●"/>
            </a:pPr>
            <a:r>
              <a:rPr b="1" lang="el"/>
              <a:t>Name some network design principles.</a:t>
            </a:r>
            <a:endParaRPr b="1"/>
          </a:p>
          <a:p>
            <a:pPr indent="0" lvl="0" marL="0" rtl="0" algn="l">
              <a:lnSpc>
                <a:spcPct val="115000"/>
              </a:lnSpc>
              <a:spcBef>
                <a:spcPts val="1200"/>
              </a:spcBef>
              <a:spcAft>
                <a:spcPts val="0"/>
              </a:spcAft>
              <a:buSzPts val="1600"/>
              <a:buNone/>
            </a:pPr>
            <a:r>
              <a:rPr lang="el"/>
              <a:t>	Good Network Design Principles:</a:t>
            </a:r>
            <a:endParaRPr/>
          </a:p>
          <a:p>
            <a:pPr indent="-330200" lvl="0" marL="914400" rtl="0" algn="l">
              <a:lnSpc>
                <a:spcPct val="115000"/>
              </a:lnSpc>
              <a:spcBef>
                <a:spcPts val="1200"/>
              </a:spcBef>
              <a:spcAft>
                <a:spcPts val="0"/>
              </a:spcAft>
              <a:buSzPts val="1600"/>
              <a:buChar char="○"/>
            </a:pPr>
            <a:r>
              <a:rPr lang="el"/>
              <a:t>Internal accessibility (you should have access to any device you need to)</a:t>
            </a:r>
            <a:endParaRPr/>
          </a:p>
          <a:p>
            <a:pPr indent="-330200" lvl="0" marL="914400" rtl="0" algn="l">
              <a:lnSpc>
                <a:spcPct val="115000"/>
              </a:lnSpc>
              <a:spcBef>
                <a:spcPts val="0"/>
              </a:spcBef>
              <a:spcAft>
                <a:spcPts val="0"/>
              </a:spcAft>
              <a:buSzPts val="1600"/>
              <a:buChar char="○"/>
            </a:pPr>
            <a:r>
              <a:rPr lang="el"/>
              <a:t>External access (see and show what you should from / to the world)</a:t>
            </a:r>
            <a:endParaRPr/>
          </a:p>
          <a:p>
            <a:pPr indent="-330200" lvl="0" marL="914400" rtl="0" algn="l">
              <a:lnSpc>
                <a:spcPct val="115000"/>
              </a:lnSpc>
              <a:spcBef>
                <a:spcPts val="0"/>
              </a:spcBef>
              <a:spcAft>
                <a:spcPts val="0"/>
              </a:spcAft>
              <a:buSzPts val="1600"/>
              <a:buChar char="○"/>
            </a:pPr>
            <a:r>
              <a:rPr lang="el"/>
              <a:t>Logical security (take care of security at the design level of the network)</a:t>
            </a:r>
            <a:endParaRPr/>
          </a:p>
          <a:p>
            <a:pPr indent="-330200" lvl="0" marL="914400" rtl="0" algn="l">
              <a:lnSpc>
                <a:spcPct val="115000"/>
              </a:lnSpc>
              <a:spcBef>
                <a:spcPts val="0"/>
              </a:spcBef>
              <a:spcAft>
                <a:spcPts val="0"/>
              </a:spcAft>
              <a:buSzPts val="1600"/>
              <a:buChar char="○"/>
            </a:pPr>
            <a:r>
              <a:rPr lang="el"/>
              <a:t>Physical security (remember those firewalls?)</a:t>
            </a:r>
            <a:endParaRPr/>
          </a:p>
          <a:p>
            <a:pPr indent="-330200" lvl="0" marL="914400" rtl="0" algn="l">
              <a:lnSpc>
                <a:spcPct val="115000"/>
              </a:lnSpc>
              <a:spcBef>
                <a:spcPts val="0"/>
              </a:spcBef>
              <a:spcAft>
                <a:spcPts val="0"/>
              </a:spcAft>
              <a:buSzPts val="1600"/>
              <a:buChar char="○"/>
            </a:pPr>
            <a:r>
              <a:rPr lang="el"/>
              <a:t>High transfer speed / minimal delays (</a:t>
            </a:r>
            <a:r>
              <a:rPr lang="el" u="sng">
                <a:solidFill>
                  <a:schemeClr val="accent5"/>
                </a:solidFill>
                <a:hlinkClick r:id="rId3">
                  <a:extLst>
                    <a:ext uri="{A12FA001-AC4F-418D-AE19-62706E023703}">
                      <ahyp:hlinkClr val="tx"/>
                    </a:ext>
                  </a:extLst>
                </a:hlinkClick>
              </a:rPr>
              <a:t>www.google.com</a:t>
            </a:r>
            <a:r>
              <a:rPr lang="el"/>
              <a:t> should load instantly)</a:t>
            </a:r>
            <a:endParaRPr/>
          </a:p>
          <a:p>
            <a:pPr indent="-330200" lvl="0" marL="914400" rtl="0" algn="l">
              <a:lnSpc>
                <a:spcPct val="115000"/>
              </a:lnSpc>
              <a:spcBef>
                <a:spcPts val="0"/>
              </a:spcBef>
              <a:spcAft>
                <a:spcPts val="0"/>
              </a:spcAft>
              <a:buSzPts val="1600"/>
              <a:buChar char="○"/>
            </a:pPr>
            <a:r>
              <a:rPr lang="el"/>
              <a:t>Reliability and Resilience (you should not fear that you will get disconnected every time the clock ticks)</a:t>
            </a:r>
            <a:endParaRPr/>
          </a:p>
          <a:p>
            <a:pPr indent="-330200" lvl="0" marL="914400" rtl="0" algn="l">
              <a:lnSpc>
                <a:spcPct val="115000"/>
              </a:lnSpc>
              <a:spcBef>
                <a:spcPts val="0"/>
              </a:spcBef>
              <a:spcAft>
                <a:spcPts val="0"/>
              </a:spcAft>
              <a:buSzPts val="1600"/>
              <a:buChar char="○"/>
            </a:pPr>
            <a:r>
              <a:rPr lang="el"/>
              <a:t>Adaptable to extensions / future needs (you should not build a network only for today)</a:t>
            </a:r>
            <a:endParaRPr/>
          </a:p>
        </p:txBody>
      </p:sp>
      <p:sp>
        <p:nvSpPr>
          <p:cNvPr id="128" name="Google Shape;128;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time…2 / n</a:t>
            </a:r>
            <a:endParaRPr/>
          </a:p>
        </p:txBody>
      </p:sp>
      <p:sp>
        <p:nvSpPr>
          <p:cNvPr id="134" name="Google Shape;134;p4"/>
          <p:cNvSpPr txBox="1"/>
          <p:nvPr>
            <p:ph idx="1" type="body"/>
          </p:nvPr>
        </p:nvSpPr>
        <p:spPr>
          <a:xfrm>
            <a:off x="729450" y="1378000"/>
            <a:ext cx="7688700" cy="36303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is network topology?</a:t>
            </a:r>
            <a:endParaRPr b="1"/>
          </a:p>
          <a:p>
            <a:pPr indent="0" lvl="0" marL="457200" rtl="0" algn="l">
              <a:lnSpc>
                <a:spcPct val="115000"/>
              </a:lnSpc>
              <a:spcBef>
                <a:spcPts val="1200"/>
              </a:spcBef>
              <a:spcAft>
                <a:spcPts val="0"/>
              </a:spcAft>
              <a:buSzPts val="1600"/>
              <a:buNone/>
            </a:pPr>
            <a:r>
              <a:rPr lang="el"/>
              <a:t>Network Topology is the arrangement of the elements (links, nodes, etc.) of a communication network.</a:t>
            </a:r>
            <a:endParaRPr/>
          </a:p>
          <a:p>
            <a:pPr indent="-330200" lvl="0" marL="457200" rtl="0" algn="l">
              <a:lnSpc>
                <a:spcPct val="115000"/>
              </a:lnSpc>
              <a:spcBef>
                <a:spcPts val="1200"/>
              </a:spcBef>
              <a:spcAft>
                <a:spcPts val="0"/>
              </a:spcAft>
              <a:buSzPts val="1600"/>
              <a:buChar char="●"/>
            </a:pPr>
            <a:r>
              <a:rPr b="1" lang="el"/>
              <a:t>Name some popular network topologies.</a:t>
            </a:r>
            <a:endParaRPr b="1"/>
          </a:p>
          <a:p>
            <a:pPr indent="0" lvl="0" marL="0" rtl="0" algn="l">
              <a:lnSpc>
                <a:spcPct val="115000"/>
              </a:lnSpc>
              <a:spcBef>
                <a:spcPts val="1200"/>
              </a:spcBef>
              <a:spcAft>
                <a:spcPts val="0"/>
              </a:spcAft>
              <a:buSzPts val="1600"/>
              <a:buNone/>
            </a:pPr>
            <a:r>
              <a:rPr lang="el"/>
              <a:t>	Some topologies:</a:t>
            </a:r>
            <a:endParaRPr/>
          </a:p>
          <a:p>
            <a:pPr indent="-330200" lvl="0" marL="914400" rtl="0" algn="l">
              <a:lnSpc>
                <a:spcPct val="115000"/>
              </a:lnSpc>
              <a:spcBef>
                <a:spcPts val="1200"/>
              </a:spcBef>
              <a:spcAft>
                <a:spcPts val="0"/>
              </a:spcAft>
              <a:buSzPts val="1600"/>
              <a:buChar char="○"/>
            </a:pPr>
            <a:r>
              <a:rPr lang="el"/>
              <a:t>Star → Popular, reliable.</a:t>
            </a:r>
            <a:endParaRPr/>
          </a:p>
          <a:p>
            <a:pPr indent="-330200" lvl="0" marL="914400" rtl="0" algn="l">
              <a:lnSpc>
                <a:spcPct val="115000"/>
              </a:lnSpc>
              <a:spcBef>
                <a:spcPts val="0"/>
              </a:spcBef>
              <a:spcAft>
                <a:spcPts val="0"/>
              </a:spcAft>
              <a:buSzPts val="1600"/>
              <a:buChar char="○"/>
            </a:pPr>
            <a:r>
              <a:rPr lang="el"/>
              <a:t>Ring → Somewhat unreliable.</a:t>
            </a:r>
            <a:endParaRPr/>
          </a:p>
          <a:p>
            <a:pPr indent="-330200" lvl="0" marL="914400" rtl="0" algn="l">
              <a:lnSpc>
                <a:spcPct val="115000"/>
              </a:lnSpc>
              <a:spcBef>
                <a:spcPts val="0"/>
              </a:spcBef>
              <a:spcAft>
                <a:spcPts val="0"/>
              </a:spcAft>
              <a:buSzPts val="1600"/>
              <a:buChar char="○"/>
            </a:pPr>
            <a:r>
              <a:rPr lang="el"/>
              <a:t>Bus → Cheap, easy to get bus-y (?)</a:t>
            </a:r>
            <a:endParaRPr/>
          </a:p>
          <a:p>
            <a:pPr indent="-330200" lvl="0" marL="914400" rtl="0" algn="l">
              <a:lnSpc>
                <a:spcPct val="115000"/>
              </a:lnSpc>
              <a:spcBef>
                <a:spcPts val="0"/>
              </a:spcBef>
              <a:spcAft>
                <a:spcPts val="0"/>
              </a:spcAft>
              <a:buSzPts val="1600"/>
              <a:buChar char="○"/>
            </a:pPr>
            <a:r>
              <a:rPr lang="el"/>
              <a:t>Wireless (like bus)</a:t>
            </a:r>
            <a:endParaRPr/>
          </a:p>
        </p:txBody>
      </p:sp>
      <p:sp>
        <p:nvSpPr>
          <p:cNvPr id="135" name="Google Shape;135;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time…3 / n</a:t>
            </a:r>
            <a:endParaRPr/>
          </a:p>
        </p:txBody>
      </p:sp>
      <p:sp>
        <p:nvSpPr>
          <p:cNvPr id="141" name="Google Shape;141;p5"/>
          <p:cNvSpPr txBox="1"/>
          <p:nvPr>
            <p:ph idx="1" type="body"/>
          </p:nvPr>
        </p:nvSpPr>
        <p:spPr>
          <a:xfrm>
            <a:off x="729450" y="1378000"/>
            <a:ext cx="7688700" cy="36393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is a collision domain?</a:t>
            </a:r>
            <a:endParaRPr/>
          </a:p>
          <a:p>
            <a:pPr indent="0" lvl="0" marL="457200" rtl="0" algn="l">
              <a:lnSpc>
                <a:spcPct val="115000"/>
              </a:lnSpc>
              <a:spcBef>
                <a:spcPts val="1200"/>
              </a:spcBef>
              <a:spcAft>
                <a:spcPts val="0"/>
              </a:spcAft>
              <a:buSzPts val="1600"/>
              <a:buNone/>
            </a:pPr>
            <a:r>
              <a:rPr lang="el"/>
              <a:t>A Collision Domain is the LAN part (segment) where devices must compete to communicate.</a:t>
            </a:r>
            <a:endParaRPr/>
          </a:p>
          <a:p>
            <a:pPr indent="-330200" lvl="0" marL="457200" rtl="0" algn="l">
              <a:lnSpc>
                <a:spcPct val="115000"/>
              </a:lnSpc>
              <a:spcBef>
                <a:spcPts val="1200"/>
              </a:spcBef>
              <a:spcAft>
                <a:spcPts val="0"/>
              </a:spcAft>
              <a:buSzPts val="1600"/>
              <a:buChar char="●"/>
            </a:pPr>
            <a:r>
              <a:rPr b="1" lang="el"/>
              <a:t>What is a broadcast domain?</a:t>
            </a:r>
            <a:endParaRPr b="1"/>
          </a:p>
          <a:p>
            <a:pPr indent="0" lvl="0" marL="0" rtl="0" algn="l">
              <a:lnSpc>
                <a:spcPct val="115000"/>
              </a:lnSpc>
              <a:spcBef>
                <a:spcPts val="1200"/>
              </a:spcBef>
              <a:spcAft>
                <a:spcPts val="0"/>
              </a:spcAft>
              <a:buSzPts val="1600"/>
              <a:buNone/>
            </a:pPr>
            <a:r>
              <a:rPr lang="el"/>
              <a:t>	The part of the network where a message can be “heard”.</a:t>
            </a:r>
            <a:endParaRPr/>
          </a:p>
          <a:p>
            <a:pPr indent="-330200" lvl="0" marL="457200" rtl="0" algn="l">
              <a:lnSpc>
                <a:spcPct val="115000"/>
              </a:lnSpc>
              <a:spcBef>
                <a:spcPts val="1200"/>
              </a:spcBef>
              <a:spcAft>
                <a:spcPts val="0"/>
              </a:spcAft>
              <a:buSzPts val="1600"/>
              <a:buChar char="●"/>
            </a:pPr>
            <a:r>
              <a:rPr b="1" lang="el"/>
              <a:t>Right or Wrong? Switches create one collision domain and multiple broadcast domains.</a:t>
            </a:r>
            <a:endParaRPr b="1"/>
          </a:p>
          <a:p>
            <a:pPr indent="0" lvl="0" marL="457200" rtl="0" algn="l">
              <a:lnSpc>
                <a:spcPct val="115000"/>
              </a:lnSpc>
              <a:spcBef>
                <a:spcPts val="1200"/>
              </a:spcBef>
              <a:spcAft>
                <a:spcPts val="1200"/>
              </a:spcAft>
              <a:buSzPts val="1600"/>
              <a:buNone/>
            </a:pPr>
            <a:r>
              <a:rPr lang="el"/>
              <a:t>Wrong. Switches split the collision domain to each port and a single broadcast domain.</a:t>
            </a:r>
            <a:endParaRPr/>
          </a:p>
        </p:txBody>
      </p:sp>
      <p:sp>
        <p:nvSpPr>
          <p:cNvPr id="142" name="Google Shape;142;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 4 / n</a:t>
            </a:r>
            <a:endParaRPr/>
          </a:p>
        </p:txBody>
      </p:sp>
      <p:sp>
        <p:nvSpPr>
          <p:cNvPr id="148" name="Google Shape;148;p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would you consider when looking for network devices?</a:t>
            </a:r>
            <a:endParaRPr b="1"/>
          </a:p>
          <a:p>
            <a:pPr indent="457200" lvl="0" marL="0" rtl="0" algn="l">
              <a:lnSpc>
                <a:spcPct val="115000"/>
              </a:lnSpc>
              <a:spcBef>
                <a:spcPts val="1200"/>
              </a:spcBef>
              <a:spcAft>
                <a:spcPts val="0"/>
              </a:spcAft>
              <a:buSzPts val="1600"/>
              <a:buNone/>
            </a:pPr>
            <a:r>
              <a:rPr lang="el"/>
              <a:t>Indicatively:</a:t>
            </a:r>
            <a:endParaRPr/>
          </a:p>
          <a:p>
            <a:pPr indent="-330200" lvl="0" marL="914400" rtl="0" algn="l">
              <a:lnSpc>
                <a:spcPct val="115000"/>
              </a:lnSpc>
              <a:spcBef>
                <a:spcPts val="1200"/>
              </a:spcBef>
              <a:spcAft>
                <a:spcPts val="0"/>
              </a:spcAft>
              <a:buSzPts val="1600"/>
              <a:buChar char="○"/>
            </a:pPr>
            <a:r>
              <a:rPr lang="el"/>
              <a:t>Cost</a:t>
            </a:r>
            <a:endParaRPr/>
          </a:p>
          <a:p>
            <a:pPr indent="-330200" lvl="0" marL="914400" rtl="0" algn="l">
              <a:lnSpc>
                <a:spcPct val="115000"/>
              </a:lnSpc>
              <a:spcBef>
                <a:spcPts val="0"/>
              </a:spcBef>
              <a:spcAft>
                <a:spcPts val="0"/>
              </a:spcAft>
              <a:buSzPts val="1600"/>
              <a:buChar char="○"/>
            </a:pPr>
            <a:r>
              <a:rPr lang="el"/>
              <a:t>Connectivity (e.g., number of ports)</a:t>
            </a:r>
            <a:endParaRPr/>
          </a:p>
          <a:p>
            <a:pPr indent="-330200" lvl="0" marL="914400" rtl="0" algn="l">
              <a:lnSpc>
                <a:spcPct val="115000"/>
              </a:lnSpc>
              <a:spcBef>
                <a:spcPts val="0"/>
              </a:spcBef>
              <a:spcAft>
                <a:spcPts val="0"/>
              </a:spcAft>
              <a:buSzPts val="1600"/>
              <a:buChar char="○"/>
            </a:pPr>
            <a:r>
              <a:rPr lang="el"/>
              <a:t>Network speed (hopefully better than your current equipment)</a:t>
            </a:r>
            <a:endParaRPr/>
          </a:p>
          <a:p>
            <a:pPr indent="-330200" lvl="0" marL="914400" rtl="0" algn="l">
              <a:lnSpc>
                <a:spcPct val="115000"/>
              </a:lnSpc>
              <a:spcBef>
                <a:spcPts val="0"/>
              </a:spcBef>
              <a:spcAft>
                <a:spcPts val="0"/>
              </a:spcAft>
              <a:buSzPts val="1600"/>
              <a:buChar char="○"/>
            </a:pPr>
            <a:r>
              <a:rPr lang="el"/>
              <a:t>The future (Is it expandable? Easy to maintain?)</a:t>
            </a:r>
            <a:endParaRPr/>
          </a:p>
          <a:p>
            <a:pPr indent="-330200" lvl="0" marL="914400" rtl="0" algn="l">
              <a:lnSpc>
                <a:spcPct val="115000"/>
              </a:lnSpc>
              <a:spcBef>
                <a:spcPts val="0"/>
              </a:spcBef>
              <a:spcAft>
                <a:spcPts val="0"/>
              </a:spcAft>
              <a:buSzPts val="1600"/>
              <a:buChar char="○"/>
            </a:pPr>
            <a:r>
              <a:rPr lang="el"/>
              <a:t>Comprehension (Can you understand how to use it? Can your colleagues?)</a:t>
            </a:r>
            <a:endParaRPr/>
          </a:p>
        </p:txBody>
      </p:sp>
      <p:sp>
        <p:nvSpPr>
          <p:cNvPr id="149" name="Google Shape;149;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 5 / n</a:t>
            </a:r>
            <a:endParaRPr/>
          </a:p>
        </p:txBody>
      </p:sp>
      <p:sp>
        <p:nvSpPr>
          <p:cNvPr id="155" name="Google Shape;155;p7"/>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lnSpcReduction="20000"/>
          </a:bodyPr>
          <a:lstStyle/>
          <a:p>
            <a:pPr indent="-330200" lvl="0" marL="457200" rtl="0" algn="l">
              <a:lnSpc>
                <a:spcPct val="115000"/>
              </a:lnSpc>
              <a:spcBef>
                <a:spcPts val="0"/>
              </a:spcBef>
              <a:spcAft>
                <a:spcPts val="0"/>
              </a:spcAft>
              <a:buSzPts val="1600"/>
              <a:buChar char="●"/>
            </a:pPr>
            <a:r>
              <a:rPr b="1" lang="el"/>
              <a:t>What are Single Points of Failure?</a:t>
            </a:r>
            <a:endParaRPr b="1"/>
          </a:p>
          <a:p>
            <a:pPr indent="0" lvl="0" marL="0" rtl="0" algn="l">
              <a:lnSpc>
                <a:spcPct val="115000"/>
              </a:lnSpc>
              <a:spcBef>
                <a:spcPts val="1200"/>
              </a:spcBef>
              <a:spcAft>
                <a:spcPts val="0"/>
              </a:spcAft>
              <a:buSzPts val="1600"/>
              <a:buNone/>
            </a:pPr>
            <a:r>
              <a:rPr lang="el"/>
              <a:t>	Parts of the network that if a failure occurs you have no back-up plan.</a:t>
            </a:r>
            <a:endParaRPr/>
          </a:p>
          <a:p>
            <a:pPr indent="-330200" lvl="0" marL="457200" rtl="0" algn="l">
              <a:lnSpc>
                <a:spcPct val="115000"/>
              </a:lnSpc>
              <a:spcBef>
                <a:spcPts val="1200"/>
              </a:spcBef>
              <a:spcAft>
                <a:spcPts val="0"/>
              </a:spcAft>
              <a:buSzPts val="1600"/>
              <a:buChar char="●"/>
            </a:pPr>
            <a:r>
              <a:rPr b="1" lang="el"/>
              <a:t>How to address SPF?</a:t>
            </a:r>
            <a:endParaRPr/>
          </a:p>
          <a:p>
            <a:pPr indent="0" lvl="0" marL="457200" rtl="0" algn="l">
              <a:lnSpc>
                <a:spcPct val="115000"/>
              </a:lnSpc>
              <a:spcBef>
                <a:spcPts val="1200"/>
              </a:spcBef>
              <a:spcAft>
                <a:spcPts val="0"/>
              </a:spcAft>
              <a:buSzPts val="1600"/>
              <a:buNone/>
            </a:pPr>
            <a:r>
              <a:rPr lang="el"/>
              <a:t>Introducing redundancies to network links and parts, i.e., by using back-up plans.</a:t>
            </a:r>
            <a:endParaRPr/>
          </a:p>
          <a:p>
            <a:pPr indent="-330200" lvl="0" marL="457200" rtl="0" algn="l">
              <a:lnSpc>
                <a:spcPct val="115000"/>
              </a:lnSpc>
              <a:spcBef>
                <a:spcPts val="1200"/>
              </a:spcBef>
              <a:spcAft>
                <a:spcPts val="0"/>
              </a:spcAft>
              <a:buSzPts val="1600"/>
              <a:buChar char="●"/>
            </a:pPr>
            <a:r>
              <a:rPr b="1" lang="el"/>
              <a:t>What do Firewalls filter?</a:t>
            </a:r>
            <a:endParaRPr b="1"/>
          </a:p>
          <a:p>
            <a:pPr indent="0" lvl="0" marL="0" rtl="0" algn="l">
              <a:lnSpc>
                <a:spcPct val="115000"/>
              </a:lnSpc>
              <a:spcBef>
                <a:spcPts val="1200"/>
              </a:spcBef>
              <a:spcAft>
                <a:spcPts val="0"/>
              </a:spcAft>
              <a:buSzPts val="1600"/>
              <a:buNone/>
            </a:pPr>
            <a:r>
              <a:rPr lang="el"/>
              <a:t>	Some examples:</a:t>
            </a:r>
            <a:endParaRPr/>
          </a:p>
          <a:p>
            <a:pPr indent="-330200" lvl="0" marL="914400" rtl="0" algn="l">
              <a:lnSpc>
                <a:spcPct val="115000"/>
              </a:lnSpc>
              <a:spcBef>
                <a:spcPts val="1200"/>
              </a:spcBef>
              <a:spcAft>
                <a:spcPts val="0"/>
              </a:spcAft>
              <a:buSzPts val="1600"/>
              <a:buChar char="○"/>
            </a:pPr>
            <a:r>
              <a:rPr lang="el"/>
              <a:t>packets, e.g., Stateful Packet Inspection (SPI): incoming packets must correspond to some request,</a:t>
            </a:r>
            <a:endParaRPr/>
          </a:p>
          <a:p>
            <a:pPr indent="-330200" lvl="1" marL="914400" rtl="0" algn="l">
              <a:lnSpc>
                <a:spcPct val="115000"/>
              </a:lnSpc>
              <a:spcBef>
                <a:spcPts val="0"/>
              </a:spcBef>
              <a:spcAft>
                <a:spcPts val="0"/>
              </a:spcAft>
              <a:buSzPts val="1600"/>
              <a:buChar char="○"/>
            </a:pPr>
            <a:r>
              <a:rPr lang="el"/>
              <a:t>applications, e.g., your typical OS Firewall,</a:t>
            </a:r>
            <a:endParaRPr/>
          </a:p>
          <a:p>
            <a:pPr indent="-330200" lvl="1" marL="914400" rtl="0" algn="l">
              <a:lnSpc>
                <a:spcPct val="115000"/>
              </a:lnSpc>
              <a:spcBef>
                <a:spcPts val="0"/>
              </a:spcBef>
              <a:spcAft>
                <a:spcPts val="0"/>
              </a:spcAft>
              <a:buSzPts val="1600"/>
              <a:buChar char="○"/>
            </a:pPr>
            <a:r>
              <a:rPr lang="el"/>
              <a:t>URL</a:t>
            </a:r>
            <a:endParaRPr/>
          </a:p>
        </p:txBody>
      </p:sp>
      <p:sp>
        <p:nvSpPr>
          <p:cNvPr id="156" name="Google Shape;156;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 6 / n</a:t>
            </a:r>
            <a:endParaRPr/>
          </a:p>
        </p:txBody>
      </p:sp>
      <p:sp>
        <p:nvSpPr>
          <p:cNvPr id="162" name="Google Shape;162;p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are the three layers of the Hierarchical Network Design?</a:t>
            </a:r>
            <a:endParaRPr/>
          </a:p>
          <a:p>
            <a:pPr indent="0" lvl="0" marL="0" rtl="0" algn="l">
              <a:lnSpc>
                <a:spcPct val="115000"/>
              </a:lnSpc>
              <a:spcBef>
                <a:spcPts val="1200"/>
              </a:spcBef>
              <a:spcAft>
                <a:spcPts val="0"/>
              </a:spcAft>
              <a:buSzPts val="1600"/>
              <a:buNone/>
            </a:pPr>
            <a:r>
              <a:rPr lang="el"/>
              <a:t>	The three layers are:</a:t>
            </a:r>
            <a:endParaRPr/>
          </a:p>
          <a:p>
            <a:pPr indent="-330200" lvl="0" marL="914400" rtl="0" algn="l">
              <a:lnSpc>
                <a:spcPct val="115000"/>
              </a:lnSpc>
              <a:spcBef>
                <a:spcPts val="1200"/>
              </a:spcBef>
              <a:spcAft>
                <a:spcPts val="0"/>
              </a:spcAft>
              <a:buSzPts val="1600"/>
              <a:buChar char="○"/>
            </a:pPr>
            <a:r>
              <a:rPr b="1" lang="el"/>
              <a:t>Access layer:</a:t>
            </a:r>
            <a:r>
              <a:rPr lang="el"/>
              <a:t> User-level access to the network.</a:t>
            </a:r>
            <a:endParaRPr/>
          </a:p>
          <a:p>
            <a:pPr indent="-330200" lvl="0" marL="914400" rtl="0" algn="l">
              <a:lnSpc>
                <a:spcPct val="115000"/>
              </a:lnSpc>
              <a:spcBef>
                <a:spcPts val="0"/>
              </a:spcBef>
              <a:spcAft>
                <a:spcPts val="0"/>
              </a:spcAft>
              <a:buSzPts val="1600"/>
              <a:buChar char="○"/>
            </a:pPr>
            <a:r>
              <a:rPr b="1" lang="el"/>
              <a:t>Distribution layer:</a:t>
            </a:r>
            <a:r>
              <a:rPr lang="el"/>
              <a:t> Policy-based access.</a:t>
            </a:r>
            <a:endParaRPr/>
          </a:p>
          <a:p>
            <a:pPr indent="-330200" lvl="0" marL="914400" rtl="0" algn="l">
              <a:lnSpc>
                <a:spcPct val="115000"/>
              </a:lnSpc>
              <a:spcBef>
                <a:spcPts val="0"/>
              </a:spcBef>
              <a:spcAft>
                <a:spcPts val="0"/>
              </a:spcAft>
              <a:buSzPts val="1600"/>
              <a:buChar char="○"/>
            </a:pPr>
            <a:r>
              <a:rPr b="1" lang="el"/>
              <a:t>Core layer:</a:t>
            </a:r>
            <a:r>
              <a:rPr lang="el"/>
              <a:t> Lower-level access → fast communication between switches.</a:t>
            </a:r>
            <a:endParaRPr/>
          </a:p>
          <a:p>
            <a:pPr indent="-330200" lvl="0" marL="457200" rtl="0" algn="l">
              <a:lnSpc>
                <a:spcPct val="115000"/>
              </a:lnSpc>
              <a:spcBef>
                <a:spcPts val="0"/>
              </a:spcBef>
              <a:spcAft>
                <a:spcPts val="0"/>
              </a:spcAft>
              <a:buSzPts val="1600"/>
              <a:buChar char="●"/>
            </a:pPr>
            <a:r>
              <a:rPr b="1" lang="el"/>
              <a:t>What is the Collapsed Core Layer?</a:t>
            </a:r>
            <a:endParaRPr b="1"/>
          </a:p>
          <a:p>
            <a:pPr indent="0" lvl="0" marL="457200" rtl="0" algn="l">
              <a:lnSpc>
                <a:spcPct val="115000"/>
              </a:lnSpc>
              <a:spcBef>
                <a:spcPts val="1200"/>
              </a:spcBef>
              <a:spcAft>
                <a:spcPts val="1200"/>
              </a:spcAft>
              <a:buSzPts val="1600"/>
              <a:buNone/>
            </a:pPr>
            <a:r>
              <a:rPr lang="el"/>
              <a:t>Often, distribution and core layers are implemented by the same devices, leading to cost reduction without significant losses.</a:t>
            </a:r>
            <a:endParaRPr/>
          </a:p>
        </p:txBody>
      </p:sp>
      <p:sp>
        <p:nvSpPr>
          <p:cNvPr id="163" name="Google Shape;163;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Network Design (revisited)</a:t>
            </a:r>
            <a:endParaRPr/>
          </a:p>
        </p:txBody>
      </p:sp>
      <p:sp>
        <p:nvSpPr>
          <p:cNvPr id="169" name="Google Shape;16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Hierarchical Network Design</a:t>
            </a:r>
            <a:endParaRPr/>
          </a:p>
        </p:txBody>
      </p:sp>
      <p:sp>
        <p:nvSpPr>
          <p:cNvPr id="175" name="Google Shape;175;p10"/>
          <p:cNvSpPr txBox="1"/>
          <p:nvPr>
            <p:ph idx="1" type="body"/>
          </p:nvPr>
        </p:nvSpPr>
        <p:spPr>
          <a:xfrm>
            <a:off x="4572000" y="1378000"/>
            <a:ext cx="38463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Access layer:</a:t>
            </a:r>
            <a:r>
              <a:rPr lang="el"/>
              <a:t> User-level access to the network.</a:t>
            </a:r>
            <a:endParaRPr/>
          </a:p>
          <a:p>
            <a:pPr indent="-330200" lvl="0" marL="457200" rtl="0" algn="l">
              <a:lnSpc>
                <a:spcPct val="115000"/>
              </a:lnSpc>
              <a:spcBef>
                <a:spcPts val="0"/>
              </a:spcBef>
              <a:spcAft>
                <a:spcPts val="0"/>
              </a:spcAft>
              <a:buSzPts val="1600"/>
              <a:buChar char="●"/>
            </a:pPr>
            <a:r>
              <a:rPr b="1" lang="el"/>
              <a:t>Distribution layer:</a:t>
            </a:r>
            <a:r>
              <a:rPr lang="el"/>
              <a:t> Policy-based access.</a:t>
            </a:r>
            <a:endParaRPr/>
          </a:p>
          <a:p>
            <a:pPr indent="-330200" lvl="0" marL="457200" rtl="0" algn="l">
              <a:lnSpc>
                <a:spcPct val="115000"/>
              </a:lnSpc>
              <a:spcBef>
                <a:spcPts val="0"/>
              </a:spcBef>
              <a:spcAft>
                <a:spcPts val="0"/>
              </a:spcAft>
              <a:buSzPts val="1600"/>
              <a:buChar char="●"/>
            </a:pPr>
            <a:r>
              <a:rPr b="1" lang="el"/>
              <a:t>Core layer:</a:t>
            </a:r>
            <a:r>
              <a:rPr lang="el"/>
              <a:t> Lower-level access → fast communication between switches.</a:t>
            </a:r>
            <a:endParaRPr/>
          </a:p>
        </p:txBody>
      </p:sp>
      <p:sp>
        <p:nvSpPr>
          <p:cNvPr id="176" name="Google Shape;176;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177" name="Google Shape;177;p10"/>
          <p:cNvPicPr preferRelativeResize="0"/>
          <p:nvPr/>
        </p:nvPicPr>
        <p:blipFill rotWithShape="1">
          <a:blip r:embed="rId3">
            <a:alphaModFix/>
          </a:blip>
          <a:srcRect b="0" l="0" r="0" t="0"/>
          <a:stretch/>
        </p:blipFill>
        <p:spPr>
          <a:xfrm>
            <a:off x="729450" y="1378000"/>
            <a:ext cx="3642575" cy="3642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Access Layer</a:t>
            </a:r>
            <a:endParaRPr/>
          </a:p>
        </p:txBody>
      </p:sp>
      <p:sp>
        <p:nvSpPr>
          <p:cNvPr id="183" name="Google Shape;183;p11"/>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Layer 2 switches.</a:t>
            </a:r>
            <a:endParaRPr/>
          </a:p>
          <a:p>
            <a:pPr indent="-330200" lvl="0" marL="457200" rtl="0" algn="l">
              <a:lnSpc>
                <a:spcPct val="115000"/>
              </a:lnSpc>
              <a:spcBef>
                <a:spcPts val="0"/>
              </a:spcBef>
              <a:spcAft>
                <a:spcPts val="0"/>
              </a:spcAft>
              <a:buSzPts val="1600"/>
              <a:buChar char="●"/>
            </a:pPr>
            <a:r>
              <a:rPr lang="el"/>
              <a:t>Requirements:</a:t>
            </a:r>
            <a:endParaRPr/>
          </a:p>
          <a:p>
            <a:pPr indent="-330200" lvl="1" marL="914400" rtl="0" algn="l">
              <a:lnSpc>
                <a:spcPct val="115000"/>
              </a:lnSpc>
              <a:spcBef>
                <a:spcPts val="0"/>
              </a:spcBef>
              <a:spcAft>
                <a:spcPts val="0"/>
              </a:spcAft>
              <a:buSzPts val="1600"/>
              <a:buChar char="○"/>
            </a:pPr>
            <a:r>
              <a:rPr lang="el"/>
              <a:t>High availability</a:t>
            </a:r>
            <a:endParaRPr/>
          </a:p>
          <a:p>
            <a:pPr indent="-330200" lvl="1" marL="914400" rtl="0" algn="l">
              <a:lnSpc>
                <a:spcPct val="115000"/>
              </a:lnSpc>
              <a:spcBef>
                <a:spcPts val="0"/>
              </a:spcBef>
              <a:spcAft>
                <a:spcPts val="0"/>
              </a:spcAft>
              <a:buSzPts val="1600"/>
              <a:buChar char="○"/>
            </a:pPr>
            <a:r>
              <a:rPr lang="el"/>
              <a:t>Port security</a:t>
            </a:r>
            <a:endParaRPr/>
          </a:p>
          <a:p>
            <a:pPr indent="-330200" lvl="0" marL="457200" rtl="0" algn="l">
              <a:lnSpc>
                <a:spcPct val="115000"/>
              </a:lnSpc>
              <a:spcBef>
                <a:spcPts val="0"/>
              </a:spcBef>
              <a:spcAft>
                <a:spcPts val="0"/>
              </a:spcAft>
              <a:buSzPts val="1600"/>
              <a:buChar char="●"/>
            </a:pPr>
            <a:r>
              <a:rPr lang="el"/>
              <a:t>How is (electric) power transmitted?</a:t>
            </a:r>
            <a:endParaRPr/>
          </a:p>
          <a:p>
            <a:pPr indent="-330200" lvl="0" marL="457200" rtl="0" algn="l">
              <a:lnSpc>
                <a:spcPct val="115000"/>
              </a:lnSpc>
              <a:spcBef>
                <a:spcPts val="0"/>
              </a:spcBef>
              <a:spcAft>
                <a:spcPts val="0"/>
              </a:spcAft>
              <a:buSzPts val="1600"/>
              <a:buChar char="●"/>
            </a:pPr>
            <a:r>
              <a:rPr b="1" lang="el"/>
              <a:t>Power over Ethernet (PoE):</a:t>
            </a:r>
            <a:r>
              <a:rPr lang="el"/>
              <a:t> Power “travels” through Ethernet twisted-pair cables alongside data.</a:t>
            </a:r>
            <a:endParaRPr/>
          </a:p>
          <a:p>
            <a:pPr indent="-330200" lvl="0" marL="457200" rtl="0" algn="l">
              <a:lnSpc>
                <a:spcPct val="115000"/>
              </a:lnSpc>
              <a:spcBef>
                <a:spcPts val="0"/>
              </a:spcBef>
              <a:spcAft>
                <a:spcPts val="0"/>
              </a:spcAft>
              <a:buSzPts val="1600"/>
              <a:buChar char="●"/>
            </a:pPr>
            <a:r>
              <a:rPr b="1" lang="el"/>
              <a:t>Quality of Service (QoS):</a:t>
            </a:r>
            <a:r>
              <a:rPr lang="el"/>
              <a:t> What is this?</a:t>
            </a:r>
            <a:endParaRPr/>
          </a:p>
          <a:p>
            <a:pPr indent="-330200" lvl="1" marL="914400" rtl="0" algn="l">
              <a:lnSpc>
                <a:spcPct val="115000"/>
              </a:lnSpc>
              <a:spcBef>
                <a:spcPts val="0"/>
              </a:spcBef>
              <a:spcAft>
                <a:spcPts val="0"/>
              </a:spcAft>
              <a:buSzPts val="1600"/>
              <a:buChar char="○"/>
            </a:pPr>
            <a:r>
              <a:rPr lang="el"/>
              <a:t>The quality of service offered to you by the network, e.g., measured when you run a network speed test.</a:t>
            </a:r>
            <a:endParaRPr/>
          </a:p>
        </p:txBody>
      </p:sp>
      <p:sp>
        <p:nvSpPr>
          <p:cNvPr id="184" name="Google Shape;184;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Distribution Layer</a:t>
            </a:r>
            <a:endParaRPr/>
          </a:p>
        </p:txBody>
      </p:sp>
      <p:sp>
        <p:nvSpPr>
          <p:cNvPr id="190" name="Google Shape;190;p12"/>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Multiple LAN / WAN links - scaling by using more “stuff”.</a:t>
            </a:r>
            <a:endParaRPr/>
          </a:p>
          <a:p>
            <a:pPr indent="-330200" lvl="0" marL="457200" rtl="0" algn="l">
              <a:lnSpc>
                <a:spcPct val="115000"/>
              </a:lnSpc>
              <a:spcBef>
                <a:spcPts val="0"/>
              </a:spcBef>
              <a:spcAft>
                <a:spcPts val="0"/>
              </a:spcAft>
              <a:buSzPts val="1600"/>
              <a:buChar char="●"/>
            </a:pPr>
            <a:r>
              <a:rPr lang="el"/>
              <a:t>Redundancy.</a:t>
            </a:r>
            <a:endParaRPr/>
          </a:p>
          <a:p>
            <a:pPr indent="-330200" lvl="0" marL="457200" rtl="0" algn="l">
              <a:lnSpc>
                <a:spcPct val="115000"/>
              </a:lnSpc>
              <a:spcBef>
                <a:spcPts val="0"/>
              </a:spcBef>
              <a:spcAft>
                <a:spcPts val="0"/>
              </a:spcAft>
              <a:buSzPts val="1600"/>
              <a:buChar char="●"/>
            </a:pPr>
            <a:r>
              <a:rPr lang="el"/>
              <a:t>Routing.</a:t>
            </a:r>
            <a:endParaRPr/>
          </a:p>
          <a:p>
            <a:pPr indent="-330200" lvl="0" marL="457200" rtl="0" algn="l">
              <a:lnSpc>
                <a:spcPct val="115000"/>
              </a:lnSpc>
              <a:spcBef>
                <a:spcPts val="0"/>
              </a:spcBef>
              <a:spcAft>
                <a:spcPts val="0"/>
              </a:spcAft>
              <a:buSzPts val="1600"/>
              <a:buChar char="●"/>
            </a:pPr>
            <a:r>
              <a:rPr lang="el"/>
              <a:t>In general, Layer 3 (network) services.</a:t>
            </a:r>
            <a:endParaRPr/>
          </a:p>
          <a:p>
            <a:pPr indent="-330200" lvl="0" marL="457200" rtl="0" algn="l">
              <a:lnSpc>
                <a:spcPct val="115000"/>
              </a:lnSpc>
              <a:spcBef>
                <a:spcPts val="0"/>
              </a:spcBef>
              <a:spcAft>
                <a:spcPts val="0"/>
              </a:spcAft>
              <a:buSzPts val="1600"/>
              <a:buChar char="●"/>
            </a:pPr>
            <a:r>
              <a:rPr lang="el"/>
              <a:t>What about security?</a:t>
            </a:r>
            <a:endParaRPr/>
          </a:p>
          <a:p>
            <a:pPr indent="-330200" lvl="1" marL="914400" rtl="0" algn="l">
              <a:lnSpc>
                <a:spcPct val="115000"/>
              </a:lnSpc>
              <a:spcBef>
                <a:spcPts val="0"/>
              </a:spcBef>
              <a:spcAft>
                <a:spcPts val="0"/>
              </a:spcAft>
              <a:buSzPts val="1600"/>
              <a:buChar char="○"/>
            </a:pPr>
            <a:r>
              <a:rPr lang="el"/>
              <a:t>Packet filtering.</a:t>
            </a:r>
            <a:endParaRPr/>
          </a:p>
        </p:txBody>
      </p:sp>
      <p:sp>
        <p:nvSpPr>
          <p:cNvPr id="191" name="Google Shape;191;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Core Layer</a:t>
            </a:r>
            <a:endParaRPr/>
          </a:p>
        </p:txBody>
      </p:sp>
      <p:sp>
        <p:nvSpPr>
          <p:cNvPr id="197" name="Google Shape;197;p13"/>
          <p:cNvSpPr txBox="1"/>
          <p:nvPr>
            <p:ph idx="1" type="body"/>
          </p:nvPr>
        </p:nvSpPr>
        <p:spPr>
          <a:xfrm>
            <a:off x="729450" y="1378000"/>
            <a:ext cx="7688700" cy="1839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High-speed switching:</a:t>
            </a:r>
            <a:endParaRPr/>
          </a:p>
          <a:p>
            <a:pPr indent="-330200" lvl="1" marL="914400" rtl="0" algn="l">
              <a:lnSpc>
                <a:spcPct val="115000"/>
              </a:lnSpc>
              <a:spcBef>
                <a:spcPts val="0"/>
              </a:spcBef>
              <a:spcAft>
                <a:spcPts val="0"/>
              </a:spcAft>
              <a:buSzPts val="1600"/>
              <a:buChar char="○"/>
            </a:pPr>
            <a:r>
              <a:rPr lang="el"/>
              <a:t>Implemented at the physical / hardware level.</a:t>
            </a:r>
            <a:endParaRPr/>
          </a:p>
          <a:p>
            <a:pPr indent="-330200" lvl="0" marL="457200" rtl="0" algn="l">
              <a:lnSpc>
                <a:spcPct val="115000"/>
              </a:lnSpc>
              <a:spcBef>
                <a:spcPts val="0"/>
              </a:spcBef>
              <a:spcAft>
                <a:spcPts val="0"/>
              </a:spcAft>
              <a:buSzPts val="1600"/>
              <a:buChar char="●"/>
            </a:pPr>
            <a:r>
              <a:rPr lang="el"/>
              <a:t>Reliability and fault tolerance.</a:t>
            </a:r>
            <a:endParaRPr/>
          </a:p>
          <a:p>
            <a:pPr indent="-330200" lvl="0" marL="457200" rtl="0" algn="l">
              <a:lnSpc>
                <a:spcPct val="115000"/>
              </a:lnSpc>
              <a:spcBef>
                <a:spcPts val="0"/>
              </a:spcBef>
              <a:spcAft>
                <a:spcPts val="0"/>
              </a:spcAft>
              <a:buSzPts val="1600"/>
              <a:buChar char="●"/>
            </a:pPr>
            <a:r>
              <a:rPr lang="el"/>
              <a:t>Scaling </a:t>
            </a:r>
            <a:r>
              <a:rPr b="1" lang="el">
                <a:solidFill>
                  <a:schemeClr val="accent3"/>
                </a:solidFill>
              </a:rPr>
              <a:t>not</a:t>
            </a:r>
            <a:r>
              <a:rPr lang="el"/>
              <a:t> by using </a:t>
            </a:r>
            <a:r>
              <a:rPr b="1" lang="el">
                <a:solidFill>
                  <a:schemeClr val="accent3"/>
                </a:solidFill>
              </a:rPr>
              <a:t>more</a:t>
            </a:r>
            <a:r>
              <a:rPr lang="el"/>
              <a:t> but </a:t>
            </a:r>
            <a:r>
              <a:rPr b="1" lang="el">
                <a:solidFill>
                  <a:schemeClr val="dk1"/>
                </a:solidFill>
              </a:rPr>
              <a:t>faster</a:t>
            </a:r>
            <a:r>
              <a:rPr lang="el"/>
              <a:t> devices.</a:t>
            </a:r>
            <a:endParaRPr/>
          </a:p>
          <a:p>
            <a:pPr indent="-330200" lvl="0" marL="457200" rtl="0" algn="l">
              <a:lnSpc>
                <a:spcPct val="115000"/>
              </a:lnSpc>
              <a:spcBef>
                <a:spcPts val="0"/>
              </a:spcBef>
              <a:spcAft>
                <a:spcPts val="0"/>
              </a:spcAft>
              <a:buSzPts val="1600"/>
              <a:buChar char="●"/>
            </a:pPr>
            <a:r>
              <a:rPr lang="el"/>
              <a:t>Lower level.</a:t>
            </a:r>
            <a:endParaRPr/>
          </a:p>
          <a:p>
            <a:pPr indent="-330200" lvl="0" marL="457200" rtl="0" algn="l">
              <a:lnSpc>
                <a:spcPct val="115000"/>
              </a:lnSpc>
              <a:spcBef>
                <a:spcPts val="0"/>
              </a:spcBef>
              <a:spcAft>
                <a:spcPts val="0"/>
              </a:spcAft>
              <a:buSzPts val="1600"/>
              <a:buChar char="●"/>
            </a:pPr>
            <a:r>
              <a:rPr lang="el"/>
              <a:t>Higher level processing of bulk information is avoided.</a:t>
            </a:r>
            <a:endParaRPr/>
          </a:p>
        </p:txBody>
      </p:sp>
      <p:sp>
        <p:nvSpPr>
          <p:cNvPr id="198" name="Google Shape;198;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199" name="Google Shape;199;p13"/>
          <p:cNvSpPr txBox="1"/>
          <p:nvPr/>
        </p:nvSpPr>
        <p:spPr>
          <a:xfrm>
            <a:off x="1949700" y="3488475"/>
            <a:ext cx="5244600" cy="963600"/>
          </a:xfrm>
          <a:prstGeom prst="rect">
            <a:avLst/>
          </a:prstGeom>
          <a:solidFill>
            <a:srgbClr val="D9EAD3"/>
          </a:solidFill>
          <a:ln cap="flat" cmpd="sng" w="19050">
            <a:solidFill>
              <a:schemeClr val="dk1"/>
            </a:solidFill>
            <a:prstDash val="dash"/>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l" sz="1600" u="none" cap="none" strike="noStrike">
                <a:solidFill>
                  <a:schemeClr val="dk1"/>
                </a:solidFill>
                <a:latin typeface="Lato"/>
                <a:ea typeface="Lato"/>
                <a:cs typeface="Lato"/>
                <a:sym typeface="Lato"/>
              </a:rPr>
              <a:t>Collapsed Core Layer:</a:t>
            </a:r>
            <a:r>
              <a:rPr b="0" i="0" lang="el" sz="1600" u="none" cap="none" strike="noStrike">
                <a:solidFill>
                  <a:schemeClr val="accent1"/>
                </a:solidFill>
                <a:latin typeface="Lato"/>
                <a:ea typeface="Lato"/>
                <a:cs typeface="Lato"/>
                <a:sym typeface="Lato"/>
              </a:rPr>
              <a:t> Often, distribution and core layers are implemented by the same devices, leading to cost reduction without significant losses.</a:t>
            </a:r>
            <a:endParaRPr b="0" i="0" sz="1600" u="none" cap="none" strike="noStrike">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50 Shades of… Cloud?</a:t>
            </a:r>
            <a:endParaRPr/>
          </a:p>
          <a:p>
            <a:pPr indent="0" lvl="0" marL="0" rtl="0" algn="l">
              <a:lnSpc>
                <a:spcPct val="100000"/>
              </a:lnSpc>
              <a:spcBef>
                <a:spcPts val="0"/>
              </a:spcBef>
              <a:spcAft>
                <a:spcPts val="0"/>
              </a:spcAft>
              <a:buSzPct val="111111"/>
              <a:buNone/>
            </a:pPr>
            <a:r>
              <a:t/>
            </a:r>
            <a:endParaRPr/>
          </a:p>
        </p:txBody>
      </p:sp>
      <p:sp>
        <p:nvSpPr>
          <p:cNvPr id="205" name="Google Shape;205;p14"/>
          <p:cNvSpPr txBox="1"/>
          <p:nvPr>
            <p:ph idx="1" type="body"/>
          </p:nvPr>
        </p:nvSpPr>
        <p:spPr>
          <a:xfrm>
            <a:off x="729450" y="1474150"/>
            <a:ext cx="7688700" cy="5352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LAN:</a:t>
            </a:r>
            <a:endParaRPr sz="1600"/>
          </a:p>
        </p:txBody>
      </p:sp>
      <p:grpSp>
        <p:nvGrpSpPr>
          <p:cNvPr id="206" name="Google Shape;206;p14"/>
          <p:cNvGrpSpPr/>
          <p:nvPr/>
        </p:nvGrpSpPr>
        <p:grpSpPr>
          <a:xfrm>
            <a:off x="2735800" y="1664525"/>
            <a:ext cx="3018175" cy="2616075"/>
            <a:chOff x="2735800" y="1664525"/>
            <a:chExt cx="3018175" cy="2616075"/>
          </a:xfrm>
        </p:grpSpPr>
        <p:sp>
          <p:nvSpPr>
            <p:cNvPr id="207" name="Google Shape;207;p14"/>
            <p:cNvSpPr/>
            <p:nvPr/>
          </p:nvSpPr>
          <p:spPr>
            <a:xfrm>
              <a:off x="2735800" y="2203125"/>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8" name="Google Shape;208;p14"/>
            <p:cNvSpPr/>
            <p:nvPr/>
          </p:nvSpPr>
          <p:spPr>
            <a:xfrm>
              <a:off x="3895450" y="1664525"/>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9" name="Google Shape;209;p14"/>
            <p:cNvSpPr/>
            <p:nvPr/>
          </p:nvSpPr>
          <p:spPr>
            <a:xfrm>
              <a:off x="2908600" y="3637900"/>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10" name="Google Shape;210;p14"/>
            <p:cNvSpPr/>
            <p:nvPr/>
          </p:nvSpPr>
          <p:spPr>
            <a:xfrm>
              <a:off x="4485600" y="4107800"/>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11" name="Google Shape;211;p14"/>
            <p:cNvSpPr/>
            <p:nvPr/>
          </p:nvSpPr>
          <p:spPr>
            <a:xfrm>
              <a:off x="5581175" y="3148950"/>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12" name="Google Shape;212;p14"/>
            <p:cNvSpPr/>
            <p:nvPr/>
          </p:nvSpPr>
          <p:spPr>
            <a:xfrm>
              <a:off x="5304000" y="1984675"/>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213" name="Google Shape;213;p14"/>
            <p:cNvCxnSpPr/>
            <p:nvPr/>
          </p:nvCxnSpPr>
          <p:spPr>
            <a:xfrm>
              <a:off x="2832025" y="2287275"/>
              <a:ext cx="987300" cy="523500"/>
            </a:xfrm>
            <a:prstGeom prst="straightConnector1">
              <a:avLst/>
            </a:prstGeom>
            <a:noFill/>
            <a:ln cap="flat" cmpd="sng" w="19050">
              <a:solidFill>
                <a:schemeClr val="dk1"/>
              </a:solidFill>
              <a:prstDash val="solid"/>
              <a:round/>
              <a:headEnd len="sm" w="sm" type="none"/>
              <a:tailEnd len="sm" w="sm" type="none"/>
            </a:ln>
          </p:spPr>
        </p:cxnSp>
        <p:cxnSp>
          <p:nvCxnSpPr>
            <p:cNvPr id="214" name="Google Shape;214;p14"/>
            <p:cNvCxnSpPr/>
            <p:nvPr/>
          </p:nvCxnSpPr>
          <p:spPr>
            <a:xfrm>
              <a:off x="3988400" y="1764825"/>
              <a:ext cx="108300" cy="882300"/>
            </a:xfrm>
            <a:prstGeom prst="straightConnector1">
              <a:avLst/>
            </a:prstGeom>
            <a:noFill/>
            <a:ln cap="flat" cmpd="sng" w="19050">
              <a:solidFill>
                <a:schemeClr val="dk1"/>
              </a:solidFill>
              <a:prstDash val="solid"/>
              <a:round/>
              <a:headEnd len="sm" w="sm" type="none"/>
              <a:tailEnd len="sm" w="sm" type="none"/>
            </a:ln>
          </p:spPr>
        </p:cxnSp>
        <p:cxnSp>
          <p:nvCxnSpPr>
            <p:cNvPr id="215" name="Google Shape;215;p14"/>
            <p:cNvCxnSpPr/>
            <p:nvPr/>
          </p:nvCxnSpPr>
          <p:spPr>
            <a:xfrm flipH="1" rot="10800000">
              <a:off x="2994475" y="3195275"/>
              <a:ext cx="844200" cy="531900"/>
            </a:xfrm>
            <a:prstGeom prst="straightConnector1">
              <a:avLst/>
            </a:prstGeom>
            <a:noFill/>
            <a:ln cap="flat" cmpd="sng" w="19050">
              <a:solidFill>
                <a:schemeClr val="dk1"/>
              </a:solidFill>
              <a:prstDash val="solid"/>
              <a:round/>
              <a:headEnd len="sm" w="sm" type="none"/>
              <a:tailEnd len="sm" w="sm" type="none"/>
            </a:ln>
          </p:spPr>
        </p:cxnSp>
        <p:cxnSp>
          <p:nvCxnSpPr>
            <p:cNvPr id="216" name="Google Shape;216;p14"/>
            <p:cNvCxnSpPr/>
            <p:nvPr/>
          </p:nvCxnSpPr>
          <p:spPr>
            <a:xfrm rot="10800000">
              <a:off x="4303875" y="3287550"/>
              <a:ext cx="264300" cy="911100"/>
            </a:xfrm>
            <a:prstGeom prst="straightConnector1">
              <a:avLst/>
            </a:prstGeom>
            <a:noFill/>
            <a:ln cap="flat" cmpd="sng" w="19050">
              <a:solidFill>
                <a:schemeClr val="dk1"/>
              </a:solidFill>
              <a:prstDash val="solid"/>
              <a:round/>
              <a:headEnd len="sm" w="sm" type="none"/>
              <a:tailEnd len="sm" w="sm" type="none"/>
            </a:ln>
          </p:spPr>
        </p:cxnSp>
        <p:cxnSp>
          <p:nvCxnSpPr>
            <p:cNvPr id="217" name="Google Shape;217;p14"/>
            <p:cNvCxnSpPr/>
            <p:nvPr/>
          </p:nvCxnSpPr>
          <p:spPr>
            <a:xfrm rot="10800000">
              <a:off x="4612725" y="3083525"/>
              <a:ext cx="1054500" cy="146700"/>
            </a:xfrm>
            <a:prstGeom prst="straightConnector1">
              <a:avLst/>
            </a:prstGeom>
            <a:noFill/>
            <a:ln cap="flat" cmpd="sng" w="19050">
              <a:solidFill>
                <a:schemeClr val="dk1"/>
              </a:solidFill>
              <a:prstDash val="solid"/>
              <a:round/>
              <a:headEnd len="sm" w="sm" type="none"/>
              <a:tailEnd len="sm" w="sm" type="none"/>
            </a:ln>
          </p:spPr>
        </p:cxnSp>
        <p:cxnSp>
          <p:nvCxnSpPr>
            <p:cNvPr id="218" name="Google Shape;218;p14"/>
            <p:cNvCxnSpPr/>
            <p:nvPr/>
          </p:nvCxnSpPr>
          <p:spPr>
            <a:xfrm flipH="1">
              <a:off x="4555550" y="2073850"/>
              <a:ext cx="840900" cy="621300"/>
            </a:xfrm>
            <a:prstGeom prst="straightConnector1">
              <a:avLst/>
            </a:prstGeom>
            <a:noFill/>
            <a:ln cap="flat" cmpd="sng" w="19050">
              <a:solidFill>
                <a:schemeClr val="dk1"/>
              </a:solidFill>
              <a:prstDash val="solid"/>
              <a:round/>
              <a:headEnd len="sm" w="sm" type="none"/>
              <a:tailEnd len="sm" w="sm" type="none"/>
            </a:ln>
          </p:spPr>
        </p:cxnSp>
        <p:sp>
          <p:nvSpPr>
            <p:cNvPr id="219" name="Google Shape;219;p14"/>
            <p:cNvSpPr/>
            <p:nvPr/>
          </p:nvSpPr>
          <p:spPr>
            <a:xfrm>
              <a:off x="3705950" y="2619013"/>
              <a:ext cx="952452" cy="70707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l" sz="1200" u="none" cap="none" strike="noStrike">
                  <a:solidFill>
                    <a:srgbClr val="000000"/>
                  </a:solidFill>
                  <a:latin typeface="Lato"/>
                  <a:ea typeface="Lato"/>
                  <a:cs typeface="Lato"/>
                  <a:sym typeface="Lato"/>
                </a:rPr>
                <a:t>Clever</a:t>
              </a:r>
              <a:endParaRPr b="0" i="0" sz="1200" u="none" cap="none" strike="noStrike">
                <a:solidFill>
                  <a:srgbClr val="000000"/>
                </a:solidFill>
                <a:latin typeface="Lato"/>
                <a:ea typeface="Lato"/>
                <a:cs typeface="Lato"/>
                <a:sym typeface="Lato"/>
              </a:endParaRPr>
            </a:p>
          </p:txBody>
        </p:sp>
      </p:grpSp>
      <p:grpSp>
        <p:nvGrpSpPr>
          <p:cNvPr id="220" name="Google Shape;220;p14"/>
          <p:cNvGrpSpPr/>
          <p:nvPr/>
        </p:nvGrpSpPr>
        <p:grpSpPr>
          <a:xfrm>
            <a:off x="4743650" y="2128325"/>
            <a:ext cx="4422900" cy="653700"/>
            <a:chOff x="4743650" y="2128325"/>
            <a:chExt cx="4422900" cy="653700"/>
          </a:xfrm>
        </p:grpSpPr>
        <p:sp>
          <p:nvSpPr>
            <p:cNvPr id="221" name="Google Shape;221;p14"/>
            <p:cNvSpPr txBox="1"/>
            <p:nvPr/>
          </p:nvSpPr>
          <p:spPr>
            <a:xfrm>
              <a:off x="6497750" y="2128325"/>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l" sz="1400" u="none" cap="none" strike="noStrike">
                  <a:solidFill>
                    <a:schemeClr val="accent3"/>
                  </a:solidFill>
                  <a:latin typeface="Lato"/>
                  <a:ea typeface="Lato"/>
                  <a:cs typeface="Lato"/>
                  <a:sym typeface="Lato"/>
                </a:rPr>
                <a:t>Something “clever”</a:t>
              </a:r>
              <a:endParaRPr b="0" i="0" sz="1400" u="none" cap="none" strike="noStrike">
                <a:solidFill>
                  <a:schemeClr val="accent3"/>
                </a:solidFill>
                <a:latin typeface="Lato"/>
                <a:ea typeface="Lato"/>
                <a:cs typeface="Lato"/>
                <a:sym typeface="Lato"/>
              </a:endParaRPr>
            </a:p>
          </p:txBody>
        </p:sp>
        <p:cxnSp>
          <p:nvCxnSpPr>
            <p:cNvPr id="222" name="Google Shape;222;p14"/>
            <p:cNvCxnSpPr>
              <a:stCxn id="221" idx="1"/>
            </p:cNvCxnSpPr>
            <p:nvPr/>
          </p:nvCxnSpPr>
          <p:spPr>
            <a:xfrm flipH="1">
              <a:off x="4743650" y="2328425"/>
              <a:ext cx="1754100" cy="453600"/>
            </a:xfrm>
            <a:prstGeom prst="straightConnector1">
              <a:avLst/>
            </a:prstGeom>
            <a:noFill/>
            <a:ln cap="flat" cmpd="sng" w="19050">
              <a:solidFill>
                <a:schemeClr val="accent3"/>
              </a:solidFill>
              <a:prstDash val="dash"/>
              <a:round/>
              <a:headEnd len="sm" w="sm" type="none"/>
              <a:tailEnd len="med" w="med" type="triangle"/>
            </a:ln>
          </p:spPr>
        </p:cxnSp>
      </p:grpSp>
      <p:grpSp>
        <p:nvGrpSpPr>
          <p:cNvPr id="223" name="Google Shape;223;p14"/>
          <p:cNvGrpSpPr/>
          <p:nvPr/>
        </p:nvGrpSpPr>
        <p:grpSpPr>
          <a:xfrm>
            <a:off x="452675" y="2531413"/>
            <a:ext cx="3112175" cy="882300"/>
            <a:chOff x="452675" y="2531413"/>
            <a:chExt cx="3112175" cy="882300"/>
          </a:xfrm>
        </p:grpSpPr>
        <p:sp>
          <p:nvSpPr>
            <p:cNvPr id="224" name="Google Shape;224;p14"/>
            <p:cNvSpPr txBox="1"/>
            <p:nvPr/>
          </p:nvSpPr>
          <p:spPr>
            <a:xfrm>
              <a:off x="452675" y="2531413"/>
              <a:ext cx="1311000" cy="882300"/>
            </a:xfrm>
            <a:prstGeom prst="rect">
              <a:avLst/>
            </a:prstGeom>
            <a:noFill/>
            <a:ln cap="flat" cmpd="sng" w="19050">
              <a:solidFill>
                <a:schemeClr val="accent2"/>
              </a:solidFill>
              <a:prstDash val="dot"/>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l" sz="1400" u="none" cap="none" strike="noStrike">
                  <a:solidFill>
                    <a:schemeClr val="accent2"/>
                  </a:solidFill>
                  <a:latin typeface="Lato"/>
                  <a:ea typeface="Lato"/>
                  <a:cs typeface="Lato"/>
                  <a:sym typeface="Lato"/>
                </a:rPr>
                <a:t>This is </a:t>
              </a:r>
              <a:r>
                <a:rPr b="1" i="0" lang="el" sz="1400" u="none" cap="none" strike="noStrike">
                  <a:solidFill>
                    <a:schemeClr val="accent2"/>
                  </a:solidFill>
                  <a:latin typeface="Lato"/>
                  <a:ea typeface="Lato"/>
                  <a:cs typeface="Lato"/>
                  <a:sym typeface="Lato"/>
                </a:rPr>
                <a:t>not</a:t>
              </a:r>
              <a:r>
                <a:rPr b="0" i="0" lang="el" sz="1400" u="none" cap="none" strike="noStrike">
                  <a:solidFill>
                    <a:schemeClr val="accent2"/>
                  </a:solidFill>
                  <a:latin typeface="Lato"/>
                  <a:ea typeface="Lato"/>
                  <a:cs typeface="Lato"/>
                  <a:sym typeface="Lato"/>
                </a:rPr>
                <a:t> the so-called “cloud”!</a:t>
              </a:r>
              <a:endParaRPr b="0" i="0" sz="1400" u="none" cap="none" strike="noStrike">
                <a:solidFill>
                  <a:schemeClr val="accent2"/>
                </a:solidFill>
                <a:latin typeface="Lato"/>
                <a:ea typeface="Lato"/>
                <a:cs typeface="Lato"/>
                <a:sym typeface="Lato"/>
              </a:endParaRPr>
            </a:p>
          </p:txBody>
        </p:sp>
        <p:cxnSp>
          <p:nvCxnSpPr>
            <p:cNvPr id="225" name="Google Shape;225;p14"/>
            <p:cNvCxnSpPr/>
            <p:nvPr/>
          </p:nvCxnSpPr>
          <p:spPr>
            <a:xfrm>
              <a:off x="1923850" y="2980100"/>
              <a:ext cx="1641000" cy="9600"/>
            </a:xfrm>
            <a:prstGeom prst="straightConnector1">
              <a:avLst/>
            </a:prstGeom>
            <a:noFill/>
            <a:ln cap="flat" cmpd="sng" w="19050">
              <a:solidFill>
                <a:schemeClr val="accent2"/>
              </a:solidFill>
              <a:prstDash val="dash"/>
              <a:round/>
              <a:headEnd len="sm" w="sm" type="none"/>
              <a:tailEnd len="med" w="med" type="triangle"/>
            </a:ln>
          </p:spPr>
        </p:cxnSp>
      </p:grpSp>
      <p:sp>
        <p:nvSpPr>
          <p:cNvPr id="226" name="Google Shape;226;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50 Shades of… Cloud?</a:t>
            </a:r>
            <a:endParaRPr/>
          </a:p>
        </p:txBody>
      </p:sp>
      <p:sp>
        <p:nvSpPr>
          <p:cNvPr id="232" name="Google Shape;232;p15"/>
          <p:cNvSpPr txBox="1"/>
          <p:nvPr>
            <p:ph idx="1" type="body"/>
          </p:nvPr>
        </p:nvSpPr>
        <p:spPr>
          <a:xfrm>
            <a:off x="729450" y="1474150"/>
            <a:ext cx="7688700" cy="10215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lang="el" sz="1500"/>
              <a:t>All clouds below are pretty little LAN.</a:t>
            </a:r>
            <a:endParaRPr sz="1500"/>
          </a:p>
          <a:p>
            <a:pPr indent="-323850" lvl="0" marL="457200" rtl="0" algn="l">
              <a:lnSpc>
                <a:spcPct val="115000"/>
              </a:lnSpc>
              <a:spcBef>
                <a:spcPts val="0"/>
              </a:spcBef>
              <a:spcAft>
                <a:spcPts val="0"/>
              </a:spcAft>
              <a:buSzPts val="1500"/>
              <a:buChar char="●"/>
            </a:pPr>
            <a:r>
              <a:rPr lang="el" sz="1500"/>
              <a:t>How could we connect many LAN?</a:t>
            </a:r>
            <a:endParaRPr sz="1500"/>
          </a:p>
        </p:txBody>
      </p:sp>
      <p:grpSp>
        <p:nvGrpSpPr>
          <p:cNvPr id="233" name="Google Shape;233;p15"/>
          <p:cNvGrpSpPr/>
          <p:nvPr/>
        </p:nvGrpSpPr>
        <p:grpSpPr>
          <a:xfrm>
            <a:off x="2458375" y="2276475"/>
            <a:ext cx="4018616" cy="2686059"/>
            <a:chOff x="2458375" y="2276475"/>
            <a:chExt cx="4018616" cy="2686059"/>
          </a:xfrm>
        </p:grpSpPr>
        <p:sp>
          <p:nvSpPr>
            <p:cNvPr id="234" name="Google Shape;234;p15"/>
            <p:cNvSpPr/>
            <p:nvPr/>
          </p:nvSpPr>
          <p:spPr>
            <a:xfrm>
              <a:off x="2458375" y="2619375"/>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rgbClr val="000000"/>
                  </a:solidFill>
                  <a:latin typeface="Lato"/>
                  <a:ea typeface="Lato"/>
                  <a:cs typeface="Lato"/>
                  <a:sym typeface="Lato"/>
                </a:rPr>
                <a:t>LAN1</a:t>
              </a:r>
              <a:endParaRPr b="0" i="0" sz="1400" u="none" cap="none" strike="noStrike">
                <a:solidFill>
                  <a:srgbClr val="000000"/>
                </a:solidFill>
                <a:latin typeface="Lato"/>
                <a:ea typeface="Lato"/>
                <a:cs typeface="Lato"/>
                <a:sym typeface="Lato"/>
              </a:endParaRPr>
            </a:p>
          </p:txBody>
        </p:sp>
        <p:sp>
          <p:nvSpPr>
            <p:cNvPr id="235" name="Google Shape;235;p15"/>
            <p:cNvSpPr/>
            <p:nvPr/>
          </p:nvSpPr>
          <p:spPr>
            <a:xfrm>
              <a:off x="4171950" y="2276475"/>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rgbClr val="000000"/>
                  </a:solidFill>
                  <a:latin typeface="Lato"/>
                  <a:ea typeface="Lato"/>
                  <a:cs typeface="Lato"/>
                  <a:sym typeface="Lato"/>
                </a:rPr>
                <a:t>LAN2</a:t>
              </a:r>
              <a:endParaRPr b="0" i="0" sz="1400" u="none" cap="none" strike="noStrike">
                <a:solidFill>
                  <a:srgbClr val="000000"/>
                </a:solidFill>
                <a:latin typeface="Lato"/>
                <a:ea typeface="Lato"/>
                <a:cs typeface="Lato"/>
                <a:sym typeface="Lato"/>
              </a:endParaRPr>
            </a:p>
          </p:txBody>
        </p:sp>
        <p:sp>
          <p:nvSpPr>
            <p:cNvPr id="236" name="Google Shape;236;p15"/>
            <p:cNvSpPr/>
            <p:nvPr/>
          </p:nvSpPr>
          <p:spPr>
            <a:xfrm>
              <a:off x="5248275" y="3162300"/>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rgbClr val="000000"/>
                  </a:solidFill>
                  <a:latin typeface="Lato"/>
                  <a:ea typeface="Lato"/>
                  <a:cs typeface="Lato"/>
                  <a:sym typeface="Lato"/>
                </a:rPr>
                <a:t>LAN3</a:t>
              </a:r>
              <a:endParaRPr b="0" i="0" sz="1400" u="none" cap="none" strike="noStrike">
                <a:solidFill>
                  <a:srgbClr val="000000"/>
                </a:solidFill>
                <a:latin typeface="Lato"/>
                <a:ea typeface="Lato"/>
                <a:cs typeface="Lato"/>
                <a:sym typeface="Lato"/>
              </a:endParaRPr>
            </a:p>
          </p:txBody>
        </p:sp>
        <p:sp>
          <p:nvSpPr>
            <p:cNvPr id="237" name="Google Shape;237;p15"/>
            <p:cNvSpPr/>
            <p:nvPr/>
          </p:nvSpPr>
          <p:spPr>
            <a:xfrm>
              <a:off x="2676525" y="3990975"/>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rgbClr val="000000"/>
                  </a:solidFill>
                  <a:latin typeface="Lato"/>
                  <a:ea typeface="Lato"/>
                  <a:cs typeface="Lato"/>
                  <a:sym typeface="Lato"/>
                </a:rPr>
                <a:t>LAN5</a:t>
              </a:r>
              <a:endParaRPr b="0" i="0" sz="1400" u="none" cap="none" strike="noStrike">
                <a:solidFill>
                  <a:srgbClr val="000000"/>
                </a:solidFill>
                <a:latin typeface="Lato"/>
                <a:ea typeface="Lato"/>
                <a:cs typeface="Lato"/>
                <a:sym typeface="Lato"/>
              </a:endParaRPr>
            </a:p>
          </p:txBody>
        </p:sp>
        <p:sp>
          <p:nvSpPr>
            <p:cNvPr id="238" name="Google Shape;238;p15"/>
            <p:cNvSpPr/>
            <p:nvPr/>
          </p:nvSpPr>
          <p:spPr>
            <a:xfrm>
              <a:off x="4333875" y="4133850"/>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rgbClr val="000000"/>
                  </a:solidFill>
                  <a:latin typeface="Lato"/>
                  <a:ea typeface="Lato"/>
                  <a:cs typeface="Lato"/>
                  <a:sym typeface="Lato"/>
                </a:rPr>
                <a:t>LAN4</a:t>
              </a:r>
              <a:endParaRPr b="0" i="0" sz="1400" u="none" cap="none" strike="noStrike">
                <a:solidFill>
                  <a:srgbClr val="000000"/>
                </a:solidFill>
                <a:latin typeface="Lato"/>
                <a:ea typeface="Lato"/>
                <a:cs typeface="Lato"/>
                <a:sym typeface="Lato"/>
              </a:endParaRPr>
            </a:p>
          </p:txBody>
        </p:sp>
        <p:sp>
          <p:nvSpPr>
            <p:cNvPr id="239" name="Google Shape;239;p15"/>
            <p:cNvSpPr/>
            <p:nvPr/>
          </p:nvSpPr>
          <p:spPr>
            <a:xfrm rot="2700000">
              <a:off x="3800442" y="3162350"/>
              <a:ext cx="962655" cy="961807"/>
            </a:xfrm>
            <a:prstGeom prst="flowChartOr">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grpSp>
        <p:nvGrpSpPr>
          <p:cNvPr id="240" name="Google Shape;240;p15"/>
          <p:cNvGrpSpPr/>
          <p:nvPr/>
        </p:nvGrpSpPr>
        <p:grpSpPr>
          <a:xfrm>
            <a:off x="209550" y="3643050"/>
            <a:ext cx="3591000" cy="430050"/>
            <a:chOff x="209550" y="3643050"/>
            <a:chExt cx="3591000" cy="430050"/>
          </a:xfrm>
        </p:grpSpPr>
        <p:sp>
          <p:nvSpPr>
            <p:cNvPr id="241" name="Google Shape;241;p15"/>
            <p:cNvSpPr txBox="1"/>
            <p:nvPr/>
          </p:nvSpPr>
          <p:spPr>
            <a:xfrm>
              <a:off x="209550" y="3657600"/>
              <a:ext cx="1839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l" sz="1500" u="none" cap="none" strike="noStrike">
                  <a:solidFill>
                    <a:schemeClr val="dk1"/>
                  </a:solidFill>
                  <a:latin typeface="Lato"/>
                  <a:ea typeface="Lato"/>
                  <a:cs typeface="Lato"/>
                  <a:sym typeface="Lato"/>
                </a:rPr>
                <a:t>“Amazingly clever”</a:t>
              </a:r>
              <a:endParaRPr b="1" i="0" sz="1500" u="none" cap="none" strike="noStrike">
                <a:solidFill>
                  <a:schemeClr val="dk1"/>
                </a:solidFill>
                <a:latin typeface="Lato"/>
                <a:ea typeface="Lato"/>
                <a:cs typeface="Lato"/>
                <a:sym typeface="Lato"/>
              </a:endParaRPr>
            </a:p>
          </p:txBody>
        </p:sp>
        <p:cxnSp>
          <p:nvCxnSpPr>
            <p:cNvPr id="242" name="Google Shape;242;p15"/>
            <p:cNvCxnSpPr>
              <a:stCxn id="241" idx="3"/>
              <a:endCxn id="239" idx="3"/>
            </p:cNvCxnSpPr>
            <p:nvPr/>
          </p:nvCxnSpPr>
          <p:spPr>
            <a:xfrm flipH="1" rot="10800000">
              <a:off x="2048850" y="3643050"/>
              <a:ext cx="1751700" cy="222300"/>
            </a:xfrm>
            <a:prstGeom prst="straightConnector1">
              <a:avLst/>
            </a:prstGeom>
            <a:noFill/>
            <a:ln cap="flat" cmpd="sng" w="28575">
              <a:solidFill>
                <a:schemeClr val="dk1"/>
              </a:solidFill>
              <a:prstDash val="dash"/>
              <a:round/>
              <a:headEnd len="sm" w="sm" type="none"/>
              <a:tailEnd len="med" w="med" type="triangle"/>
            </a:ln>
          </p:spPr>
        </p:cxnSp>
      </p:grpSp>
      <p:sp>
        <p:nvSpPr>
          <p:cNvPr id="243" name="Google Shape;243;p1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50 Shades of… Cloud?</a:t>
            </a:r>
            <a:endParaRPr/>
          </a:p>
        </p:txBody>
      </p:sp>
      <p:sp>
        <p:nvSpPr>
          <p:cNvPr id="249" name="Google Shape;249;p16"/>
          <p:cNvSpPr txBox="1"/>
          <p:nvPr>
            <p:ph idx="1" type="body"/>
          </p:nvPr>
        </p:nvSpPr>
        <p:spPr>
          <a:xfrm>
            <a:off x="729450" y="1474150"/>
            <a:ext cx="7688700" cy="1440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The Internet is a</a:t>
            </a:r>
            <a:r>
              <a:rPr lang="el" sz="1600"/>
              <a:t> network of networks</a:t>
            </a:r>
            <a:r>
              <a:rPr lang="el"/>
              <a:t>, i.e.</a:t>
            </a:r>
            <a:r>
              <a:rPr lang="el" sz="1600"/>
              <a:t>, a </a:t>
            </a:r>
            <a:r>
              <a:rPr b="1" lang="el" sz="1600"/>
              <a:t>Wide Area Network (WAN)</a:t>
            </a:r>
            <a:r>
              <a:rPr lang="el" sz="1600"/>
              <a:t>.</a:t>
            </a:r>
            <a:endParaRPr sz="1600"/>
          </a:p>
          <a:p>
            <a:pPr indent="-330200" lvl="0" marL="457200" rtl="0" algn="l">
              <a:lnSpc>
                <a:spcPct val="115000"/>
              </a:lnSpc>
              <a:spcBef>
                <a:spcPts val="0"/>
              </a:spcBef>
              <a:spcAft>
                <a:spcPts val="0"/>
              </a:spcAft>
              <a:buSzPts val="1600"/>
              <a:buChar char="●"/>
            </a:pPr>
            <a:r>
              <a:rPr lang="el" sz="1600"/>
              <a:t>Each device and sub-network uses </a:t>
            </a:r>
            <a:r>
              <a:rPr b="1" lang="el" sz="1600"/>
              <a:t>unique addresses</a:t>
            </a:r>
            <a:r>
              <a:rPr lang="el" sz="1600"/>
              <a:t> to identify itself (How do we call them?).</a:t>
            </a:r>
            <a:endParaRPr sz="1600"/>
          </a:p>
          <a:p>
            <a:pPr indent="-330200" lvl="0" marL="457200" rtl="0" algn="l">
              <a:lnSpc>
                <a:spcPct val="115000"/>
              </a:lnSpc>
              <a:spcBef>
                <a:spcPts val="0"/>
              </a:spcBef>
              <a:spcAft>
                <a:spcPts val="0"/>
              </a:spcAft>
              <a:buSzPts val="1600"/>
              <a:buChar char="●"/>
            </a:pPr>
            <a:r>
              <a:rPr b="1" lang="el" sz="1600"/>
              <a:t>Routers</a:t>
            </a:r>
            <a:r>
              <a:rPr lang="el" sz="1600"/>
              <a:t> are used to connect local networks to the rest of the world.</a:t>
            </a:r>
            <a:endParaRPr sz="1600"/>
          </a:p>
        </p:txBody>
      </p:sp>
      <p:grpSp>
        <p:nvGrpSpPr>
          <p:cNvPr id="250" name="Google Shape;250;p16"/>
          <p:cNvGrpSpPr/>
          <p:nvPr/>
        </p:nvGrpSpPr>
        <p:grpSpPr>
          <a:xfrm>
            <a:off x="729451" y="3028750"/>
            <a:ext cx="7471649" cy="1989000"/>
            <a:chOff x="729451" y="3028750"/>
            <a:chExt cx="7471649" cy="1989000"/>
          </a:xfrm>
        </p:grpSpPr>
        <p:grpSp>
          <p:nvGrpSpPr>
            <p:cNvPr id="251" name="Google Shape;251;p16"/>
            <p:cNvGrpSpPr/>
            <p:nvPr/>
          </p:nvGrpSpPr>
          <p:grpSpPr>
            <a:xfrm>
              <a:off x="729451" y="3505140"/>
              <a:ext cx="2170856" cy="1352431"/>
              <a:chOff x="2458375" y="2276475"/>
              <a:chExt cx="4018616" cy="2686059"/>
            </a:xfrm>
          </p:grpSpPr>
          <p:sp>
            <p:nvSpPr>
              <p:cNvPr id="252" name="Google Shape;252;p16"/>
              <p:cNvSpPr/>
              <p:nvPr/>
            </p:nvSpPr>
            <p:spPr>
              <a:xfrm>
                <a:off x="2458375" y="2619375"/>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3" name="Google Shape;253;p16"/>
              <p:cNvSpPr/>
              <p:nvPr/>
            </p:nvSpPr>
            <p:spPr>
              <a:xfrm>
                <a:off x="4171950" y="2276475"/>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4" name="Google Shape;254;p16"/>
              <p:cNvSpPr/>
              <p:nvPr/>
            </p:nvSpPr>
            <p:spPr>
              <a:xfrm>
                <a:off x="5248275" y="3162300"/>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5" name="Google Shape;255;p16"/>
              <p:cNvSpPr/>
              <p:nvPr/>
            </p:nvSpPr>
            <p:spPr>
              <a:xfrm>
                <a:off x="2676525" y="3990975"/>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6" name="Google Shape;256;p16"/>
              <p:cNvSpPr/>
              <p:nvPr/>
            </p:nvSpPr>
            <p:spPr>
              <a:xfrm>
                <a:off x="4333875" y="4133850"/>
                <a:ext cx="1228716" cy="8286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57" name="Google Shape;257;p16"/>
              <p:cNvSpPr/>
              <p:nvPr/>
            </p:nvSpPr>
            <p:spPr>
              <a:xfrm rot="2700000">
                <a:off x="3800442" y="3162350"/>
                <a:ext cx="962655" cy="961807"/>
              </a:xfrm>
              <a:prstGeom prst="flowChartOr">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sp>
          <p:nvSpPr>
            <p:cNvPr id="258" name="Google Shape;258;p16"/>
            <p:cNvSpPr txBox="1"/>
            <p:nvPr/>
          </p:nvSpPr>
          <p:spPr>
            <a:xfrm>
              <a:off x="1157575" y="3028750"/>
              <a:ext cx="1314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chemeClr val="accent1"/>
                  </a:solidFill>
                  <a:latin typeface="Lato"/>
                  <a:ea typeface="Lato"/>
                  <a:cs typeface="Lato"/>
                  <a:sym typeface="Lato"/>
                </a:rPr>
                <a:t>“The Internet”</a:t>
              </a:r>
              <a:endParaRPr b="0" i="0" sz="1400" u="none" cap="none" strike="noStrike">
                <a:solidFill>
                  <a:schemeClr val="accent1"/>
                </a:solidFill>
                <a:latin typeface="Lato"/>
                <a:ea typeface="Lato"/>
                <a:cs typeface="Lato"/>
                <a:sym typeface="Lato"/>
              </a:endParaRPr>
            </a:p>
          </p:txBody>
        </p:sp>
        <p:sp>
          <p:nvSpPr>
            <p:cNvPr id="259" name="Google Shape;259;p16"/>
            <p:cNvSpPr/>
            <p:nvPr/>
          </p:nvSpPr>
          <p:spPr>
            <a:xfrm>
              <a:off x="3619950" y="3505150"/>
              <a:ext cx="1904100" cy="1512600"/>
            </a:xfrm>
            <a:prstGeom prst="wedgeRoundRectCallout">
              <a:avLst>
                <a:gd fmla="val -112053" name="adj1"/>
                <a:gd fmla="val 21790" name="adj2"/>
                <a:gd fmla="val 0" name="adj3"/>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60" name="Google Shape;260;p16"/>
            <p:cNvGrpSpPr/>
            <p:nvPr/>
          </p:nvGrpSpPr>
          <p:grpSpPr>
            <a:xfrm>
              <a:off x="3764482" y="3588725"/>
              <a:ext cx="1618647" cy="1345447"/>
              <a:chOff x="2735800" y="1664525"/>
              <a:chExt cx="3018175" cy="2616075"/>
            </a:xfrm>
          </p:grpSpPr>
          <p:sp>
            <p:nvSpPr>
              <p:cNvPr id="261" name="Google Shape;261;p16"/>
              <p:cNvSpPr/>
              <p:nvPr/>
            </p:nvSpPr>
            <p:spPr>
              <a:xfrm>
                <a:off x="2735800" y="2203125"/>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2" name="Google Shape;262;p16"/>
              <p:cNvSpPr/>
              <p:nvPr/>
            </p:nvSpPr>
            <p:spPr>
              <a:xfrm>
                <a:off x="3895450" y="1664525"/>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3" name="Google Shape;263;p16"/>
              <p:cNvSpPr/>
              <p:nvPr/>
            </p:nvSpPr>
            <p:spPr>
              <a:xfrm>
                <a:off x="2908600" y="3637900"/>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4" name="Google Shape;264;p16"/>
              <p:cNvSpPr/>
              <p:nvPr/>
            </p:nvSpPr>
            <p:spPr>
              <a:xfrm>
                <a:off x="4485600" y="4107800"/>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5" name="Google Shape;265;p16"/>
              <p:cNvSpPr/>
              <p:nvPr/>
            </p:nvSpPr>
            <p:spPr>
              <a:xfrm>
                <a:off x="5581175" y="3148950"/>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66" name="Google Shape;266;p16"/>
              <p:cNvSpPr/>
              <p:nvPr/>
            </p:nvSpPr>
            <p:spPr>
              <a:xfrm>
                <a:off x="5304000" y="1984675"/>
                <a:ext cx="172800" cy="172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267" name="Google Shape;267;p16"/>
              <p:cNvCxnSpPr/>
              <p:nvPr/>
            </p:nvCxnSpPr>
            <p:spPr>
              <a:xfrm>
                <a:off x="2832025" y="2287275"/>
                <a:ext cx="987300" cy="523500"/>
              </a:xfrm>
              <a:prstGeom prst="straightConnector1">
                <a:avLst/>
              </a:prstGeom>
              <a:noFill/>
              <a:ln cap="flat" cmpd="sng" w="19050">
                <a:solidFill>
                  <a:schemeClr val="dk1"/>
                </a:solidFill>
                <a:prstDash val="solid"/>
                <a:round/>
                <a:headEnd len="sm" w="sm" type="none"/>
                <a:tailEnd len="sm" w="sm" type="none"/>
              </a:ln>
            </p:spPr>
          </p:cxnSp>
          <p:cxnSp>
            <p:nvCxnSpPr>
              <p:cNvPr id="268" name="Google Shape;268;p16"/>
              <p:cNvCxnSpPr/>
              <p:nvPr/>
            </p:nvCxnSpPr>
            <p:spPr>
              <a:xfrm>
                <a:off x="3988400" y="1764825"/>
                <a:ext cx="108300" cy="882300"/>
              </a:xfrm>
              <a:prstGeom prst="straightConnector1">
                <a:avLst/>
              </a:prstGeom>
              <a:noFill/>
              <a:ln cap="flat" cmpd="sng" w="19050">
                <a:solidFill>
                  <a:schemeClr val="dk1"/>
                </a:solidFill>
                <a:prstDash val="solid"/>
                <a:round/>
                <a:headEnd len="sm" w="sm" type="none"/>
                <a:tailEnd len="sm" w="sm" type="none"/>
              </a:ln>
            </p:spPr>
          </p:cxnSp>
          <p:cxnSp>
            <p:nvCxnSpPr>
              <p:cNvPr id="269" name="Google Shape;269;p16"/>
              <p:cNvCxnSpPr/>
              <p:nvPr/>
            </p:nvCxnSpPr>
            <p:spPr>
              <a:xfrm flipH="1" rot="10800000">
                <a:off x="2994475" y="3195275"/>
                <a:ext cx="844200" cy="531900"/>
              </a:xfrm>
              <a:prstGeom prst="straightConnector1">
                <a:avLst/>
              </a:prstGeom>
              <a:noFill/>
              <a:ln cap="flat" cmpd="sng" w="19050">
                <a:solidFill>
                  <a:schemeClr val="dk1"/>
                </a:solidFill>
                <a:prstDash val="solid"/>
                <a:round/>
                <a:headEnd len="sm" w="sm" type="none"/>
                <a:tailEnd len="sm" w="sm" type="none"/>
              </a:ln>
            </p:spPr>
          </p:cxnSp>
          <p:cxnSp>
            <p:nvCxnSpPr>
              <p:cNvPr id="270" name="Google Shape;270;p16"/>
              <p:cNvCxnSpPr/>
              <p:nvPr/>
            </p:nvCxnSpPr>
            <p:spPr>
              <a:xfrm rot="10800000">
                <a:off x="4303875" y="3287550"/>
                <a:ext cx="264300" cy="911100"/>
              </a:xfrm>
              <a:prstGeom prst="straightConnector1">
                <a:avLst/>
              </a:prstGeom>
              <a:noFill/>
              <a:ln cap="flat" cmpd="sng" w="19050">
                <a:solidFill>
                  <a:schemeClr val="dk1"/>
                </a:solidFill>
                <a:prstDash val="solid"/>
                <a:round/>
                <a:headEnd len="sm" w="sm" type="none"/>
                <a:tailEnd len="sm" w="sm" type="none"/>
              </a:ln>
            </p:spPr>
          </p:cxnSp>
          <p:cxnSp>
            <p:nvCxnSpPr>
              <p:cNvPr id="271" name="Google Shape;271;p16"/>
              <p:cNvCxnSpPr/>
              <p:nvPr/>
            </p:nvCxnSpPr>
            <p:spPr>
              <a:xfrm rot="10800000">
                <a:off x="4612725" y="3083525"/>
                <a:ext cx="1054500" cy="146700"/>
              </a:xfrm>
              <a:prstGeom prst="straightConnector1">
                <a:avLst/>
              </a:prstGeom>
              <a:noFill/>
              <a:ln cap="flat" cmpd="sng" w="19050">
                <a:solidFill>
                  <a:schemeClr val="dk1"/>
                </a:solidFill>
                <a:prstDash val="solid"/>
                <a:round/>
                <a:headEnd len="sm" w="sm" type="none"/>
                <a:tailEnd len="sm" w="sm" type="none"/>
              </a:ln>
            </p:spPr>
          </p:cxnSp>
          <p:cxnSp>
            <p:nvCxnSpPr>
              <p:cNvPr id="272" name="Google Shape;272;p16"/>
              <p:cNvCxnSpPr/>
              <p:nvPr/>
            </p:nvCxnSpPr>
            <p:spPr>
              <a:xfrm flipH="1">
                <a:off x="4555550" y="2073850"/>
                <a:ext cx="840900" cy="621300"/>
              </a:xfrm>
              <a:prstGeom prst="straightConnector1">
                <a:avLst/>
              </a:prstGeom>
              <a:noFill/>
              <a:ln cap="flat" cmpd="sng" w="19050">
                <a:solidFill>
                  <a:schemeClr val="dk1"/>
                </a:solidFill>
                <a:prstDash val="solid"/>
                <a:round/>
                <a:headEnd len="sm" w="sm" type="none"/>
                <a:tailEnd len="sm" w="sm" type="none"/>
              </a:ln>
            </p:spPr>
          </p:cxnSp>
          <p:sp>
            <p:nvSpPr>
              <p:cNvPr id="273" name="Google Shape;273;p16"/>
              <p:cNvSpPr/>
              <p:nvPr/>
            </p:nvSpPr>
            <p:spPr>
              <a:xfrm>
                <a:off x="3705950" y="2619013"/>
                <a:ext cx="952452" cy="70707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Lato"/>
                  <a:ea typeface="Lato"/>
                  <a:cs typeface="Lato"/>
                  <a:sym typeface="Lato"/>
                </a:endParaRPr>
              </a:p>
            </p:txBody>
          </p:sp>
        </p:grpSp>
        <p:sp>
          <p:nvSpPr>
            <p:cNvPr id="274" name="Google Shape;274;p16"/>
            <p:cNvSpPr txBox="1"/>
            <p:nvPr/>
          </p:nvSpPr>
          <p:spPr>
            <a:xfrm>
              <a:off x="3773375" y="3051638"/>
              <a:ext cx="1533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chemeClr val="accent1"/>
                  </a:solidFill>
                  <a:latin typeface="Lato"/>
                  <a:ea typeface="Lato"/>
                  <a:cs typeface="Lato"/>
                  <a:sym typeface="Lato"/>
                </a:rPr>
                <a:t>Local Network</a:t>
              </a:r>
              <a:endParaRPr b="0" i="0" sz="1400" u="none" cap="none" strike="noStrike">
                <a:solidFill>
                  <a:schemeClr val="accent1"/>
                </a:solidFill>
                <a:latin typeface="Lato"/>
                <a:ea typeface="Lato"/>
                <a:cs typeface="Lato"/>
                <a:sym typeface="Lato"/>
              </a:endParaRPr>
            </a:p>
          </p:txBody>
        </p:sp>
        <p:sp>
          <p:nvSpPr>
            <p:cNvPr id="275" name="Google Shape;275;p16"/>
            <p:cNvSpPr/>
            <p:nvPr/>
          </p:nvSpPr>
          <p:spPr>
            <a:xfrm>
              <a:off x="6667500" y="3571875"/>
              <a:ext cx="1533600" cy="1440600"/>
            </a:xfrm>
            <a:prstGeom prst="wedgeRoundRectCallout">
              <a:avLst>
                <a:gd fmla="val -168007" name="adj1"/>
                <a:gd fmla="val 4124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pic>
          <p:nvPicPr>
            <p:cNvPr id="276" name="Google Shape;276;p16"/>
            <p:cNvPicPr preferRelativeResize="0"/>
            <p:nvPr/>
          </p:nvPicPr>
          <p:blipFill rotWithShape="1">
            <a:blip r:embed="rId3">
              <a:alphaModFix/>
            </a:blip>
            <a:srcRect b="0" l="0" r="0" t="0"/>
            <a:stretch/>
          </p:blipFill>
          <p:spPr>
            <a:xfrm>
              <a:off x="6858000" y="3651850"/>
              <a:ext cx="1219200" cy="1219200"/>
            </a:xfrm>
            <a:prstGeom prst="rect">
              <a:avLst/>
            </a:prstGeom>
            <a:noFill/>
            <a:ln>
              <a:noFill/>
            </a:ln>
          </p:spPr>
        </p:pic>
        <p:sp>
          <p:nvSpPr>
            <p:cNvPr id="277" name="Google Shape;277;p16"/>
            <p:cNvSpPr txBox="1"/>
            <p:nvPr/>
          </p:nvSpPr>
          <p:spPr>
            <a:xfrm>
              <a:off x="6777000" y="3083188"/>
              <a:ext cx="1314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l" sz="1400" u="none" cap="none" strike="noStrike">
                  <a:solidFill>
                    <a:schemeClr val="accent1"/>
                  </a:solidFill>
                  <a:latin typeface="Lato"/>
                  <a:ea typeface="Lato"/>
                  <a:cs typeface="Lato"/>
                  <a:sym typeface="Lato"/>
                </a:rPr>
                <a:t>You</a:t>
              </a:r>
              <a:endParaRPr b="0" i="0" sz="1400" u="none" cap="none" strike="noStrike">
                <a:solidFill>
                  <a:schemeClr val="accent1"/>
                </a:solidFill>
                <a:latin typeface="Lato"/>
                <a:ea typeface="Lato"/>
                <a:cs typeface="Lato"/>
                <a:sym typeface="Lato"/>
              </a:endParaRPr>
            </a:p>
          </p:txBody>
        </p:sp>
      </p:grpSp>
      <p:sp>
        <p:nvSpPr>
          <p:cNvPr id="278" name="Google Shape;278;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Network Design: An Example</a:t>
            </a:r>
            <a:endParaRPr/>
          </a:p>
        </p:txBody>
      </p:sp>
      <p:sp>
        <p:nvSpPr>
          <p:cNvPr id="284" name="Google Shape;284;p17"/>
          <p:cNvSpPr txBox="1"/>
          <p:nvPr>
            <p:ph idx="1" type="body"/>
          </p:nvPr>
        </p:nvSpPr>
        <p:spPr>
          <a:xfrm>
            <a:off x="729450" y="1378000"/>
            <a:ext cx="7688700" cy="376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Scenario: “Engine-ear” is a sound-engineering company with the following specs:</a:t>
            </a:r>
            <a:endParaRPr/>
          </a:p>
          <a:p>
            <a:pPr indent="-330200" lvl="0" marL="457200" rtl="0" algn="l">
              <a:lnSpc>
                <a:spcPct val="115000"/>
              </a:lnSpc>
              <a:spcBef>
                <a:spcPts val="1200"/>
              </a:spcBef>
              <a:spcAft>
                <a:spcPts val="0"/>
              </a:spcAft>
              <a:buSzPts val="1600"/>
              <a:buChar char="●"/>
            </a:pPr>
            <a:r>
              <a:rPr lang="el"/>
              <a:t>4 Departments of 18 users each: Sales, Development, Production, Payroll / HR.</a:t>
            </a:r>
            <a:endParaRPr/>
          </a:p>
          <a:p>
            <a:pPr indent="-330200" lvl="0" marL="457200" rtl="0" algn="l">
              <a:lnSpc>
                <a:spcPct val="115000"/>
              </a:lnSpc>
              <a:spcBef>
                <a:spcPts val="0"/>
              </a:spcBef>
              <a:spcAft>
                <a:spcPts val="0"/>
              </a:spcAft>
              <a:buSzPts val="1600"/>
              <a:buChar char="●"/>
            </a:pPr>
            <a:r>
              <a:rPr lang="el"/>
              <a:t>One printer on each floor.</a:t>
            </a:r>
            <a:endParaRPr/>
          </a:p>
          <a:p>
            <a:pPr indent="-330200" lvl="0" marL="457200" rtl="0" algn="l">
              <a:lnSpc>
                <a:spcPct val="115000"/>
              </a:lnSpc>
              <a:spcBef>
                <a:spcPts val="0"/>
              </a:spcBef>
              <a:spcAft>
                <a:spcPts val="0"/>
              </a:spcAft>
              <a:buSzPts val="1600"/>
              <a:buChar char="●"/>
            </a:pPr>
            <a:r>
              <a:rPr lang="el"/>
              <a:t>All user devices are (un)fortunately MS-based.</a:t>
            </a:r>
            <a:endParaRPr/>
          </a:p>
          <a:p>
            <a:pPr indent="-330200" lvl="0" marL="457200" rtl="0" algn="l">
              <a:lnSpc>
                <a:spcPct val="115000"/>
              </a:lnSpc>
              <a:spcBef>
                <a:spcPts val="0"/>
              </a:spcBef>
              <a:spcAft>
                <a:spcPts val="0"/>
              </a:spcAft>
              <a:buSzPts val="1600"/>
              <a:buChar char="●"/>
            </a:pPr>
            <a:r>
              <a:rPr lang="el"/>
              <a:t>Private IP addressing.</a:t>
            </a:r>
            <a:endParaRPr/>
          </a:p>
          <a:p>
            <a:pPr indent="-330200" lvl="0" marL="457200" rtl="0" algn="l">
              <a:lnSpc>
                <a:spcPct val="115000"/>
              </a:lnSpc>
              <a:spcBef>
                <a:spcPts val="0"/>
              </a:spcBef>
              <a:spcAft>
                <a:spcPts val="0"/>
              </a:spcAft>
              <a:buSzPts val="1600"/>
              <a:buChar char="●"/>
            </a:pPr>
            <a:r>
              <a:rPr lang="el"/>
              <a:t>Core network provides all network services (DHCP, DNS, Auth, File Storage).</a:t>
            </a:r>
            <a:endParaRPr/>
          </a:p>
          <a:p>
            <a:pPr indent="-330200" lvl="0" marL="457200" rtl="0" algn="l">
              <a:lnSpc>
                <a:spcPct val="115000"/>
              </a:lnSpc>
              <a:spcBef>
                <a:spcPts val="0"/>
              </a:spcBef>
              <a:spcAft>
                <a:spcPts val="0"/>
              </a:spcAft>
              <a:buSzPts val="1600"/>
              <a:buChar char="●"/>
            </a:pPr>
            <a:r>
              <a:rPr lang="el"/>
              <a:t>DSL broadband Internet connection.</a:t>
            </a:r>
            <a:endParaRPr/>
          </a:p>
          <a:p>
            <a:pPr indent="-330200" lvl="0" marL="457200" rtl="0" algn="l">
              <a:lnSpc>
                <a:spcPct val="115000"/>
              </a:lnSpc>
              <a:spcBef>
                <a:spcPts val="0"/>
              </a:spcBef>
              <a:spcAft>
                <a:spcPts val="0"/>
              </a:spcAft>
              <a:buSzPts val="1600"/>
              <a:buChar char="●"/>
            </a:pPr>
            <a:r>
              <a:rPr lang="el"/>
              <a:t>Layout: 7 rooms over 4 floors as follows:</a:t>
            </a:r>
            <a:endParaRPr/>
          </a:p>
          <a:p>
            <a:pPr indent="-330200" lvl="1" marL="914400" rtl="0" algn="l">
              <a:lnSpc>
                <a:spcPct val="115000"/>
              </a:lnSpc>
              <a:spcBef>
                <a:spcPts val="0"/>
              </a:spcBef>
              <a:spcAft>
                <a:spcPts val="0"/>
              </a:spcAft>
              <a:buSzPts val="1600"/>
              <a:buChar char="○"/>
            </a:pPr>
            <a:r>
              <a:rPr lang="el"/>
              <a:t>Ground: Reception (part of Sales) &amp; Production</a:t>
            </a:r>
            <a:endParaRPr/>
          </a:p>
          <a:p>
            <a:pPr indent="-330200" lvl="1" marL="914400" rtl="0" algn="l">
              <a:lnSpc>
                <a:spcPct val="115000"/>
              </a:lnSpc>
              <a:spcBef>
                <a:spcPts val="0"/>
              </a:spcBef>
              <a:spcAft>
                <a:spcPts val="0"/>
              </a:spcAft>
              <a:buSzPts val="1600"/>
              <a:buChar char="○"/>
            </a:pPr>
            <a:r>
              <a:rPr lang="el"/>
              <a:t>First: Production</a:t>
            </a:r>
            <a:endParaRPr/>
          </a:p>
          <a:p>
            <a:pPr indent="-330200" lvl="1" marL="914400" rtl="0" algn="l">
              <a:lnSpc>
                <a:spcPct val="115000"/>
              </a:lnSpc>
              <a:spcBef>
                <a:spcPts val="0"/>
              </a:spcBef>
              <a:spcAft>
                <a:spcPts val="0"/>
              </a:spcAft>
              <a:buSzPts val="1600"/>
              <a:buChar char="○"/>
            </a:pPr>
            <a:r>
              <a:rPr lang="el"/>
              <a:t>Second: Development &amp; Sales</a:t>
            </a:r>
            <a:endParaRPr/>
          </a:p>
          <a:p>
            <a:pPr indent="-330200" lvl="1" marL="914400" rtl="0" algn="l">
              <a:lnSpc>
                <a:spcPct val="115000"/>
              </a:lnSpc>
              <a:spcBef>
                <a:spcPts val="0"/>
              </a:spcBef>
              <a:spcAft>
                <a:spcPts val="0"/>
              </a:spcAft>
              <a:buSzPts val="1600"/>
              <a:buChar char="○"/>
            </a:pPr>
            <a:r>
              <a:rPr lang="el"/>
              <a:t>Third:  Payroll / HR &amp; Secure storage room.</a:t>
            </a:r>
            <a:endParaRPr/>
          </a:p>
        </p:txBody>
      </p:sp>
      <p:sp>
        <p:nvSpPr>
          <p:cNvPr id="285" name="Google Shape;285;p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How many clouds?</a:t>
            </a:r>
            <a:endParaRPr/>
          </a:p>
        </p:txBody>
      </p:sp>
      <p:sp>
        <p:nvSpPr>
          <p:cNvPr id="291" name="Google Shape;291;p18"/>
          <p:cNvSpPr txBox="1"/>
          <p:nvPr>
            <p:ph idx="1" type="body"/>
          </p:nvPr>
        </p:nvSpPr>
        <p:spPr>
          <a:xfrm>
            <a:off x="729450" y="1378000"/>
            <a:ext cx="7688700" cy="295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solidFill>
                  <a:schemeClr val="accent3"/>
                </a:solidFill>
              </a:rPr>
              <a:t>6 clouds!</a:t>
            </a:r>
            <a:r>
              <a:rPr b="1" lang="el"/>
              <a:t> </a:t>
            </a:r>
            <a:r>
              <a:rPr lang="el"/>
              <a:t>Don’t forget printers + core!</a:t>
            </a:r>
            <a:endParaRPr/>
          </a:p>
          <a:p>
            <a:pPr indent="-330200" lvl="0" marL="457200" rtl="0" algn="l">
              <a:lnSpc>
                <a:spcPct val="115000"/>
              </a:lnSpc>
              <a:spcBef>
                <a:spcPts val="0"/>
              </a:spcBef>
              <a:spcAft>
                <a:spcPts val="0"/>
              </a:spcAft>
              <a:buSzPts val="1600"/>
              <a:buChar char="●"/>
            </a:pPr>
            <a:r>
              <a:rPr lang="el"/>
              <a:t>How would you connect the Sales Department (Ground / 2nd floor, 18 users)?</a:t>
            </a:r>
            <a:endParaRPr/>
          </a:p>
          <a:p>
            <a:pPr indent="-330200" lvl="1" marL="914400" rtl="0" algn="l">
              <a:lnSpc>
                <a:spcPct val="115000"/>
              </a:lnSpc>
              <a:spcBef>
                <a:spcPts val="0"/>
              </a:spcBef>
              <a:spcAft>
                <a:spcPts val="0"/>
              </a:spcAft>
              <a:buSzPts val="1600"/>
              <a:buChar char="○"/>
            </a:pPr>
            <a:r>
              <a:rPr lang="el"/>
              <a:t>Take 1: 18 users + 1 connection to core = 19 ports?</a:t>
            </a:r>
            <a:endParaRPr/>
          </a:p>
          <a:p>
            <a:pPr indent="-330200" lvl="1" marL="914400" rtl="0" algn="l">
              <a:lnSpc>
                <a:spcPct val="115000"/>
              </a:lnSpc>
              <a:spcBef>
                <a:spcPts val="0"/>
              </a:spcBef>
              <a:spcAft>
                <a:spcPts val="0"/>
              </a:spcAft>
              <a:buSzPts val="1600"/>
              <a:buChar char="○"/>
            </a:pPr>
            <a:r>
              <a:rPr lang="el"/>
              <a:t>But, what about SFP (Single Failure Points)?</a:t>
            </a:r>
            <a:endParaRPr/>
          </a:p>
          <a:p>
            <a:pPr indent="-330200" lvl="1" marL="914400" rtl="0" algn="l">
              <a:lnSpc>
                <a:spcPct val="115000"/>
              </a:lnSpc>
              <a:spcBef>
                <a:spcPts val="0"/>
              </a:spcBef>
              <a:spcAft>
                <a:spcPts val="0"/>
              </a:spcAft>
              <a:buSzPts val="1600"/>
              <a:buChar char="○"/>
            </a:pPr>
            <a:r>
              <a:rPr lang="el"/>
              <a:t>Take 2: 18 users + 1 connection to core + 1 redundant connection to core = 20 ports! So, we need a </a:t>
            </a:r>
            <a:r>
              <a:rPr b="1" lang="el">
                <a:solidFill>
                  <a:schemeClr val="accent3"/>
                </a:solidFill>
              </a:rPr>
              <a:t>layer 2 switch with at least 20 ports!</a:t>
            </a:r>
            <a:endParaRPr b="1">
              <a:solidFill>
                <a:schemeClr val="accent3"/>
              </a:solidFill>
            </a:endParaRPr>
          </a:p>
          <a:p>
            <a:pPr indent="-330200" lvl="1" marL="914400" rtl="0" algn="l">
              <a:lnSpc>
                <a:spcPct val="115000"/>
              </a:lnSpc>
              <a:spcBef>
                <a:spcPts val="0"/>
              </a:spcBef>
              <a:spcAft>
                <a:spcPts val="0"/>
              </a:spcAft>
              <a:buSzPts val="1600"/>
              <a:buChar char="○"/>
            </a:pPr>
            <a:r>
              <a:rPr lang="el"/>
              <a:t>Look up those two alternatives:</a:t>
            </a:r>
            <a:endParaRPr/>
          </a:p>
          <a:p>
            <a:pPr indent="-330200" lvl="2" marL="1371600" rtl="0" algn="l">
              <a:lnSpc>
                <a:spcPct val="115000"/>
              </a:lnSpc>
              <a:spcBef>
                <a:spcPts val="0"/>
              </a:spcBef>
              <a:spcAft>
                <a:spcPts val="0"/>
              </a:spcAft>
              <a:buSzPts val="1600"/>
              <a:buChar char="■"/>
            </a:pPr>
            <a:r>
              <a:rPr lang="el" sz="1600"/>
              <a:t>Cisco 2960.</a:t>
            </a:r>
            <a:endParaRPr sz="1600"/>
          </a:p>
          <a:p>
            <a:pPr indent="-330200" lvl="2" marL="1371600" rtl="0" algn="l">
              <a:lnSpc>
                <a:spcPct val="115000"/>
              </a:lnSpc>
              <a:spcBef>
                <a:spcPts val="0"/>
              </a:spcBef>
              <a:spcAft>
                <a:spcPts val="0"/>
              </a:spcAft>
              <a:buSzPts val="1600"/>
              <a:buChar char="■"/>
            </a:pPr>
            <a:r>
              <a:rPr lang="el" sz="1600"/>
              <a:t>Cisco 1000</a:t>
            </a:r>
            <a:endParaRPr sz="1600"/>
          </a:p>
          <a:p>
            <a:pPr indent="-330200" lvl="1" marL="914400" rtl="0" algn="l">
              <a:lnSpc>
                <a:spcPct val="115000"/>
              </a:lnSpc>
              <a:spcBef>
                <a:spcPts val="0"/>
              </a:spcBef>
              <a:spcAft>
                <a:spcPts val="0"/>
              </a:spcAft>
              <a:buSzPts val="1600"/>
              <a:buChar char="○"/>
            </a:pPr>
            <a:r>
              <a:rPr lang="el"/>
              <a:t>Which would you prefer?</a:t>
            </a:r>
            <a:endParaRPr sz="1600"/>
          </a:p>
        </p:txBody>
      </p:sp>
      <p:sp>
        <p:nvSpPr>
          <p:cNvPr id="292" name="Google Shape;292;p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Cisco 2960</a:t>
            </a:r>
            <a:endParaRPr/>
          </a:p>
        </p:txBody>
      </p:sp>
      <p:sp>
        <p:nvSpPr>
          <p:cNvPr id="298" name="Google Shape;298;p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299" name="Google Shape;299;p19"/>
          <p:cNvPicPr preferRelativeResize="0"/>
          <p:nvPr/>
        </p:nvPicPr>
        <p:blipFill rotWithShape="1">
          <a:blip r:embed="rId3">
            <a:alphaModFix/>
          </a:blip>
          <a:srcRect b="0" l="0" r="0" t="0"/>
          <a:stretch/>
        </p:blipFill>
        <p:spPr>
          <a:xfrm>
            <a:off x="1906800" y="1844325"/>
            <a:ext cx="5334000" cy="2257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Cisco 1000</a:t>
            </a:r>
            <a:endParaRPr/>
          </a:p>
        </p:txBody>
      </p:sp>
      <p:sp>
        <p:nvSpPr>
          <p:cNvPr id="305" name="Google Shape;305;p2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306" name="Google Shape;306;p20"/>
          <p:cNvPicPr preferRelativeResize="0"/>
          <p:nvPr/>
        </p:nvPicPr>
        <p:blipFill rotWithShape="1">
          <a:blip r:embed="rId3">
            <a:alphaModFix/>
          </a:blip>
          <a:srcRect b="0" l="0" r="0" t="0"/>
          <a:stretch/>
        </p:blipFill>
        <p:spPr>
          <a:xfrm>
            <a:off x="456250" y="1392425"/>
            <a:ext cx="8231503" cy="360352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Connecting Clouds</a:t>
            </a:r>
            <a:endParaRPr/>
          </a:p>
        </p:txBody>
      </p:sp>
      <p:sp>
        <p:nvSpPr>
          <p:cNvPr id="312" name="Google Shape;312;p21"/>
          <p:cNvSpPr txBox="1"/>
          <p:nvPr>
            <p:ph idx="1" type="body"/>
          </p:nvPr>
        </p:nvSpPr>
        <p:spPr>
          <a:xfrm>
            <a:off x="729450" y="1378000"/>
            <a:ext cx="7688700" cy="35661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How to connect our six clouds?</a:t>
            </a:r>
            <a:endParaRPr/>
          </a:p>
          <a:p>
            <a:pPr indent="-330200" lvl="0" marL="457200" rtl="0" algn="l">
              <a:lnSpc>
                <a:spcPct val="115000"/>
              </a:lnSpc>
              <a:spcBef>
                <a:spcPts val="0"/>
              </a:spcBef>
              <a:spcAft>
                <a:spcPts val="0"/>
              </a:spcAft>
              <a:buSzPts val="1600"/>
              <a:buChar char="●"/>
            </a:pPr>
            <a:r>
              <a:rPr lang="el"/>
              <a:t>Via Layer 3 switches / Routers (those will serve as gateway ports).</a:t>
            </a:r>
            <a:endParaRPr/>
          </a:p>
          <a:p>
            <a:pPr indent="-330200" lvl="0" marL="457200" rtl="0" algn="l">
              <a:lnSpc>
                <a:spcPct val="115000"/>
              </a:lnSpc>
              <a:spcBef>
                <a:spcPts val="0"/>
              </a:spcBef>
              <a:spcAft>
                <a:spcPts val="0"/>
              </a:spcAft>
              <a:buSzPts val="1600"/>
              <a:buChar char="●"/>
            </a:pPr>
            <a:r>
              <a:rPr lang="el"/>
              <a:t>How many ports?</a:t>
            </a:r>
            <a:endParaRPr/>
          </a:p>
          <a:p>
            <a:pPr indent="-330200" lvl="0" marL="457200" rtl="0" algn="l">
              <a:lnSpc>
                <a:spcPct val="115000"/>
              </a:lnSpc>
              <a:spcBef>
                <a:spcPts val="0"/>
              </a:spcBef>
              <a:spcAft>
                <a:spcPts val="0"/>
              </a:spcAft>
              <a:buSzPts val="1600"/>
              <a:buChar char="●"/>
            </a:pPr>
            <a:r>
              <a:rPr lang="el"/>
              <a:t>Since we have six clouds, </a:t>
            </a:r>
            <a:r>
              <a:rPr b="1" lang="el">
                <a:solidFill>
                  <a:schemeClr val="accent3"/>
                </a:solidFill>
              </a:rPr>
              <a:t>at least 6!</a:t>
            </a:r>
            <a:endParaRPr b="1">
              <a:solidFill>
                <a:schemeClr val="accent3"/>
              </a:solidFill>
            </a:endParaRPr>
          </a:p>
          <a:p>
            <a:pPr indent="-330200" lvl="0" marL="457200" rtl="0" algn="l">
              <a:lnSpc>
                <a:spcPct val="115000"/>
              </a:lnSpc>
              <a:spcBef>
                <a:spcPts val="0"/>
              </a:spcBef>
              <a:spcAft>
                <a:spcPts val="0"/>
              </a:spcAft>
              <a:buSzPts val="1600"/>
              <a:buChar char="●"/>
            </a:pPr>
            <a:r>
              <a:rPr lang="el"/>
              <a:t>Why at least?</a:t>
            </a:r>
            <a:endParaRPr/>
          </a:p>
          <a:p>
            <a:pPr indent="-330200" lvl="1" marL="914400" rtl="0" algn="l">
              <a:lnSpc>
                <a:spcPct val="115000"/>
              </a:lnSpc>
              <a:spcBef>
                <a:spcPts val="0"/>
              </a:spcBef>
              <a:spcAft>
                <a:spcPts val="0"/>
              </a:spcAft>
              <a:buSzPts val="1600"/>
              <a:buChar char="○"/>
            </a:pPr>
            <a:r>
              <a:rPr lang="el"/>
              <a:t>There is also the outer world + think future!</a:t>
            </a:r>
            <a:endParaRPr/>
          </a:p>
          <a:p>
            <a:pPr indent="-330200" lvl="0" marL="457200" rtl="0" algn="l">
              <a:lnSpc>
                <a:spcPct val="115000"/>
              </a:lnSpc>
              <a:spcBef>
                <a:spcPts val="0"/>
              </a:spcBef>
              <a:spcAft>
                <a:spcPts val="0"/>
              </a:spcAft>
              <a:buSzPts val="1600"/>
              <a:buChar char="●"/>
            </a:pPr>
            <a:r>
              <a:rPr b="1" lang="el">
                <a:solidFill>
                  <a:schemeClr val="accent3"/>
                </a:solidFill>
              </a:rPr>
              <a:t>Fast Ethernet (FE)</a:t>
            </a:r>
            <a:r>
              <a:rPr lang="el"/>
              <a:t> or </a:t>
            </a:r>
            <a:r>
              <a:rPr b="1" lang="el">
                <a:solidFill>
                  <a:schemeClr val="dk1"/>
                </a:solidFill>
              </a:rPr>
              <a:t>Gigabit Ethernet (GE)</a:t>
            </a:r>
            <a:r>
              <a:rPr lang="el"/>
              <a:t>?</a:t>
            </a:r>
            <a:endParaRPr/>
          </a:p>
          <a:p>
            <a:pPr indent="-330200" lvl="0" marL="457200" rtl="0" algn="l">
              <a:lnSpc>
                <a:spcPct val="115000"/>
              </a:lnSpc>
              <a:spcBef>
                <a:spcPts val="0"/>
              </a:spcBef>
              <a:spcAft>
                <a:spcPts val="0"/>
              </a:spcAft>
              <a:buSzPts val="1600"/>
              <a:buChar char="●"/>
            </a:pPr>
            <a:r>
              <a:rPr lang="el"/>
              <a:t>Since we chose GE Layer 2 Switches, we must choose GE Layer 3 devices, otherwise we would bottleneck our own network (bad for your course assignment, too!)</a:t>
            </a:r>
            <a:endParaRPr/>
          </a:p>
          <a:p>
            <a:pPr indent="-330200" lvl="0" marL="457200" rtl="0" algn="l">
              <a:lnSpc>
                <a:spcPct val="115000"/>
              </a:lnSpc>
              <a:spcBef>
                <a:spcPts val="0"/>
              </a:spcBef>
              <a:spcAft>
                <a:spcPts val="0"/>
              </a:spcAft>
              <a:buSzPts val="1600"/>
              <a:buChar char="●"/>
            </a:pPr>
            <a:r>
              <a:rPr lang="el"/>
              <a:t>Look around the internet for a reasonable choice.</a:t>
            </a:r>
            <a:endParaRPr/>
          </a:p>
          <a:p>
            <a:pPr indent="-330200" lvl="0" marL="457200" rtl="0" algn="l">
              <a:lnSpc>
                <a:spcPct val="115000"/>
              </a:lnSpc>
              <a:spcBef>
                <a:spcPts val="0"/>
              </a:spcBef>
              <a:spcAft>
                <a:spcPts val="0"/>
              </a:spcAft>
              <a:buSzPts val="1600"/>
              <a:buChar char="●"/>
            </a:pPr>
            <a:r>
              <a:rPr lang="el"/>
              <a:t>What did you find? How does it cost?</a:t>
            </a:r>
            <a:endParaRPr/>
          </a:p>
        </p:txBody>
      </p:sp>
      <p:sp>
        <p:nvSpPr>
          <p:cNvPr id="313" name="Google Shape;313;p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Careless in the Abyss</a:t>
            </a:r>
            <a:endParaRPr/>
          </a:p>
        </p:txBody>
      </p:sp>
      <p:sp>
        <p:nvSpPr>
          <p:cNvPr id="319" name="Google Shape;319;p2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320" name="Google Shape;320;p22"/>
          <p:cNvPicPr preferRelativeResize="0"/>
          <p:nvPr/>
        </p:nvPicPr>
        <p:blipFill rotWithShape="1">
          <a:blip r:embed="rId3">
            <a:alphaModFix/>
          </a:blip>
          <a:srcRect b="0" l="0" r="0" t="0"/>
          <a:stretch/>
        </p:blipFill>
        <p:spPr>
          <a:xfrm>
            <a:off x="1580025" y="1358425"/>
            <a:ext cx="5983950" cy="3365975"/>
          </a:xfrm>
          <a:prstGeom prst="rect">
            <a:avLst/>
          </a:prstGeom>
          <a:noFill/>
          <a:ln>
            <a:noFill/>
          </a:ln>
        </p:spPr>
      </p:pic>
      <p:sp>
        <p:nvSpPr>
          <p:cNvPr id="321" name="Google Shape;321;p22"/>
          <p:cNvSpPr txBox="1"/>
          <p:nvPr/>
        </p:nvSpPr>
        <p:spPr>
          <a:xfrm>
            <a:off x="5438775" y="4791075"/>
            <a:ext cx="2125200" cy="266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l" sz="1100" u="none" cap="none" strike="noStrike">
                <a:solidFill>
                  <a:srgbClr val="595959"/>
                </a:solidFill>
                <a:latin typeface="Consolas"/>
                <a:ea typeface="Consolas"/>
                <a:cs typeface="Consolas"/>
                <a:sym typeface="Consolas"/>
              </a:rPr>
              <a:t>Adapted from </a:t>
            </a:r>
            <a:r>
              <a:rPr b="0" i="0" lang="el" sz="1100" u="sng" cap="none" strike="noStrike">
                <a:solidFill>
                  <a:srgbClr val="595959"/>
                </a:solidFill>
                <a:latin typeface="Consolas"/>
                <a:ea typeface="Consolas"/>
                <a:cs typeface="Consolas"/>
                <a:sym typeface="Consolas"/>
                <a:hlinkClick r:id="rId4">
                  <a:extLst>
                    <a:ext uri="{A12FA001-AC4F-418D-AE19-62706E023703}">
                      <ahyp:hlinkClr val="tx"/>
                    </a:ext>
                  </a:extLst>
                </a:hlinkClick>
              </a:rPr>
              <a:t>Adam Ellis</a:t>
            </a:r>
            <a:r>
              <a:rPr b="0" i="0" lang="el" sz="1100" u="none" cap="none" strike="noStrike">
                <a:solidFill>
                  <a:srgbClr val="595959"/>
                </a:solidFill>
                <a:latin typeface="Consolas"/>
                <a:ea typeface="Consolas"/>
                <a:cs typeface="Consolas"/>
                <a:sym typeface="Consolas"/>
              </a:rPr>
              <a:t>.</a:t>
            </a:r>
            <a:endParaRPr b="0" i="0" sz="1100" u="none" cap="none" strike="noStrike">
              <a:solidFill>
                <a:srgbClr val="595959"/>
              </a:solidFill>
              <a:latin typeface="Consolas"/>
              <a:ea typeface="Consolas"/>
              <a:cs typeface="Consolas"/>
              <a:sym typeface="Consolas"/>
            </a:endParaRPr>
          </a:p>
        </p:txBody>
      </p:sp>
      <p:sp>
        <p:nvSpPr>
          <p:cNvPr id="322" name="Google Shape;322;p22"/>
          <p:cNvSpPr/>
          <p:nvPr/>
        </p:nvSpPr>
        <p:spPr>
          <a:xfrm>
            <a:off x="4730750" y="1451450"/>
            <a:ext cx="979800" cy="58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3" name="Google Shape;323;p22"/>
          <p:cNvSpPr/>
          <p:nvPr/>
        </p:nvSpPr>
        <p:spPr>
          <a:xfrm>
            <a:off x="5547150" y="1709950"/>
            <a:ext cx="281100" cy="294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4" name="Google Shape;324;p22"/>
          <p:cNvSpPr/>
          <p:nvPr/>
        </p:nvSpPr>
        <p:spPr>
          <a:xfrm>
            <a:off x="6413500" y="1387850"/>
            <a:ext cx="1061400" cy="689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5" name="Google Shape;325;p22"/>
          <p:cNvSpPr/>
          <p:nvPr/>
        </p:nvSpPr>
        <p:spPr>
          <a:xfrm>
            <a:off x="6558650" y="2004850"/>
            <a:ext cx="744000" cy="149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6" name="Google Shape;326;p22"/>
          <p:cNvSpPr txBox="1"/>
          <p:nvPr/>
        </p:nvSpPr>
        <p:spPr>
          <a:xfrm>
            <a:off x="4714988" y="1387850"/>
            <a:ext cx="1092900" cy="71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l" sz="1100" u="none" cap="none" strike="noStrike">
                <a:solidFill>
                  <a:srgbClr val="000000"/>
                </a:solidFill>
                <a:latin typeface="Comic Sans MS"/>
                <a:ea typeface="Comic Sans MS"/>
                <a:cs typeface="Comic Sans MS"/>
                <a:sym typeface="Comic Sans MS"/>
              </a:rPr>
              <a:t>I CAN SEE OTHERS’ DEVICES!</a:t>
            </a:r>
            <a:endParaRPr b="1" i="0" sz="1100" u="none" cap="none" strike="noStrike">
              <a:solidFill>
                <a:srgbClr val="000000"/>
              </a:solidFill>
              <a:latin typeface="Comic Sans MS"/>
              <a:ea typeface="Comic Sans MS"/>
              <a:cs typeface="Comic Sans MS"/>
              <a:sym typeface="Comic Sans MS"/>
            </a:endParaRPr>
          </a:p>
        </p:txBody>
      </p:sp>
      <p:sp>
        <p:nvSpPr>
          <p:cNvPr id="327" name="Google Shape;327;p22"/>
          <p:cNvSpPr txBox="1"/>
          <p:nvPr/>
        </p:nvSpPr>
        <p:spPr>
          <a:xfrm>
            <a:off x="6413525" y="1301700"/>
            <a:ext cx="1061400" cy="78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50"/>
              <a:buFont typeface="Arial"/>
              <a:buNone/>
            </a:pPr>
            <a:r>
              <a:rPr b="1" i="0" lang="el" sz="1050" u="none" cap="none" strike="noStrike">
                <a:solidFill>
                  <a:srgbClr val="000000"/>
                </a:solidFill>
                <a:latin typeface="Comic Sans MS"/>
                <a:ea typeface="Comic Sans MS"/>
                <a:cs typeface="Comic Sans MS"/>
                <a:sym typeface="Comic Sans MS"/>
              </a:rPr>
              <a:t>BUT, THIS MEANS THEY CAN SEE MINE, TOO?</a:t>
            </a:r>
            <a:endParaRPr b="1" i="0" sz="1050" u="none" cap="none" strike="noStrike">
              <a:solidFill>
                <a:srgbClr val="000000"/>
              </a:solidFill>
              <a:latin typeface="Comic Sans MS"/>
              <a:ea typeface="Comic Sans MS"/>
              <a:cs typeface="Comic Sans MS"/>
              <a:sym typeface="Comic Sans MS"/>
            </a:endParaRPr>
          </a:p>
        </p:txBody>
      </p:sp>
      <p:sp>
        <p:nvSpPr>
          <p:cNvPr id="328" name="Google Shape;328;p22"/>
          <p:cNvSpPr/>
          <p:nvPr/>
        </p:nvSpPr>
        <p:spPr>
          <a:xfrm>
            <a:off x="1882325" y="1505850"/>
            <a:ext cx="2208900" cy="376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329" name="Google Shape;329;p22"/>
          <p:cNvSpPr txBox="1"/>
          <p:nvPr/>
        </p:nvSpPr>
        <p:spPr>
          <a:xfrm>
            <a:off x="1927150" y="1443025"/>
            <a:ext cx="21252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l" sz="1100" u="none" cap="none" strike="noStrike">
                <a:solidFill>
                  <a:srgbClr val="000000"/>
                </a:solidFill>
                <a:latin typeface="Comic Sans MS"/>
                <a:ea typeface="Comic Sans MS"/>
                <a:cs typeface="Comic Sans MS"/>
                <a:sym typeface="Comic Sans MS"/>
              </a:rPr>
              <a:t>INTERNETWORKING IS REALLY AMAZING!</a:t>
            </a:r>
            <a:endParaRPr b="1" i="0" sz="1100" u="none" cap="none" strike="noStrike">
              <a:solidFill>
                <a:srgbClr val="000000"/>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Setting up Firewalls</a:t>
            </a:r>
            <a:endParaRPr/>
          </a:p>
        </p:txBody>
      </p:sp>
      <p:sp>
        <p:nvSpPr>
          <p:cNvPr id="335" name="Google Shape;335;p2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Firewalls act as filters between you (your network) and the world (aka Internet).</a:t>
            </a:r>
            <a:endParaRPr/>
          </a:p>
          <a:p>
            <a:pPr indent="-330200" lvl="0" marL="457200" rtl="0" algn="l">
              <a:lnSpc>
                <a:spcPct val="115000"/>
              </a:lnSpc>
              <a:spcBef>
                <a:spcPts val="0"/>
              </a:spcBef>
              <a:spcAft>
                <a:spcPts val="0"/>
              </a:spcAft>
              <a:buSzPts val="1600"/>
              <a:buChar char="●"/>
            </a:pPr>
            <a:r>
              <a:rPr lang="el"/>
              <a:t>Additional router(s) might be needed to connect the outside network (usually Ethernet based) to the (ADSL based) Internet connection.</a:t>
            </a:r>
            <a:endParaRPr/>
          </a:p>
          <a:p>
            <a:pPr indent="-330200" lvl="0" marL="457200" rtl="0" algn="l">
              <a:lnSpc>
                <a:spcPct val="115000"/>
              </a:lnSpc>
              <a:spcBef>
                <a:spcPts val="0"/>
              </a:spcBef>
              <a:spcAft>
                <a:spcPts val="0"/>
              </a:spcAft>
              <a:buSzPts val="1600"/>
              <a:buChar char="●"/>
            </a:pPr>
            <a:r>
              <a:rPr lang="el"/>
              <a:t>Many routers have their own internal firewall (ISR: Integrated Services Router).</a:t>
            </a:r>
            <a:endParaRPr/>
          </a:p>
          <a:p>
            <a:pPr indent="-330200" lvl="0" marL="457200" rtl="0" algn="l">
              <a:lnSpc>
                <a:spcPct val="115000"/>
              </a:lnSpc>
              <a:spcBef>
                <a:spcPts val="0"/>
              </a:spcBef>
              <a:spcAft>
                <a:spcPts val="0"/>
              </a:spcAft>
              <a:buSzPts val="1600"/>
              <a:buChar char="●"/>
            </a:pPr>
            <a:r>
              <a:rPr lang="el"/>
              <a:t>We often have internal firewalls, i.e., between departments. Why?</a:t>
            </a:r>
            <a:endParaRPr/>
          </a:p>
          <a:p>
            <a:pPr indent="-330200" lvl="1" marL="914400" rtl="0" algn="l">
              <a:lnSpc>
                <a:spcPct val="115000"/>
              </a:lnSpc>
              <a:spcBef>
                <a:spcPts val="0"/>
              </a:spcBef>
              <a:spcAft>
                <a:spcPts val="0"/>
              </a:spcAft>
              <a:buSzPts val="1600"/>
              <a:buChar char="○"/>
            </a:pPr>
            <a:r>
              <a:rPr lang="el"/>
              <a:t>To avoid potential damage at one place spreading to others.</a:t>
            </a:r>
            <a:endParaRPr/>
          </a:p>
          <a:p>
            <a:pPr indent="-330200" lvl="1" marL="914400" rtl="0" algn="l">
              <a:lnSpc>
                <a:spcPct val="115000"/>
              </a:lnSpc>
              <a:spcBef>
                <a:spcPts val="0"/>
              </a:spcBef>
              <a:spcAft>
                <a:spcPts val="0"/>
              </a:spcAft>
              <a:buSzPts val="1600"/>
              <a:buChar char="○"/>
            </a:pPr>
            <a:r>
              <a:rPr lang="el"/>
              <a:t>To avoid internal breaches.</a:t>
            </a:r>
            <a:endParaRPr/>
          </a:p>
          <a:p>
            <a:pPr indent="-330200" lvl="1" marL="914400" rtl="0" algn="l">
              <a:lnSpc>
                <a:spcPct val="115000"/>
              </a:lnSpc>
              <a:spcBef>
                <a:spcPts val="0"/>
              </a:spcBef>
              <a:spcAft>
                <a:spcPts val="0"/>
              </a:spcAft>
              <a:buSzPts val="1600"/>
              <a:buChar char="○"/>
            </a:pPr>
            <a:r>
              <a:rPr lang="el"/>
              <a:t>To ensure people at your business do (only) what they are supposed to.</a:t>
            </a:r>
            <a:endParaRPr/>
          </a:p>
        </p:txBody>
      </p:sp>
      <p:sp>
        <p:nvSpPr>
          <p:cNvPr id="336" name="Google Shape;336;p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Setting up (just that)</a:t>
            </a:r>
            <a:endParaRPr/>
          </a:p>
        </p:txBody>
      </p:sp>
      <p:sp>
        <p:nvSpPr>
          <p:cNvPr id="342" name="Google Shape;342;p2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Mention some cases of potential physical threats against equipment:</a:t>
            </a:r>
            <a:endParaRPr/>
          </a:p>
          <a:p>
            <a:pPr indent="-330200" lvl="1" marL="914400" rtl="0" algn="l">
              <a:lnSpc>
                <a:spcPct val="115000"/>
              </a:lnSpc>
              <a:spcBef>
                <a:spcPts val="0"/>
              </a:spcBef>
              <a:spcAft>
                <a:spcPts val="0"/>
              </a:spcAft>
              <a:buSzPts val="1600"/>
              <a:buChar char="○"/>
            </a:pPr>
            <a:r>
              <a:rPr lang="el"/>
              <a:t>Temperature (Heat / Cold)</a:t>
            </a:r>
            <a:endParaRPr/>
          </a:p>
          <a:p>
            <a:pPr indent="-330200" lvl="1" marL="914400" rtl="0" algn="l">
              <a:lnSpc>
                <a:spcPct val="115000"/>
              </a:lnSpc>
              <a:spcBef>
                <a:spcPts val="0"/>
              </a:spcBef>
              <a:spcAft>
                <a:spcPts val="0"/>
              </a:spcAft>
              <a:buSzPts val="1600"/>
              <a:buChar char="○"/>
            </a:pPr>
            <a:r>
              <a:rPr lang="el"/>
              <a:t>Fires / Earthquakes / Natural disasters</a:t>
            </a:r>
            <a:endParaRPr/>
          </a:p>
          <a:p>
            <a:pPr indent="-330200" lvl="1" marL="914400" rtl="0" algn="l">
              <a:lnSpc>
                <a:spcPct val="115000"/>
              </a:lnSpc>
              <a:spcBef>
                <a:spcPts val="0"/>
              </a:spcBef>
              <a:spcAft>
                <a:spcPts val="0"/>
              </a:spcAft>
              <a:buSzPts val="1600"/>
              <a:buChar char="○"/>
            </a:pPr>
            <a:r>
              <a:rPr lang="el"/>
              <a:t>Users</a:t>
            </a:r>
            <a:endParaRPr/>
          </a:p>
          <a:p>
            <a:pPr indent="-330200" lvl="1" marL="914400" rtl="0" algn="l">
              <a:lnSpc>
                <a:spcPct val="115000"/>
              </a:lnSpc>
              <a:spcBef>
                <a:spcPts val="0"/>
              </a:spcBef>
              <a:spcAft>
                <a:spcPts val="0"/>
              </a:spcAft>
              <a:buSzPts val="1600"/>
              <a:buChar char="○"/>
            </a:pPr>
            <a:r>
              <a:rPr lang="el"/>
              <a:t>Unauthorised users…</a:t>
            </a:r>
            <a:endParaRPr/>
          </a:p>
          <a:p>
            <a:pPr indent="-330200" lvl="0" marL="457200" rtl="0" algn="l">
              <a:lnSpc>
                <a:spcPct val="115000"/>
              </a:lnSpc>
              <a:spcBef>
                <a:spcPts val="0"/>
              </a:spcBef>
              <a:spcAft>
                <a:spcPts val="0"/>
              </a:spcAft>
              <a:buSzPts val="1600"/>
              <a:buChar char="●"/>
            </a:pPr>
            <a:r>
              <a:rPr lang="el"/>
              <a:t>How to protect against them?</a:t>
            </a:r>
            <a:endParaRPr/>
          </a:p>
          <a:p>
            <a:pPr indent="-330200" lvl="1" marL="914400" rtl="0" algn="l">
              <a:lnSpc>
                <a:spcPct val="115000"/>
              </a:lnSpc>
              <a:spcBef>
                <a:spcPts val="0"/>
              </a:spcBef>
              <a:spcAft>
                <a:spcPts val="0"/>
              </a:spcAft>
              <a:buSzPts val="1600"/>
              <a:buChar char="○"/>
            </a:pPr>
            <a:r>
              <a:rPr lang="el"/>
              <a:t>Physical containers (put your precious machines in protective boxes)</a:t>
            </a:r>
            <a:endParaRPr/>
          </a:p>
          <a:p>
            <a:pPr indent="-330200" lvl="1" marL="914400" rtl="0" algn="l">
              <a:lnSpc>
                <a:spcPct val="115000"/>
              </a:lnSpc>
              <a:spcBef>
                <a:spcPts val="0"/>
              </a:spcBef>
              <a:spcAft>
                <a:spcPts val="0"/>
              </a:spcAft>
              <a:buSzPts val="1600"/>
              <a:buChar char="○"/>
            </a:pPr>
            <a:r>
              <a:rPr lang="el"/>
              <a:t>Choose places with limited access (e.g., areas where you can observe, or where there is no free access or where access is noticeable).</a:t>
            </a:r>
            <a:endParaRPr/>
          </a:p>
        </p:txBody>
      </p:sp>
      <p:sp>
        <p:nvSpPr>
          <p:cNvPr id="343" name="Google Shape;343;p2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Setting up (again)</a:t>
            </a:r>
            <a:endParaRPr/>
          </a:p>
        </p:txBody>
      </p:sp>
      <p:sp>
        <p:nvSpPr>
          <p:cNvPr id="349" name="Google Shape;349;p25"/>
          <p:cNvSpPr txBox="1"/>
          <p:nvPr>
            <p:ph idx="1" type="body"/>
          </p:nvPr>
        </p:nvSpPr>
        <p:spPr>
          <a:xfrm>
            <a:off x="729450" y="1378000"/>
            <a:ext cx="7688700" cy="28212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Is it a good idea to have all equipment in one place?</a:t>
            </a:r>
            <a:endParaRPr/>
          </a:p>
          <a:p>
            <a:pPr indent="-330200" lvl="1" marL="914400" rtl="0" algn="l">
              <a:lnSpc>
                <a:spcPct val="115000"/>
              </a:lnSpc>
              <a:spcBef>
                <a:spcPts val="0"/>
              </a:spcBef>
              <a:spcAft>
                <a:spcPts val="0"/>
              </a:spcAft>
              <a:buSzPts val="1600"/>
              <a:buChar char="○"/>
            </a:pPr>
            <a:r>
              <a:rPr lang="el"/>
              <a:t>Heat?</a:t>
            </a:r>
            <a:endParaRPr/>
          </a:p>
          <a:p>
            <a:pPr indent="-330200" lvl="1" marL="914400" rtl="0" algn="l">
              <a:lnSpc>
                <a:spcPct val="115000"/>
              </a:lnSpc>
              <a:spcBef>
                <a:spcPts val="0"/>
              </a:spcBef>
              <a:spcAft>
                <a:spcPts val="0"/>
              </a:spcAft>
              <a:buSzPts val="1600"/>
              <a:buChar char="○"/>
            </a:pPr>
            <a:r>
              <a:rPr lang="el"/>
              <a:t>Voltage?</a:t>
            </a:r>
            <a:endParaRPr/>
          </a:p>
          <a:p>
            <a:pPr indent="-330200" lvl="0" marL="457200" rtl="0" algn="l">
              <a:lnSpc>
                <a:spcPct val="115000"/>
              </a:lnSpc>
              <a:spcBef>
                <a:spcPts val="0"/>
              </a:spcBef>
              <a:spcAft>
                <a:spcPts val="0"/>
              </a:spcAft>
              <a:buSzPts val="1600"/>
              <a:buChar char="●"/>
            </a:pPr>
            <a:r>
              <a:rPr lang="el"/>
              <a:t>Is it good to split connections?</a:t>
            </a:r>
            <a:endParaRPr/>
          </a:p>
          <a:p>
            <a:pPr indent="-330200" lvl="1" marL="914400" rtl="0" algn="l">
              <a:lnSpc>
                <a:spcPct val="115000"/>
              </a:lnSpc>
              <a:spcBef>
                <a:spcPts val="0"/>
              </a:spcBef>
              <a:spcAft>
                <a:spcPts val="0"/>
              </a:spcAft>
              <a:buSzPts val="1600"/>
              <a:buChar char="○"/>
            </a:pPr>
            <a:r>
              <a:rPr lang="el"/>
              <a:t>Cost?</a:t>
            </a:r>
            <a:endParaRPr/>
          </a:p>
          <a:p>
            <a:pPr indent="-330200" lvl="1" marL="914400" rtl="0" algn="l">
              <a:lnSpc>
                <a:spcPct val="115000"/>
              </a:lnSpc>
              <a:spcBef>
                <a:spcPts val="0"/>
              </a:spcBef>
              <a:spcAft>
                <a:spcPts val="0"/>
              </a:spcAft>
              <a:buSzPts val="1600"/>
              <a:buChar char="○"/>
            </a:pPr>
            <a:r>
              <a:rPr lang="el"/>
              <a:t>Complexity?</a:t>
            </a:r>
            <a:endParaRPr/>
          </a:p>
          <a:p>
            <a:pPr indent="-330200" lvl="0" marL="457200" rtl="0" algn="l">
              <a:lnSpc>
                <a:spcPct val="115000"/>
              </a:lnSpc>
              <a:spcBef>
                <a:spcPts val="0"/>
              </a:spcBef>
              <a:spcAft>
                <a:spcPts val="0"/>
              </a:spcAft>
              <a:buSzPts val="1600"/>
              <a:buChar char="●"/>
            </a:pPr>
            <a:r>
              <a:rPr lang="el"/>
              <a:t>Things to take into account:</a:t>
            </a:r>
            <a:endParaRPr/>
          </a:p>
          <a:p>
            <a:pPr indent="-330200" lvl="1" marL="914400" rtl="0" algn="l">
              <a:lnSpc>
                <a:spcPct val="115000"/>
              </a:lnSpc>
              <a:spcBef>
                <a:spcPts val="0"/>
              </a:spcBef>
              <a:spcAft>
                <a:spcPts val="0"/>
              </a:spcAft>
              <a:buSzPts val="1600"/>
              <a:buChar char="○"/>
            </a:pPr>
            <a:r>
              <a:rPr lang="el"/>
              <a:t>Distance: When is short physical distance beneficial? When not?</a:t>
            </a:r>
            <a:endParaRPr/>
          </a:p>
          <a:p>
            <a:pPr indent="-330200" lvl="1" marL="914400" rtl="0" algn="l">
              <a:lnSpc>
                <a:spcPct val="115000"/>
              </a:lnSpc>
              <a:spcBef>
                <a:spcPts val="0"/>
              </a:spcBef>
              <a:spcAft>
                <a:spcPts val="0"/>
              </a:spcAft>
              <a:buSzPts val="1600"/>
              <a:buChar char="○"/>
            </a:pPr>
            <a:r>
              <a:rPr lang="el"/>
              <a:t>Reliability? Avoiding RFI / EMI?</a:t>
            </a:r>
            <a:endParaRPr/>
          </a:p>
        </p:txBody>
      </p:sp>
      <p:sp>
        <p:nvSpPr>
          <p:cNvPr id="350" name="Google Shape;350;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351" name="Google Shape;351;p25"/>
          <p:cNvSpPr txBox="1"/>
          <p:nvPr/>
        </p:nvSpPr>
        <p:spPr>
          <a:xfrm>
            <a:off x="2340600" y="4057375"/>
            <a:ext cx="4462800" cy="1036200"/>
          </a:xfrm>
          <a:prstGeom prst="rect">
            <a:avLst/>
          </a:prstGeom>
          <a:solidFill>
            <a:srgbClr val="FCE5CD"/>
          </a:solidFill>
          <a:ln cap="flat" cmpd="sng" w="19050">
            <a:solidFill>
              <a:schemeClr val="accent3"/>
            </a:solidFill>
            <a:prstDash val="dash"/>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l" sz="1600" u="none" cap="none" strike="noStrike">
                <a:solidFill>
                  <a:schemeClr val="accent1"/>
                </a:solidFill>
                <a:latin typeface="Lato"/>
                <a:ea typeface="Lato"/>
                <a:cs typeface="Lato"/>
                <a:sym typeface="Lato"/>
              </a:rPr>
              <a:t>When </a:t>
            </a:r>
            <a:r>
              <a:rPr b="1" i="0" lang="el" sz="1600" u="none" cap="none" strike="noStrike">
                <a:solidFill>
                  <a:schemeClr val="accent3"/>
                </a:solidFill>
                <a:latin typeface="Lato"/>
                <a:ea typeface="Lato"/>
                <a:cs typeface="Lato"/>
                <a:sym typeface="Lato"/>
              </a:rPr>
              <a:t>choosing cables</a:t>
            </a:r>
            <a:r>
              <a:rPr b="0" i="0" lang="el" sz="1600" u="none" cap="none" strike="noStrike">
                <a:solidFill>
                  <a:schemeClr val="accent1"/>
                </a:solidFill>
                <a:latin typeface="Lato"/>
                <a:ea typeface="Lato"/>
                <a:cs typeface="Lato"/>
                <a:sym typeface="Lato"/>
              </a:rPr>
              <a:t>, also remember that this </a:t>
            </a:r>
            <a:r>
              <a:rPr b="1" i="0" lang="el" sz="1600" u="none" cap="none" strike="noStrike">
                <a:solidFill>
                  <a:schemeClr val="accent3"/>
                </a:solidFill>
                <a:latin typeface="Lato"/>
                <a:ea typeface="Lato"/>
                <a:cs typeface="Lato"/>
                <a:sym typeface="Lato"/>
              </a:rPr>
              <a:t>affects other device choices</a:t>
            </a:r>
            <a:r>
              <a:rPr b="0" i="0" lang="el" sz="1600" u="none" cap="none" strike="noStrike">
                <a:solidFill>
                  <a:schemeClr val="accent1"/>
                </a:solidFill>
                <a:latin typeface="Lato"/>
                <a:ea typeface="Lato"/>
                <a:cs typeface="Lato"/>
                <a:sym typeface="Lato"/>
              </a:rPr>
              <a:t>! E.g., some switches do not support fibre, only TP.</a:t>
            </a:r>
            <a:endParaRPr b="0" i="0" sz="1600" u="none" cap="none" strike="noStrike">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More on Connectivity</a:t>
            </a:r>
            <a:endParaRPr/>
          </a:p>
        </p:txBody>
      </p:sp>
      <p:sp>
        <p:nvSpPr>
          <p:cNvPr id="357" name="Google Shape;357;p2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Consider creating redundancies:</a:t>
            </a:r>
            <a:endParaRPr/>
          </a:p>
          <a:p>
            <a:pPr indent="-330200" lvl="1" marL="914400" rtl="0" algn="l">
              <a:lnSpc>
                <a:spcPct val="115000"/>
              </a:lnSpc>
              <a:spcBef>
                <a:spcPts val="0"/>
              </a:spcBef>
              <a:spcAft>
                <a:spcPts val="0"/>
              </a:spcAft>
              <a:buSzPts val="1600"/>
              <a:buChar char="○"/>
            </a:pPr>
            <a:r>
              <a:rPr lang="el"/>
              <a:t>How many more ports?</a:t>
            </a:r>
            <a:endParaRPr/>
          </a:p>
          <a:p>
            <a:pPr indent="-330200" lvl="1" marL="914400" rtl="0" algn="l">
              <a:lnSpc>
                <a:spcPct val="115000"/>
              </a:lnSpc>
              <a:spcBef>
                <a:spcPts val="0"/>
              </a:spcBef>
              <a:spcAft>
                <a:spcPts val="0"/>
              </a:spcAft>
              <a:buSzPts val="1600"/>
              <a:buChar char="○"/>
            </a:pPr>
            <a:r>
              <a:rPr lang="el"/>
              <a:t>At what cost?</a:t>
            </a:r>
            <a:endParaRPr/>
          </a:p>
          <a:p>
            <a:pPr indent="-330200" lvl="0" marL="457200" rtl="0" algn="l">
              <a:lnSpc>
                <a:spcPct val="115000"/>
              </a:lnSpc>
              <a:spcBef>
                <a:spcPts val="0"/>
              </a:spcBef>
              <a:spcAft>
                <a:spcPts val="0"/>
              </a:spcAft>
              <a:buSzPts val="1600"/>
              <a:buChar char="●"/>
            </a:pPr>
            <a:r>
              <a:rPr lang="el"/>
              <a:t>What about power?</a:t>
            </a:r>
            <a:endParaRPr/>
          </a:p>
          <a:p>
            <a:pPr indent="-330200" lvl="1" marL="914400" rtl="0" algn="l">
              <a:lnSpc>
                <a:spcPct val="115000"/>
              </a:lnSpc>
              <a:spcBef>
                <a:spcPts val="0"/>
              </a:spcBef>
              <a:spcAft>
                <a:spcPts val="0"/>
              </a:spcAft>
              <a:buSzPts val="1600"/>
              <a:buChar char="○"/>
            </a:pPr>
            <a:r>
              <a:rPr lang="el"/>
              <a:t>WAP, IP Phones etc → PoE (quite often)</a:t>
            </a:r>
            <a:endParaRPr/>
          </a:p>
          <a:p>
            <a:pPr indent="-330200" lvl="0" marL="457200" rtl="0" algn="l">
              <a:lnSpc>
                <a:spcPct val="115000"/>
              </a:lnSpc>
              <a:spcBef>
                <a:spcPts val="0"/>
              </a:spcBef>
              <a:spcAft>
                <a:spcPts val="0"/>
              </a:spcAft>
              <a:buSzPts val="1600"/>
              <a:buChar char="●"/>
            </a:pPr>
            <a:r>
              <a:rPr lang="el"/>
              <a:t>Where to put all those cables?</a:t>
            </a:r>
            <a:endParaRPr/>
          </a:p>
          <a:p>
            <a:pPr indent="-330200" lvl="1" marL="914400" rtl="0" algn="l">
              <a:lnSpc>
                <a:spcPct val="115000"/>
              </a:lnSpc>
              <a:spcBef>
                <a:spcPts val="0"/>
              </a:spcBef>
              <a:spcAft>
                <a:spcPts val="0"/>
              </a:spcAft>
              <a:buSzPts val="1600"/>
              <a:buChar char="○"/>
            </a:pPr>
            <a:r>
              <a:rPr lang="el"/>
              <a:t>Below employees feet?</a:t>
            </a:r>
            <a:endParaRPr/>
          </a:p>
          <a:p>
            <a:pPr indent="-330200" lvl="1" marL="914400" rtl="0" algn="l">
              <a:lnSpc>
                <a:spcPct val="115000"/>
              </a:lnSpc>
              <a:spcBef>
                <a:spcPts val="0"/>
              </a:spcBef>
              <a:spcAft>
                <a:spcPts val="0"/>
              </a:spcAft>
              <a:buSzPts val="1600"/>
              <a:buChar char="○"/>
            </a:pPr>
            <a:r>
              <a:rPr lang="el"/>
              <a:t>Over their heads?</a:t>
            </a:r>
            <a:endParaRPr/>
          </a:p>
          <a:p>
            <a:pPr indent="-330200" lvl="1" marL="914400" rtl="0" algn="l">
              <a:lnSpc>
                <a:spcPct val="115000"/>
              </a:lnSpc>
              <a:spcBef>
                <a:spcPts val="0"/>
              </a:spcBef>
              <a:spcAft>
                <a:spcPts val="0"/>
              </a:spcAft>
              <a:buSzPts val="1600"/>
              <a:buChar char="○"/>
            </a:pPr>
            <a:r>
              <a:rPr lang="el"/>
              <a:t>Inside the wall?</a:t>
            </a:r>
            <a:endParaRPr/>
          </a:p>
        </p:txBody>
      </p:sp>
      <p:sp>
        <p:nvSpPr>
          <p:cNvPr id="358" name="Google Shape;358;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Trunking</a:t>
            </a:r>
            <a:endParaRPr/>
          </a:p>
        </p:txBody>
      </p:sp>
      <p:sp>
        <p:nvSpPr>
          <p:cNvPr id="364" name="Google Shape;364;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365" name="Google Shape;365;p27"/>
          <p:cNvPicPr preferRelativeResize="0"/>
          <p:nvPr/>
        </p:nvPicPr>
        <p:blipFill rotWithShape="1">
          <a:blip r:embed="rId3">
            <a:alphaModFix/>
          </a:blip>
          <a:srcRect b="0" l="0" r="0" t="0"/>
          <a:stretch/>
        </p:blipFill>
        <p:spPr>
          <a:xfrm>
            <a:off x="729450" y="1523125"/>
            <a:ext cx="2628900" cy="1743075"/>
          </a:xfrm>
          <a:prstGeom prst="rect">
            <a:avLst/>
          </a:prstGeom>
          <a:noFill/>
          <a:ln>
            <a:noFill/>
          </a:ln>
        </p:spPr>
      </p:pic>
      <p:pic>
        <p:nvPicPr>
          <p:cNvPr id="366" name="Google Shape;366;p27"/>
          <p:cNvPicPr preferRelativeResize="0"/>
          <p:nvPr/>
        </p:nvPicPr>
        <p:blipFill rotWithShape="1">
          <a:blip r:embed="rId4">
            <a:alphaModFix/>
          </a:blip>
          <a:srcRect b="0" l="0" r="0" t="0"/>
          <a:stretch/>
        </p:blipFill>
        <p:spPr>
          <a:xfrm>
            <a:off x="3570463" y="1523125"/>
            <a:ext cx="2006674" cy="2006674"/>
          </a:xfrm>
          <a:prstGeom prst="rect">
            <a:avLst/>
          </a:prstGeom>
          <a:noFill/>
          <a:ln>
            <a:noFill/>
          </a:ln>
        </p:spPr>
      </p:pic>
      <p:pic>
        <p:nvPicPr>
          <p:cNvPr id="367" name="Google Shape;367;p27"/>
          <p:cNvPicPr preferRelativeResize="0"/>
          <p:nvPr/>
        </p:nvPicPr>
        <p:blipFill rotWithShape="1">
          <a:blip r:embed="rId5">
            <a:alphaModFix/>
          </a:blip>
          <a:srcRect b="0" l="0" r="0" t="0"/>
          <a:stretch/>
        </p:blipFill>
        <p:spPr>
          <a:xfrm>
            <a:off x="5789261" y="1500188"/>
            <a:ext cx="2143125" cy="2143125"/>
          </a:xfrm>
          <a:prstGeom prst="rect">
            <a:avLst/>
          </a:prstGeom>
          <a:noFill/>
          <a:ln>
            <a:noFill/>
          </a:ln>
        </p:spPr>
      </p:pic>
      <p:pic>
        <p:nvPicPr>
          <p:cNvPr id="368" name="Google Shape;368;p27"/>
          <p:cNvPicPr preferRelativeResize="0"/>
          <p:nvPr/>
        </p:nvPicPr>
        <p:blipFill rotWithShape="1">
          <a:blip r:embed="rId6">
            <a:alphaModFix/>
          </a:blip>
          <a:srcRect b="0" l="0" r="0" t="0"/>
          <a:stretch/>
        </p:blipFill>
        <p:spPr>
          <a:xfrm flipH="1">
            <a:off x="3657300" y="3310500"/>
            <a:ext cx="1833000" cy="1833000"/>
          </a:xfrm>
          <a:prstGeom prst="rect">
            <a:avLst/>
          </a:prstGeom>
          <a:noFill/>
          <a:ln>
            <a:noFill/>
          </a:ln>
        </p:spPr>
      </p:pic>
      <p:pic>
        <p:nvPicPr>
          <p:cNvPr id="369" name="Google Shape;369;p27"/>
          <p:cNvPicPr preferRelativeResize="0"/>
          <p:nvPr/>
        </p:nvPicPr>
        <p:blipFill rotWithShape="1">
          <a:blip r:embed="rId7">
            <a:alphaModFix/>
          </a:blip>
          <a:srcRect b="0" l="0" r="0" t="0"/>
          <a:stretch/>
        </p:blipFill>
        <p:spPr>
          <a:xfrm flipH="1">
            <a:off x="1172362" y="3355462"/>
            <a:ext cx="1743075" cy="17430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Trunking (aka Cable Containment)</a:t>
            </a:r>
            <a:endParaRPr/>
          </a:p>
        </p:txBody>
      </p:sp>
      <p:sp>
        <p:nvSpPr>
          <p:cNvPr id="375" name="Google Shape;375;p2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Where? Behind desks? Above / below windows? Close to the floor</a:t>
            </a:r>
            <a:endParaRPr/>
          </a:p>
          <a:p>
            <a:pPr indent="-330200" lvl="1" marL="914400" rtl="0" algn="l">
              <a:lnSpc>
                <a:spcPct val="115000"/>
              </a:lnSpc>
              <a:spcBef>
                <a:spcPts val="0"/>
              </a:spcBef>
              <a:spcAft>
                <a:spcPts val="0"/>
              </a:spcAft>
              <a:buSzPts val="1600"/>
              <a:buChar char="○"/>
            </a:pPr>
            <a:r>
              <a:rPr lang="el"/>
              <a:t>Higher up means more difficult to access → Maintenance.</a:t>
            </a:r>
            <a:endParaRPr/>
          </a:p>
          <a:p>
            <a:pPr indent="-330200" lvl="1" marL="914400" rtl="0" algn="l">
              <a:lnSpc>
                <a:spcPct val="115000"/>
              </a:lnSpc>
              <a:spcBef>
                <a:spcPts val="0"/>
              </a:spcBef>
              <a:spcAft>
                <a:spcPts val="0"/>
              </a:spcAft>
              <a:buSzPts val="1600"/>
              <a:buChar char="○"/>
            </a:pPr>
            <a:r>
              <a:rPr lang="el"/>
              <a:t>Lower down means easier to access but also to damage → Maintenance.</a:t>
            </a:r>
            <a:endParaRPr/>
          </a:p>
          <a:p>
            <a:pPr indent="-330200" lvl="1" marL="914400" rtl="0" algn="l">
              <a:lnSpc>
                <a:spcPct val="115000"/>
              </a:lnSpc>
              <a:spcBef>
                <a:spcPts val="0"/>
              </a:spcBef>
              <a:spcAft>
                <a:spcPts val="0"/>
              </a:spcAft>
              <a:buSzPts val="1600"/>
              <a:buChar char="○"/>
            </a:pPr>
            <a:r>
              <a:rPr lang="el"/>
              <a:t>Aesthetics may also come into play here…</a:t>
            </a:r>
            <a:endParaRPr/>
          </a:p>
          <a:p>
            <a:pPr indent="-330200" lvl="0" marL="457200" rtl="0" algn="l">
              <a:lnSpc>
                <a:spcPct val="115000"/>
              </a:lnSpc>
              <a:spcBef>
                <a:spcPts val="0"/>
              </a:spcBef>
              <a:spcAft>
                <a:spcPts val="0"/>
              </a:spcAft>
              <a:buSzPts val="1600"/>
              <a:buChar char="●"/>
            </a:pPr>
            <a:r>
              <a:rPr lang="el"/>
              <a:t>Some ideas / hints / things you might not know:</a:t>
            </a:r>
            <a:endParaRPr/>
          </a:p>
          <a:p>
            <a:pPr indent="-330200" lvl="1" marL="914400" rtl="0" algn="l">
              <a:lnSpc>
                <a:spcPct val="115000"/>
              </a:lnSpc>
              <a:spcBef>
                <a:spcPts val="0"/>
              </a:spcBef>
              <a:spcAft>
                <a:spcPts val="0"/>
              </a:spcAft>
              <a:buSzPts val="1600"/>
              <a:buChar char="○"/>
            </a:pPr>
            <a:r>
              <a:rPr lang="el"/>
              <a:t>You can pass a trunk through a wall to connect adjacent rooms.</a:t>
            </a:r>
            <a:endParaRPr/>
          </a:p>
          <a:p>
            <a:pPr indent="-330200" lvl="1" marL="914400" rtl="0" algn="l">
              <a:lnSpc>
                <a:spcPct val="115000"/>
              </a:lnSpc>
              <a:spcBef>
                <a:spcPts val="0"/>
              </a:spcBef>
              <a:spcAft>
                <a:spcPts val="0"/>
              </a:spcAft>
              <a:buSzPts val="1600"/>
              <a:buChar char="○"/>
            </a:pPr>
            <a:r>
              <a:rPr lang="el"/>
              <a:t>You can do so through a ceiling to connect adjacent floors.</a:t>
            </a:r>
            <a:endParaRPr/>
          </a:p>
          <a:p>
            <a:pPr indent="-330200" lvl="1" marL="914400" rtl="0" algn="l">
              <a:lnSpc>
                <a:spcPct val="115000"/>
              </a:lnSpc>
              <a:spcBef>
                <a:spcPts val="0"/>
              </a:spcBef>
              <a:spcAft>
                <a:spcPts val="0"/>
              </a:spcAft>
              <a:buSzPts val="1600"/>
              <a:buChar char="○"/>
            </a:pPr>
            <a:r>
              <a:rPr lang="el"/>
              <a:t>You cannot do so through doors (guess why).</a:t>
            </a:r>
            <a:endParaRPr/>
          </a:p>
          <a:p>
            <a:pPr indent="-330200" lvl="1" marL="914400" rtl="0" algn="l">
              <a:lnSpc>
                <a:spcPct val="115000"/>
              </a:lnSpc>
              <a:spcBef>
                <a:spcPts val="0"/>
              </a:spcBef>
              <a:spcAft>
                <a:spcPts val="0"/>
              </a:spcAft>
              <a:buSzPts val="1600"/>
              <a:buChar char="○"/>
            </a:pPr>
            <a:r>
              <a:rPr lang="el"/>
              <a:t>Take advantage of </a:t>
            </a:r>
            <a:r>
              <a:rPr b="1" lang="el"/>
              <a:t>ceiling voids! </a:t>
            </a:r>
            <a:r>
              <a:rPr lang="el"/>
              <a:t>(the gap between the actual and false ceilings).</a:t>
            </a:r>
            <a:endParaRPr/>
          </a:p>
        </p:txBody>
      </p:sp>
      <p:sp>
        <p:nvSpPr>
          <p:cNvPr id="376" name="Google Shape;376;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Some Cable Trays</a:t>
            </a:r>
            <a:endParaRPr/>
          </a:p>
        </p:txBody>
      </p:sp>
      <p:sp>
        <p:nvSpPr>
          <p:cNvPr id="382" name="Google Shape;382;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383" name="Google Shape;383;p29"/>
          <p:cNvPicPr preferRelativeResize="0"/>
          <p:nvPr/>
        </p:nvPicPr>
        <p:blipFill rotWithShape="1">
          <a:blip r:embed="rId3">
            <a:alphaModFix/>
          </a:blip>
          <a:srcRect b="0" l="0" r="0" t="0"/>
          <a:stretch/>
        </p:blipFill>
        <p:spPr>
          <a:xfrm>
            <a:off x="1441163" y="1459500"/>
            <a:ext cx="2867025" cy="1590675"/>
          </a:xfrm>
          <a:prstGeom prst="rect">
            <a:avLst/>
          </a:prstGeom>
          <a:noFill/>
          <a:ln>
            <a:noFill/>
          </a:ln>
        </p:spPr>
      </p:pic>
      <p:pic>
        <p:nvPicPr>
          <p:cNvPr id="384" name="Google Shape;384;p29"/>
          <p:cNvPicPr preferRelativeResize="0"/>
          <p:nvPr/>
        </p:nvPicPr>
        <p:blipFill rotWithShape="1">
          <a:blip r:embed="rId4">
            <a:alphaModFix/>
          </a:blip>
          <a:srcRect b="0" l="0" r="0" t="0"/>
          <a:stretch/>
        </p:blipFill>
        <p:spPr>
          <a:xfrm>
            <a:off x="5170365" y="3391025"/>
            <a:ext cx="2383924" cy="1590674"/>
          </a:xfrm>
          <a:prstGeom prst="rect">
            <a:avLst/>
          </a:prstGeom>
          <a:noFill/>
          <a:ln>
            <a:noFill/>
          </a:ln>
        </p:spPr>
      </p:pic>
      <p:pic>
        <p:nvPicPr>
          <p:cNvPr id="385" name="Google Shape;385;p29"/>
          <p:cNvPicPr preferRelativeResize="0"/>
          <p:nvPr/>
        </p:nvPicPr>
        <p:blipFill rotWithShape="1">
          <a:blip r:embed="rId5">
            <a:alphaModFix/>
          </a:blip>
          <a:srcRect b="0" l="0" r="0" t="0"/>
          <a:stretch/>
        </p:blipFill>
        <p:spPr>
          <a:xfrm>
            <a:off x="1533275" y="3211350"/>
            <a:ext cx="2682795" cy="1770351"/>
          </a:xfrm>
          <a:prstGeom prst="rect">
            <a:avLst/>
          </a:prstGeom>
          <a:noFill/>
          <a:ln>
            <a:noFill/>
          </a:ln>
        </p:spPr>
      </p:pic>
      <p:pic>
        <p:nvPicPr>
          <p:cNvPr id="386" name="Google Shape;386;p29"/>
          <p:cNvPicPr preferRelativeResize="0"/>
          <p:nvPr/>
        </p:nvPicPr>
        <p:blipFill rotWithShape="1">
          <a:blip r:embed="rId6">
            <a:alphaModFix/>
          </a:blip>
          <a:srcRect b="0" l="0" r="0" t="0"/>
          <a:stretch/>
        </p:blipFill>
        <p:spPr>
          <a:xfrm>
            <a:off x="5283720" y="1435412"/>
            <a:ext cx="2419110" cy="16091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RJ45, 8P8C and other spells…</a:t>
            </a:r>
            <a:endParaRPr/>
          </a:p>
        </p:txBody>
      </p:sp>
      <p:sp>
        <p:nvSpPr>
          <p:cNvPr id="392" name="Google Shape;392;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393" name="Google Shape;393;p30"/>
          <p:cNvPicPr preferRelativeResize="0"/>
          <p:nvPr/>
        </p:nvPicPr>
        <p:blipFill rotWithShape="1">
          <a:blip r:embed="rId3">
            <a:alphaModFix/>
          </a:blip>
          <a:srcRect b="0" l="0" r="0" t="0"/>
          <a:stretch/>
        </p:blipFill>
        <p:spPr>
          <a:xfrm>
            <a:off x="152400" y="1559500"/>
            <a:ext cx="8839201" cy="293489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RJ45</a:t>
            </a:r>
            <a:endParaRPr/>
          </a:p>
        </p:txBody>
      </p:sp>
      <p:sp>
        <p:nvSpPr>
          <p:cNvPr id="399" name="Google Shape;399;p31"/>
          <p:cNvSpPr txBox="1"/>
          <p:nvPr>
            <p:ph idx="1" type="body"/>
          </p:nvPr>
        </p:nvSpPr>
        <p:spPr>
          <a:xfrm>
            <a:off x="729450" y="1378000"/>
            <a:ext cx="7688700" cy="34395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RJ45 → Registered Jack 45</a:t>
            </a:r>
            <a:endParaRPr/>
          </a:p>
          <a:p>
            <a:pPr indent="-330200" lvl="0" marL="457200" rtl="0" algn="l">
              <a:lnSpc>
                <a:spcPct val="115000"/>
              </a:lnSpc>
              <a:spcBef>
                <a:spcPts val="0"/>
              </a:spcBef>
              <a:spcAft>
                <a:spcPts val="0"/>
              </a:spcAft>
              <a:buSzPts val="1600"/>
              <a:buChar char="●"/>
            </a:pPr>
            <a:r>
              <a:rPr lang="el"/>
              <a:t>Useful to connect user devices with network core / other devices.</a:t>
            </a:r>
            <a:endParaRPr/>
          </a:p>
          <a:p>
            <a:pPr indent="-330200" lvl="0" marL="457200" rtl="0" algn="l">
              <a:lnSpc>
                <a:spcPct val="115000"/>
              </a:lnSpc>
              <a:spcBef>
                <a:spcPts val="0"/>
              </a:spcBef>
              <a:spcAft>
                <a:spcPts val="0"/>
              </a:spcAft>
              <a:buSzPts val="1600"/>
              <a:buChar char="●"/>
            </a:pPr>
            <a:r>
              <a:rPr lang="el"/>
              <a:t>You just have to plug / unplug the device - the rest is taken care of by RJ45 and network cabling.</a:t>
            </a:r>
            <a:endParaRPr/>
          </a:p>
          <a:p>
            <a:pPr indent="-330200" lvl="0" marL="457200" rtl="0" algn="l">
              <a:lnSpc>
                <a:spcPct val="115000"/>
              </a:lnSpc>
              <a:spcBef>
                <a:spcPts val="0"/>
              </a:spcBef>
              <a:spcAft>
                <a:spcPts val="0"/>
              </a:spcAft>
              <a:buSzPts val="1600"/>
              <a:buChar char="●"/>
            </a:pPr>
            <a:r>
              <a:rPr lang="el"/>
              <a:t>Typical in most network cabling.</a:t>
            </a:r>
            <a:endParaRPr/>
          </a:p>
          <a:p>
            <a:pPr indent="-330200" lvl="0" marL="457200" rtl="0" algn="l">
              <a:lnSpc>
                <a:spcPct val="115000"/>
              </a:lnSpc>
              <a:spcBef>
                <a:spcPts val="0"/>
              </a:spcBef>
              <a:spcAft>
                <a:spcPts val="0"/>
              </a:spcAft>
              <a:buSzPts val="1600"/>
              <a:buChar char="●"/>
            </a:pPr>
            <a:r>
              <a:rPr lang="el"/>
              <a:t>You can read more here: </a:t>
            </a:r>
            <a:r>
              <a:rPr lang="el" u="sng">
                <a:solidFill>
                  <a:schemeClr val="hlink"/>
                </a:solidFill>
                <a:hlinkClick r:id="rId3"/>
              </a:rPr>
              <a:t>https://www.vcelink.com/blogs/focus/rj45-connector-101</a:t>
            </a:r>
            <a:endParaRPr/>
          </a:p>
          <a:p>
            <a:pPr indent="-330200" lvl="0" marL="457200" rtl="0" algn="l">
              <a:lnSpc>
                <a:spcPct val="115000"/>
              </a:lnSpc>
              <a:spcBef>
                <a:spcPts val="0"/>
              </a:spcBef>
              <a:spcAft>
                <a:spcPts val="0"/>
              </a:spcAft>
              <a:buSzPts val="1600"/>
              <a:buChar char="●"/>
            </a:pPr>
            <a:r>
              <a:rPr lang="el"/>
              <a:t>You can always also consider wireless…</a:t>
            </a:r>
            <a:endParaRPr/>
          </a:p>
          <a:p>
            <a:pPr indent="-330200" lvl="0" marL="457200" rtl="0" algn="l">
              <a:lnSpc>
                <a:spcPct val="115000"/>
              </a:lnSpc>
              <a:spcBef>
                <a:spcPts val="0"/>
              </a:spcBef>
              <a:spcAft>
                <a:spcPts val="0"/>
              </a:spcAft>
              <a:buSzPts val="1600"/>
              <a:buChar char="●"/>
            </a:pPr>
            <a:r>
              <a:rPr lang="el"/>
              <a:t>How to connect WAP?</a:t>
            </a:r>
            <a:endParaRPr/>
          </a:p>
          <a:p>
            <a:pPr indent="-330200" lvl="1" marL="914400" rtl="0" algn="l">
              <a:lnSpc>
                <a:spcPct val="115000"/>
              </a:lnSpc>
              <a:spcBef>
                <a:spcPts val="0"/>
              </a:spcBef>
              <a:spcAft>
                <a:spcPts val="0"/>
              </a:spcAft>
              <a:buSzPts val="1600"/>
              <a:buChar char="○"/>
            </a:pPr>
            <a:r>
              <a:rPr lang="el"/>
              <a:t>As all other devices.</a:t>
            </a:r>
            <a:endParaRPr/>
          </a:p>
          <a:p>
            <a:pPr indent="-330200" lvl="1" marL="914400" rtl="0" algn="l">
              <a:lnSpc>
                <a:spcPct val="115000"/>
              </a:lnSpc>
              <a:spcBef>
                <a:spcPts val="0"/>
              </a:spcBef>
              <a:spcAft>
                <a:spcPts val="0"/>
              </a:spcAft>
              <a:buSzPts val="1600"/>
              <a:buChar char="○"/>
            </a:pPr>
            <a:r>
              <a:rPr lang="el"/>
              <a:t>Take into account power (PoE?).</a:t>
            </a:r>
            <a:endParaRPr/>
          </a:p>
        </p:txBody>
      </p:sp>
      <p:sp>
        <p:nvSpPr>
          <p:cNvPr id="400" name="Google Shape;400;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1 / n</a:t>
            </a:r>
            <a:endParaRPr/>
          </a:p>
        </p:txBody>
      </p:sp>
      <p:sp>
        <p:nvSpPr>
          <p:cNvPr id="406" name="Google Shape;406;p32"/>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Name some things to consider when buying network equipment.</a:t>
            </a:r>
            <a:endParaRPr b="1"/>
          </a:p>
          <a:p>
            <a:pPr indent="0" lvl="0" marL="457200" rtl="0" algn="l">
              <a:lnSpc>
                <a:spcPct val="115000"/>
              </a:lnSpc>
              <a:spcBef>
                <a:spcPts val="1200"/>
              </a:spcBef>
              <a:spcAft>
                <a:spcPts val="0"/>
              </a:spcAft>
              <a:buSzPts val="1600"/>
              <a:buNone/>
            </a:pPr>
            <a:r>
              <a:rPr lang="el"/>
              <a:t>A few things to take into account are:</a:t>
            </a:r>
            <a:endParaRPr/>
          </a:p>
          <a:p>
            <a:pPr indent="-330200" lvl="0" marL="914400" rtl="0" algn="l">
              <a:lnSpc>
                <a:spcPct val="115000"/>
              </a:lnSpc>
              <a:spcBef>
                <a:spcPts val="1200"/>
              </a:spcBef>
              <a:spcAft>
                <a:spcPts val="0"/>
              </a:spcAft>
              <a:buSzPts val="1600"/>
              <a:buChar char="○"/>
            </a:pPr>
            <a:r>
              <a:rPr lang="el"/>
              <a:t>Cost</a:t>
            </a:r>
            <a:endParaRPr/>
          </a:p>
          <a:p>
            <a:pPr indent="-330200" lvl="0" marL="914400" rtl="0" algn="l">
              <a:lnSpc>
                <a:spcPct val="115000"/>
              </a:lnSpc>
              <a:spcBef>
                <a:spcPts val="0"/>
              </a:spcBef>
              <a:spcAft>
                <a:spcPts val="0"/>
              </a:spcAft>
              <a:buSzPts val="1600"/>
              <a:buChar char="○"/>
            </a:pPr>
            <a:r>
              <a:rPr lang="el"/>
              <a:t>Connectivity (e.g., ports on switches / routers)</a:t>
            </a:r>
            <a:endParaRPr/>
          </a:p>
          <a:p>
            <a:pPr indent="-330200" lvl="0" marL="914400" rtl="0" algn="l">
              <a:lnSpc>
                <a:spcPct val="115000"/>
              </a:lnSpc>
              <a:spcBef>
                <a:spcPts val="0"/>
              </a:spcBef>
              <a:spcAft>
                <a:spcPts val="0"/>
              </a:spcAft>
              <a:buSzPts val="1600"/>
              <a:buChar char="○"/>
            </a:pPr>
            <a:r>
              <a:rPr lang="el"/>
              <a:t>Availability</a:t>
            </a:r>
            <a:endParaRPr/>
          </a:p>
          <a:p>
            <a:pPr indent="-330200" lvl="0" marL="914400" rtl="0" algn="l">
              <a:lnSpc>
                <a:spcPct val="115000"/>
              </a:lnSpc>
              <a:spcBef>
                <a:spcPts val="0"/>
              </a:spcBef>
              <a:spcAft>
                <a:spcPts val="0"/>
              </a:spcAft>
              <a:buSzPts val="1600"/>
              <a:buChar char="○"/>
            </a:pPr>
            <a:r>
              <a:rPr lang="el"/>
              <a:t>Usability</a:t>
            </a:r>
            <a:endParaRPr/>
          </a:p>
          <a:p>
            <a:pPr indent="-330200" lvl="0" marL="914400" rtl="0" algn="l">
              <a:lnSpc>
                <a:spcPct val="115000"/>
              </a:lnSpc>
              <a:spcBef>
                <a:spcPts val="0"/>
              </a:spcBef>
              <a:spcAft>
                <a:spcPts val="0"/>
              </a:spcAft>
              <a:buSzPts val="1600"/>
              <a:buChar char="○"/>
            </a:pPr>
            <a:r>
              <a:rPr lang="el"/>
              <a:t>The future.</a:t>
            </a:r>
            <a:endParaRPr/>
          </a:p>
        </p:txBody>
      </p:sp>
      <p:sp>
        <p:nvSpPr>
          <p:cNvPr id="407" name="Google Shape;407;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2 / n</a:t>
            </a:r>
            <a:endParaRPr/>
          </a:p>
        </p:txBody>
      </p:sp>
      <p:sp>
        <p:nvSpPr>
          <p:cNvPr id="413" name="Google Shape;413;p33"/>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Why install a firewall between two departments of the same business?</a:t>
            </a:r>
            <a:endParaRPr b="1"/>
          </a:p>
          <a:p>
            <a:pPr indent="0" lvl="0" marL="457200" rtl="0" algn="l">
              <a:lnSpc>
                <a:spcPct val="115000"/>
              </a:lnSpc>
              <a:spcBef>
                <a:spcPts val="1200"/>
              </a:spcBef>
              <a:spcAft>
                <a:spcPts val="0"/>
              </a:spcAft>
              <a:buSzPts val="1600"/>
              <a:buNone/>
            </a:pPr>
            <a:r>
              <a:rPr lang="el"/>
              <a:t>Some reasons include:</a:t>
            </a:r>
            <a:endParaRPr/>
          </a:p>
          <a:p>
            <a:pPr indent="-330200" lvl="1" marL="914400" rtl="0" algn="l">
              <a:lnSpc>
                <a:spcPct val="115000"/>
              </a:lnSpc>
              <a:spcBef>
                <a:spcPts val="1200"/>
              </a:spcBef>
              <a:spcAft>
                <a:spcPts val="0"/>
              </a:spcAft>
              <a:buSzPts val="1600"/>
              <a:buChar char="○"/>
            </a:pPr>
            <a:r>
              <a:rPr lang="el"/>
              <a:t>To avoid potential damage at one place spreading to others.</a:t>
            </a:r>
            <a:endParaRPr/>
          </a:p>
          <a:p>
            <a:pPr indent="-330200" lvl="1" marL="914400" rtl="0" algn="l">
              <a:lnSpc>
                <a:spcPct val="115000"/>
              </a:lnSpc>
              <a:spcBef>
                <a:spcPts val="0"/>
              </a:spcBef>
              <a:spcAft>
                <a:spcPts val="0"/>
              </a:spcAft>
              <a:buSzPts val="1600"/>
              <a:buChar char="○"/>
            </a:pPr>
            <a:r>
              <a:rPr lang="el"/>
              <a:t>To avoid internal breaches.</a:t>
            </a:r>
            <a:endParaRPr/>
          </a:p>
          <a:p>
            <a:pPr indent="-330200" lvl="1" marL="914400" rtl="0" algn="l">
              <a:lnSpc>
                <a:spcPct val="115000"/>
              </a:lnSpc>
              <a:spcBef>
                <a:spcPts val="0"/>
              </a:spcBef>
              <a:spcAft>
                <a:spcPts val="0"/>
              </a:spcAft>
              <a:buSzPts val="1600"/>
              <a:buChar char="○"/>
            </a:pPr>
            <a:r>
              <a:rPr lang="el"/>
              <a:t>To ensure people at your business do (only) what they are supposed to.</a:t>
            </a:r>
            <a:endParaRPr/>
          </a:p>
          <a:p>
            <a:pPr indent="-330200" lvl="0" marL="457200" rtl="0" algn="l">
              <a:lnSpc>
                <a:spcPct val="115000"/>
              </a:lnSpc>
              <a:spcBef>
                <a:spcPts val="0"/>
              </a:spcBef>
              <a:spcAft>
                <a:spcPts val="0"/>
              </a:spcAft>
              <a:buSzPts val="1600"/>
              <a:buChar char="●"/>
            </a:pPr>
            <a:r>
              <a:rPr b="1" lang="el"/>
              <a:t>How to protect network devices against physical damage?</a:t>
            </a:r>
            <a:endParaRPr b="1"/>
          </a:p>
          <a:p>
            <a:pPr indent="0" lvl="0" marL="0" rtl="0" algn="l">
              <a:lnSpc>
                <a:spcPct val="115000"/>
              </a:lnSpc>
              <a:spcBef>
                <a:spcPts val="1200"/>
              </a:spcBef>
              <a:spcAft>
                <a:spcPts val="0"/>
              </a:spcAft>
              <a:buSzPts val="1600"/>
              <a:buNone/>
            </a:pPr>
            <a:r>
              <a:rPr lang="el"/>
              <a:t>	Some ways are:</a:t>
            </a:r>
            <a:endParaRPr/>
          </a:p>
          <a:p>
            <a:pPr indent="-330200" lvl="1" marL="914400" rtl="0" algn="l">
              <a:lnSpc>
                <a:spcPct val="115000"/>
              </a:lnSpc>
              <a:spcBef>
                <a:spcPts val="1200"/>
              </a:spcBef>
              <a:spcAft>
                <a:spcPts val="0"/>
              </a:spcAft>
              <a:buSzPts val="1600"/>
              <a:buChar char="○"/>
            </a:pPr>
            <a:r>
              <a:rPr lang="el"/>
              <a:t>Physical containers (put your precious machines in protective boxes)</a:t>
            </a:r>
            <a:endParaRPr/>
          </a:p>
          <a:p>
            <a:pPr indent="-330200" lvl="1" marL="914400" rtl="0" algn="l">
              <a:lnSpc>
                <a:spcPct val="115000"/>
              </a:lnSpc>
              <a:spcBef>
                <a:spcPts val="0"/>
              </a:spcBef>
              <a:spcAft>
                <a:spcPts val="0"/>
              </a:spcAft>
              <a:buSzPts val="1600"/>
              <a:buChar char="○"/>
            </a:pPr>
            <a:r>
              <a:rPr lang="el"/>
              <a:t>Choose places with limited access (e.g., areas where you can observe, or where there is no free access or where access is noticeable).</a:t>
            </a:r>
            <a:endParaRPr/>
          </a:p>
        </p:txBody>
      </p:sp>
      <p:sp>
        <p:nvSpPr>
          <p:cNvPr id="414" name="Google Shape;414;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3 / n</a:t>
            </a:r>
            <a:endParaRPr/>
          </a:p>
        </p:txBody>
      </p:sp>
      <p:sp>
        <p:nvSpPr>
          <p:cNvPr id="420" name="Google Shape;420;p3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Which things you should consider when placing equipment?</a:t>
            </a:r>
            <a:endParaRPr b="1"/>
          </a:p>
          <a:p>
            <a:pPr indent="0" lvl="0" marL="0" rtl="0" algn="l">
              <a:lnSpc>
                <a:spcPct val="115000"/>
              </a:lnSpc>
              <a:spcBef>
                <a:spcPts val="1200"/>
              </a:spcBef>
              <a:spcAft>
                <a:spcPts val="0"/>
              </a:spcAft>
              <a:buSzPts val="1600"/>
              <a:buNone/>
            </a:pPr>
            <a:r>
              <a:rPr lang="el"/>
              <a:t>	Some important things include:</a:t>
            </a:r>
            <a:endParaRPr/>
          </a:p>
          <a:p>
            <a:pPr indent="-330200" lvl="0" marL="914400" rtl="0" algn="l">
              <a:lnSpc>
                <a:spcPct val="115000"/>
              </a:lnSpc>
              <a:spcBef>
                <a:spcPts val="1200"/>
              </a:spcBef>
              <a:spcAft>
                <a:spcPts val="0"/>
              </a:spcAft>
              <a:buSzPts val="1600"/>
              <a:buChar char="○"/>
            </a:pPr>
            <a:r>
              <a:rPr lang="el"/>
              <a:t>Heat and voltage.</a:t>
            </a:r>
            <a:endParaRPr/>
          </a:p>
          <a:p>
            <a:pPr indent="-330200" lvl="0" marL="914400" rtl="0" algn="l">
              <a:lnSpc>
                <a:spcPct val="115000"/>
              </a:lnSpc>
              <a:spcBef>
                <a:spcPts val="0"/>
              </a:spcBef>
              <a:spcAft>
                <a:spcPts val="0"/>
              </a:spcAft>
              <a:buSzPts val="1600"/>
              <a:buChar char="○"/>
            </a:pPr>
            <a:r>
              <a:rPr lang="el"/>
              <a:t>Physical distance.</a:t>
            </a:r>
            <a:endParaRPr/>
          </a:p>
          <a:p>
            <a:pPr indent="-330200" lvl="0" marL="914400" rtl="0" algn="l">
              <a:lnSpc>
                <a:spcPct val="115000"/>
              </a:lnSpc>
              <a:spcBef>
                <a:spcPts val="0"/>
              </a:spcBef>
              <a:spcAft>
                <a:spcPts val="0"/>
              </a:spcAft>
              <a:buSzPts val="1600"/>
              <a:buChar char="○"/>
            </a:pPr>
            <a:r>
              <a:rPr lang="el"/>
              <a:t>Cost and complexity.</a:t>
            </a:r>
            <a:endParaRPr/>
          </a:p>
          <a:p>
            <a:pPr indent="-330200" lvl="0" marL="914400" rtl="0" algn="l">
              <a:lnSpc>
                <a:spcPct val="115000"/>
              </a:lnSpc>
              <a:spcBef>
                <a:spcPts val="0"/>
              </a:spcBef>
              <a:spcAft>
                <a:spcPts val="0"/>
              </a:spcAft>
              <a:buSzPts val="1600"/>
              <a:buChar char="○"/>
            </a:pPr>
            <a:r>
              <a:rPr lang="el"/>
              <a:t>RFI / EMI.</a:t>
            </a:r>
            <a:endParaRPr/>
          </a:p>
          <a:p>
            <a:pPr indent="-330200" lvl="0" marL="914400" rtl="0" algn="l">
              <a:lnSpc>
                <a:spcPct val="115000"/>
              </a:lnSpc>
              <a:spcBef>
                <a:spcPts val="0"/>
              </a:spcBef>
              <a:spcAft>
                <a:spcPts val="0"/>
              </a:spcAft>
              <a:buSzPts val="1600"/>
              <a:buChar char="○"/>
            </a:pPr>
            <a:r>
              <a:rPr lang="el"/>
              <a:t>Reliability.</a:t>
            </a:r>
            <a:endParaRPr/>
          </a:p>
        </p:txBody>
      </p:sp>
      <p:sp>
        <p:nvSpPr>
          <p:cNvPr id="421" name="Google Shape;421;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4 / n</a:t>
            </a:r>
            <a:endParaRPr/>
          </a:p>
        </p:txBody>
      </p:sp>
      <p:sp>
        <p:nvSpPr>
          <p:cNvPr id="427" name="Google Shape;427;p3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Best and worst practices about trunking include…</a:t>
            </a:r>
            <a:endParaRPr b="1"/>
          </a:p>
          <a:p>
            <a:pPr indent="0" lvl="0" marL="0" rtl="0" algn="l">
              <a:lnSpc>
                <a:spcPct val="115000"/>
              </a:lnSpc>
              <a:spcBef>
                <a:spcPts val="1200"/>
              </a:spcBef>
              <a:spcAft>
                <a:spcPts val="0"/>
              </a:spcAft>
              <a:buSzPts val="1600"/>
              <a:buNone/>
            </a:pPr>
            <a:r>
              <a:t/>
            </a:r>
            <a:endParaRPr b="1"/>
          </a:p>
          <a:p>
            <a:pPr indent="-330200" lvl="1" marL="914400" rtl="0" algn="l">
              <a:lnSpc>
                <a:spcPct val="115000"/>
              </a:lnSpc>
              <a:spcBef>
                <a:spcPts val="1200"/>
              </a:spcBef>
              <a:spcAft>
                <a:spcPts val="0"/>
              </a:spcAft>
              <a:buSzPts val="1600"/>
              <a:buChar char="○"/>
            </a:pPr>
            <a:r>
              <a:rPr lang="el"/>
              <a:t>Passing a trunk through a wall to connect adjacent rooms.</a:t>
            </a:r>
            <a:endParaRPr/>
          </a:p>
          <a:p>
            <a:pPr indent="-330200" lvl="1" marL="914400" rtl="0" algn="l">
              <a:lnSpc>
                <a:spcPct val="115000"/>
              </a:lnSpc>
              <a:spcBef>
                <a:spcPts val="0"/>
              </a:spcBef>
              <a:spcAft>
                <a:spcPts val="0"/>
              </a:spcAft>
              <a:buSzPts val="1600"/>
              <a:buChar char="○"/>
            </a:pPr>
            <a:r>
              <a:rPr lang="el"/>
              <a:t>You can do so through a ceiling to connect adjacent floors.</a:t>
            </a:r>
            <a:endParaRPr/>
          </a:p>
          <a:p>
            <a:pPr indent="-330200" lvl="1" marL="914400" rtl="0" algn="l">
              <a:lnSpc>
                <a:spcPct val="115000"/>
              </a:lnSpc>
              <a:spcBef>
                <a:spcPts val="0"/>
              </a:spcBef>
              <a:spcAft>
                <a:spcPts val="0"/>
              </a:spcAft>
              <a:buSzPts val="1600"/>
              <a:buChar char="○"/>
            </a:pPr>
            <a:r>
              <a:rPr lang="el"/>
              <a:t>You cannot do so through doors (guess why).</a:t>
            </a:r>
            <a:endParaRPr/>
          </a:p>
          <a:p>
            <a:pPr indent="-330200" lvl="1" marL="914400" rtl="0" algn="l">
              <a:lnSpc>
                <a:spcPct val="115000"/>
              </a:lnSpc>
              <a:spcBef>
                <a:spcPts val="0"/>
              </a:spcBef>
              <a:spcAft>
                <a:spcPts val="0"/>
              </a:spcAft>
              <a:buSzPts val="1600"/>
              <a:buChar char="○"/>
            </a:pPr>
            <a:r>
              <a:rPr lang="el"/>
              <a:t>Take advantage of </a:t>
            </a:r>
            <a:r>
              <a:rPr b="1" lang="el"/>
              <a:t>ceiling voids! </a:t>
            </a:r>
            <a:r>
              <a:rPr lang="el"/>
              <a:t>(the gap between the actual and false ceilings).</a:t>
            </a:r>
            <a:endParaRPr/>
          </a:p>
          <a:p>
            <a:pPr indent="0" lvl="0" marL="0" rtl="0" algn="l">
              <a:lnSpc>
                <a:spcPct val="115000"/>
              </a:lnSpc>
              <a:spcBef>
                <a:spcPts val="1200"/>
              </a:spcBef>
              <a:spcAft>
                <a:spcPts val="1200"/>
              </a:spcAft>
              <a:buSzPts val="1600"/>
              <a:buNone/>
            </a:pPr>
            <a:r>
              <a:t/>
            </a:r>
            <a:endParaRPr/>
          </a:p>
        </p:txBody>
      </p:sp>
      <p:sp>
        <p:nvSpPr>
          <p:cNvPr id="428" name="Google Shape;428;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Homework</a:t>
            </a:r>
            <a:endParaRPr/>
          </a:p>
        </p:txBody>
      </p:sp>
      <p:sp>
        <p:nvSpPr>
          <p:cNvPr id="434" name="Google Shape;434;p36"/>
          <p:cNvSpPr txBox="1"/>
          <p:nvPr>
            <p:ph idx="1" type="body"/>
          </p:nvPr>
        </p:nvSpPr>
        <p:spPr>
          <a:xfrm>
            <a:off x="729450" y="1378000"/>
            <a:ext cx="7688700" cy="3575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This is a bi-weekly assignment (it will span two weeks, so make your time management accordingly).</a:t>
            </a:r>
            <a:endParaRPr/>
          </a:p>
          <a:p>
            <a:pPr indent="-330200" lvl="0" marL="457200" rtl="0" algn="l">
              <a:lnSpc>
                <a:spcPct val="115000"/>
              </a:lnSpc>
              <a:spcBef>
                <a:spcPts val="1200"/>
              </a:spcBef>
              <a:spcAft>
                <a:spcPts val="0"/>
              </a:spcAft>
              <a:buSzPts val="1600"/>
              <a:buChar char="●"/>
            </a:pPr>
            <a:r>
              <a:rPr lang="el"/>
              <a:t>Read the following chapter found in ‘</a:t>
            </a:r>
            <a:r>
              <a:rPr b="1" lang="el"/>
              <a:t>Our Stuff &gt; network_design_principles.pdf</a:t>
            </a:r>
            <a:r>
              <a:rPr lang="el"/>
              <a:t>’.</a:t>
            </a:r>
            <a:endParaRPr/>
          </a:p>
          <a:p>
            <a:pPr indent="-330200" lvl="0" marL="457200" rtl="0" algn="l">
              <a:lnSpc>
                <a:spcPct val="115000"/>
              </a:lnSpc>
              <a:spcBef>
                <a:spcPts val="0"/>
              </a:spcBef>
              <a:spcAft>
                <a:spcPts val="0"/>
              </a:spcAft>
              <a:buSzPts val="1600"/>
              <a:buChar char="●"/>
            </a:pPr>
            <a:r>
              <a:rPr lang="el"/>
              <a:t>Provide a summary of at least 700 words of the main concepts of this chapter.</a:t>
            </a:r>
            <a:endParaRPr/>
          </a:p>
          <a:p>
            <a:pPr indent="0" lvl="0" marL="0" rtl="0" algn="l">
              <a:lnSpc>
                <a:spcPct val="115000"/>
              </a:lnSpc>
              <a:spcBef>
                <a:spcPts val="1200"/>
              </a:spcBef>
              <a:spcAft>
                <a:spcPts val="1200"/>
              </a:spcAft>
              <a:buSzPts val="1600"/>
              <a:buNone/>
            </a:pPr>
            <a:r>
              <a:rPr lang="el"/>
              <a:t>The aim of this assignment is to help you in summarising stuff you find from certain source. Avoid using the same wording / phrasing as in the book. Try to be as concise and accurate as possible and try to not go too much beyond 700 words (1000 words is acceptable, 2000 words is not).</a:t>
            </a:r>
            <a:endParaRPr/>
          </a:p>
        </p:txBody>
      </p:sp>
      <p:sp>
        <p:nvSpPr>
          <p:cNvPr id="435" name="Google Shape;435;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Fun Time!</a:t>
            </a:r>
            <a:endParaRPr/>
          </a:p>
        </p:txBody>
      </p:sp>
      <p:sp>
        <p:nvSpPr>
          <p:cNvPr id="441" name="Google Shape;441;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Network Design</a:t>
            </a:r>
            <a:endParaRPr/>
          </a:p>
        </p:txBody>
      </p:sp>
      <p:sp>
        <p:nvSpPr>
          <p:cNvPr id="447" name="Google Shape;447;p3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Complete any previous homework you didn’t have time to:</a:t>
            </a:r>
            <a:br>
              <a:rPr lang="el"/>
            </a:br>
            <a:r>
              <a:rPr lang="el"/>
              <a:t>‘</a:t>
            </a:r>
            <a:r>
              <a:rPr b="1" lang="el"/>
              <a:t>2.1.1.5 Packet Tracer - Create a Simple Network Using Packet Tracer</a:t>
            </a:r>
            <a:r>
              <a:rPr lang="el"/>
              <a:t>’</a:t>
            </a:r>
            <a:endParaRPr/>
          </a:p>
          <a:p>
            <a:pPr indent="-330200" lvl="0" marL="457200" rtl="0" algn="l">
              <a:lnSpc>
                <a:spcPct val="115000"/>
              </a:lnSpc>
              <a:spcBef>
                <a:spcPts val="0"/>
              </a:spcBef>
              <a:spcAft>
                <a:spcPts val="0"/>
              </a:spcAft>
              <a:buSzPts val="1600"/>
              <a:buChar char="●"/>
            </a:pPr>
            <a:r>
              <a:rPr lang="el"/>
              <a:t>Follow this Tutorial: ‘</a:t>
            </a:r>
            <a:r>
              <a:rPr b="1" lang="el"/>
              <a:t>Derby Stuff &gt; Tutorial &gt; 4.2.4.4 Packet Tracer - Connecting a Wired and Wireless LAN.pka</a:t>
            </a:r>
            <a:r>
              <a:rPr lang="el"/>
              <a:t>’</a:t>
            </a:r>
            <a:endParaRPr/>
          </a:p>
          <a:p>
            <a:pPr indent="-330200" lvl="0" marL="457200" rtl="0" algn="l">
              <a:lnSpc>
                <a:spcPct val="115000"/>
              </a:lnSpc>
              <a:spcBef>
                <a:spcPts val="0"/>
              </a:spcBef>
              <a:spcAft>
                <a:spcPts val="0"/>
              </a:spcAft>
              <a:buSzPts val="1600"/>
              <a:buChar char="●"/>
            </a:pPr>
            <a:r>
              <a:rPr lang="el"/>
              <a:t>Follow this Tutorial: ‘</a:t>
            </a:r>
            <a:r>
              <a:rPr b="1" lang="el"/>
              <a:t>Derby Stuff &gt; Tutorial &gt; drawing packages.pdf</a:t>
            </a:r>
            <a:r>
              <a:rPr lang="el"/>
              <a:t>’</a:t>
            </a:r>
            <a:endParaRPr/>
          </a:p>
          <a:p>
            <a:pPr indent="-330200" lvl="0" marL="457200" rtl="0" algn="l">
              <a:lnSpc>
                <a:spcPct val="115000"/>
              </a:lnSpc>
              <a:spcBef>
                <a:spcPts val="0"/>
              </a:spcBef>
              <a:spcAft>
                <a:spcPts val="0"/>
              </a:spcAft>
              <a:buSzPts val="1600"/>
              <a:buChar char="●"/>
            </a:pPr>
            <a:r>
              <a:rPr lang="el"/>
              <a:t>Follow this Tutorial: ‘</a:t>
            </a:r>
            <a:r>
              <a:rPr b="1" lang="el"/>
              <a:t>Derby Stuff &gt; Tutorial &gt; Week 5 Tutorial - Using Wireshark to Examine Ethernet Frames.pdf</a:t>
            </a:r>
            <a:r>
              <a:rPr lang="el"/>
              <a:t>’</a:t>
            </a:r>
            <a:endParaRPr/>
          </a:p>
        </p:txBody>
      </p:sp>
      <p:sp>
        <p:nvSpPr>
          <p:cNvPr id="448" name="Google Shape;448;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NetAcad Courses</a:t>
            </a:r>
            <a:endParaRPr/>
          </a:p>
        </p:txBody>
      </p:sp>
      <p:sp>
        <p:nvSpPr>
          <p:cNvPr id="454" name="Google Shape;454;p39"/>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sz="1500"/>
              <a:t>In the “Download Packet Tracer” page, above the “Download” section, you can find </a:t>
            </a:r>
            <a:r>
              <a:rPr b="1" lang="el" sz="1500"/>
              <a:t>three interesting courses</a:t>
            </a:r>
            <a:r>
              <a:rPr lang="el" sz="1500"/>
              <a:t> (</a:t>
            </a:r>
            <a:r>
              <a:rPr i="1" lang="el" sz="1500"/>
              <a:t>interesting course:</a:t>
            </a:r>
            <a:r>
              <a:rPr lang="el" sz="1500"/>
              <a:t> </a:t>
            </a:r>
            <a:r>
              <a:rPr i="1" lang="el" sz="1500"/>
              <a:t>a course is characterised as “interesting” to inform someone that they should take it, without telling them to do so directly</a:t>
            </a:r>
            <a:r>
              <a:rPr lang="el" sz="1500"/>
              <a:t>):</a:t>
            </a:r>
            <a:endParaRPr sz="1500"/>
          </a:p>
          <a:p>
            <a:pPr indent="-323850" lvl="0" marL="457200" rtl="0" algn="l">
              <a:lnSpc>
                <a:spcPct val="115000"/>
              </a:lnSpc>
              <a:spcBef>
                <a:spcPts val="1200"/>
              </a:spcBef>
              <a:spcAft>
                <a:spcPts val="0"/>
              </a:spcAft>
              <a:buSzPts val="1500"/>
              <a:buChar char="●"/>
            </a:pPr>
            <a:r>
              <a:rPr lang="el" sz="1500" u="sng">
                <a:solidFill>
                  <a:schemeClr val="hlink"/>
                </a:solidFill>
                <a:hlinkClick r:id="rId3"/>
              </a:rPr>
              <a:t>Getting Started with Cisco Packet Tracer</a:t>
            </a:r>
            <a:endParaRPr sz="1500"/>
          </a:p>
          <a:p>
            <a:pPr indent="-323850" lvl="0" marL="457200" rtl="0" algn="l">
              <a:lnSpc>
                <a:spcPct val="115000"/>
              </a:lnSpc>
              <a:spcBef>
                <a:spcPts val="0"/>
              </a:spcBef>
              <a:spcAft>
                <a:spcPts val="0"/>
              </a:spcAft>
              <a:buSzPts val="1500"/>
              <a:buChar char="●"/>
            </a:pPr>
            <a:r>
              <a:rPr lang="el" sz="1500" u="sng">
                <a:solidFill>
                  <a:schemeClr val="hlink"/>
                </a:solidFill>
                <a:hlinkClick r:id="rId4"/>
              </a:rPr>
              <a:t>Exploring Networking with Cisco Packet Tracer</a:t>
            </a:r>
            <a:endParaRPr sz="1500"/>
          </a:p>
          <a:p>
            <a:pPr indent="-323850" lvl="0" marL="457200" rtl="0" algn="l">
              <a:lnSpc>
                <a:spcPct val="115000"/>
              </a:lnSpc>
              <a:spcBef>
                <a:spcPts val="0"/>
              </a:spcBef>
              <a:spcAft>
                <a:spcPts val="0"/>
              </a:spcAft>
              <a:buSzPts val="1500"/>
              <a:buChar char="●"/>
            </a:pPr>
            <a:r>
              <a:rPr lang="el" sz="1500" u="sng">
                <a:solidFill>
                  <a:schemeClr val="hlink"/>
                </a:solidFill>
                <a:hlinkClick r:id="rId5"/>
              </a:rPr>
              <a:t>Exploring IoT with Cisco Packet Tracer</a:t>
            </a:r>
            <a:endParaRPr sz="1500"/>
          </a:p>
          <a:p>
            <a:pPr indent="0" lvl="0" marL="0" rtl="0" algn="l">
              <a:lnSpc>
                <a:spcPct val="115000"/>
              </a:lnSpc>
              <a:spcBef>
                <a:spcPts val="1200"/>
              </a:spcBef>
              <a:spcAft>
                <a:spcPts val="0"/>
              </a:spcAft>
              <a:buSzPts val="1600"/>
              <a:buNone/>
            </a:pPr>
            <a:r>
              <a:rPr lang="el" sz="1500"/>
              <a:t>Also interesting is the following NetAcad course:</a:t>
            </a:r>
            <a:endParaRPr sz="1500"/>
          </a:p>
          <a:p>
            <a:pPr indent="-323850" lvl="0" marL="457200" rtl="0" algn="l">
              <a:lnSpc>
                <a:spcPct val="115000"/>
              </a:lnSpc>
              <a:spcBef>
                <a:spcPts val="1200"/>
              </a:spcBef>
              <a:spcAft>
                <a:spcPts val="0"/>
              </a:spcAft>
              <a:buSzPts val="1500"/>
              <a:buChar char="●"/>
            </a:pPr>
            <a:r>
              <a:rPr lang="el" sz="1500" u="sng">
                <a:solidFill>
                  <a:schemeClr val="hlink"/>
                </a:solidFill>
                <a:hlinkClick r:id="rId6"/>
              </a:rPr>
              <a:t>Network Technician</a:t>
            </a:r>
            <a:endParaRPr sz="1500"/>
          </a:p>
        </p:txBody>
      </p:sp>
      <p:sp>
        <p:nvSpPr>
          <p:cNvPr id="455" name="Google Shape;455;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0"/>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l"/>
              <a:t>Any Questions?</a:t>
            </a:r>
            <a:endParaRPr/>
          </a:p>
        </p:txBody>
      </p:sp>
      <p:sp>
        <p:nvSpPr>
          <p:cNvPr id="461" name="Google Shape;461;p40"/>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l"/>
              <a:t>Don’t forget to fill-in the questionnaire! (look right)</a:t>
            </a:r>
            <a:endParaRPr/>
          </a:p>
        </p:txBody>
      </p:sp>
      <p:sp>
        <p:nvSpPr>
          <p:cNvPr id="462" name="Google Shape;462;p40"/>
          <p:cNvSpPr txBox="1"/>
          <p:nvPr/>
        </p:nvSpPr>
        <p:spPr>
          <a:xfrm>
            <a:off x="4749150" y="3960900"/>
            <a:ext cx="4309800" cy="537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l" sz="1600" u="sng" cap="none" strike="noStrike">
                <a:solidFill>
                  <a:schemeClr val="hlink"/>
                </a:solidFill>
                <a:latin typeface="Consolas"/>
                <a:ea typeface="Consolas"/>
                <a:cs typeface="Consolas"/>
                <a:sym typeface="Consolas"/>
                <a:hlinkClick r:id="rId3"/>
              </a:rPr>
              <a:t>https://forms.gle/6q2tuByroaan8kWH8</a:t>
            </a:r>
            <a:endParaRPr b="1" i="0" sz="1600" u="none" cap="none" strike="noStrike">
              <a:solidFill>
                <a:schemeClr val="accent1"/>
              </a:solidFill>
              <a:latin typeface="Consolas"/>
              <a:ea typeface="Consolas"/>
              <a:cs typeface="Consolas"/>
              <a:sym typeface="Consolas"/>
            </a:endParaRPr>
          </a:p>
        </p:txBody>
      </p:sp>
      <p:sp>
        <p:nvSpPr>
          <p:cNvPr id="463" name="Google Shape;463;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464" name="Google Shape;464;p40">
            <a:hlinkClick r:id="rId4"/>
          </p:cNvPr>
          <p:cNvPicPr preferRelativeResize="0"/>
          <p:nvPr/>
        </p:nvPicPr>
        <p:blipFill rotWithShape="1">
          <a:blip r:embed="rId5">
            <a:alphaModFix/>
          </a:blip>
          <a:srcRect b="0" l="0" r="0" t="0"/>
          <a:stretch/>
        </p:blipFill>
        <p:spPr>
          <a:xfrm>
            <a:off x="5408600" y="11430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