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5143500" cx="9144000"/>
  <p:notesSz cx="6858000" cy="9144000"/>
  <p:embeddedFontLst>
    <p:embeddedFont>
      <p:font typeface="Raleway"/>
      <p:regular r:id="rId53"/>
      <p:bold r:id="rId54"/>
      <p:italic r:id="rId55"/>
      <p:boldItalic r:id="rId56"/>
    </p:embeddedFont>
    <p:embeddedFont>
      <p:font typeface="Lat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1" roundtripDataSignature="AMtx7mheRLK/HYFVsg7HhyFRkbBIPmh2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Lato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aleway-regular.fnt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aleway-italic.fntdata"/><Relationship Id="rId10" Type="http://schemas.openxmlformats.org/officeDocument/2006/relationships/slide" Target="slides/slide5.xml"/><Relationship Id="rId54" Type="http://schemas.openxmlformats.org/officeDocument/2006/relationships/font" Target="fonts/Raleway-bold.fntdata"/><Relationship Id="rId13" Type="http://schemas.openxmlformats.org/officeDocument/2006/relationships/slide" Target="slides/slide8.xml"/><Relationship Id="rId57" Type="http://schemas.openxmlformats.org/officeDocument/2006/relationships/font" Target="fonts/Lato-regular.fntdata"/><Relationship Id="rId12" Type="http://schemas.openxmlformats.org/officeDocument/2006/relationships/slide" Target="slides/slide7.xml"/><Relationship Id="rId56" Type="http://schemas.openxmlformats.org/officeDocument/2006/relationships/font" Target="fonts/Raleway-boldItalic.fntdata"/><Relationship Id="rId15" Type="http://schemas.openxmlformats.org/officeDocument/2006/relationships/slide" Target="slides/slide10.xml"/><Relationship Id="rId59" Type="http://schemas.openxmlformats.org/officeDocument/2006/relationships/font" Target="fonts/Lato-italic.fntdata"/><Relationship Id="rId14" Type="http://schemas.openxmlformats.org/officeDocument/2006/relationships/slide" Target="slides/slide9.xml"/><Relationship Id="rId58" Type="http://schemas.openxmlformats.org/officeDocument/2006/relationships/font" Target="fonts/La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4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4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49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sz="42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49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4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17" name="Google Shape;17;p49"/>
          <p:cNvSpPr txBox="1"/>
          <p:nvPr/>
        </p:nvSpPr>
        <p:spPr>
          <a:xfrm>
            <a:off x="6590950" y="3866975"/>
            <a:ext cx="194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Google Shape;18;p49"/>
          <p:cNvSpPr txBox="1"/>
          <p:nvPr>
            <p:ph idx="2" type="subTitle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5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5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Προσοχή! 1">
  <p:cSld name="TITLE_AND_BODY_1_1_1">
    <p:bg>
      <p:bgPr>
        <a:solidFill>
          <a:schemeClr val="lt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Quick Revision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5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8" name="Google Shape;28;p5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5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51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5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5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5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52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5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5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4" name="Google Shape;44;p5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5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5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7" name="Google Shape;47;p5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8" name="Google Shape;48;p5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5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Εκτός ύλης">
  <p:cSld name="TITLE_AND_BODY_1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 relevant for the assessment of the module!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5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3" name="Google Shape;53;p5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5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" name="Google Shape;55;p5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6" name="Google Shape;56;p5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Προσοχή!">
  <p:cSld name="TITLE_AND_BODY_1_1"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Heads up!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5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1" name="Google Shape;61;p5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5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5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4" name="Google Shape;64;p5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5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5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5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5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56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2" name="Google Shape;72;p56"/>
          <p:cNvSpPr txBox="1"/>
          <p:nvPr>
            <p:ph idx="1" type="body"/>
          </p:nvPr>
        </p:nvSpPr>
        <p:spPr>
          <a:xfrm>
            <a:off x="729325" y="1474150"/>
            <a:ext cx="3774300" cy="28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p56"/>
          <p:cNvSpPr txBox="1"/>
          <p:nvPr>
            <p:ph idx="2" type="body"/>
          </p:nvPr>
        </p:nvSpPr>
        <p:spPr>
          <a:xfrm>
            <a:off x="4643600" y="1474075"/>
            <a:ext cx="3774300" cy="28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4" name="Google Shape;74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" name="Google Shape;77;p5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8" name="Google Shape;78;p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57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1" name="Google Shape;81;p5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5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5" name="Google Shape;85;p5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58"/>
          <p:cNvSpPr txBox="1"/>
          <p:nvPr>
            <p:ph type="title"/>
          </p:nvPr>
        </p:nvSpPr>
        <p:spPr>
          <a:xfrm>
            <a:off x="721225" y="523413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8" name="Google Shape;88;p58"/>
          <p:cNvSpPr txBox="1"/>
          <p:nvPr>
            <p:ph idx="1" type="body"/>
          </p:nvPr>
        </p:nvSpPr>
        <p:spPr>
          <a:xfrm>
            <a:off x="721225" y="1452775"/>
            <a:ext cx="33009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9" name="Google Shape;89;p5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5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92" name="Google Shape;92;p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5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5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98" name="Google Shape;98;p6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1" name="Google Shape;101;p6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6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6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ato"/>
              <a:buNone/>
              <a:defRPr sz="8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6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6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iana.org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worldometers.info/world-population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en.wikipedia.org/wiki/IPv6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youtube.com/watch?v=nlKu93Gb6GQ&amp;list=PLvUOx2WG6R7PlKlERb5zceXxHfC4P7gJn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skillsforall.com/course/getting-started-cisco-packet-tracer" TargetMode="External"/><Relationship Id="rId4" Type="http://schemas.openxmlformats.org/officeDocument/2006/relationships/hyperlink" Target="https://skillsforall.com/course/exploring-networking-cisco-packet-tracer?courseLang=en-US" TargetMode="External"/><Relationship Id="rId5" Type="http://schemas.openxmlformats.org/officeDocument/2006/relationships/hyperlink" Target="https://skillsforall.com/course/exploring-iot-cisco-packet-tracer?courseLang=en-US" TargetMode="External"/><Relationship Id="rId6" Type="http://schemas.openxmlformats.org/officeDocument/2006/relationships/hyperlink" Target="https://skillsforall.com/career-path/network-technician?courseLang=en-US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forms.gle/6q2tuByroaan8kWH8" TargetMode="External"/><Relationship Id="rId4" Type="http://schemas.openxmlformats.org/officeDocument/2006/relationships/hyperlink" Target="https://forms.gle/6q2tuByroaan8kWH8" TargetMode="External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l"/>
              <a:t>Fundamentals of Networks and Security</a:t>
            </a:r>
            <a:endParaRPr/>
          </a:p>
        </p:txBody>
      </p:sp>
      <p:sp>
        <p:nvSpPr>
          <p:cNvPr id="113" name="Google Shape;113;p1"/>
          <p:cNvSpPr txBox="1"/>
          <p:nvPr>
            <p:ph idx="1" type="subTitle"/>
          </p:nvPr>
        </p:nvSpPr>
        <p:spPr>
          <a:xfrm>
            <a:off x="729625" y="3172900"/>
            <a:ext cx="76881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Markos Vassilis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Mediterranean College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6029600" y="4001275"/>
            <a:ext cx="23880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"/>
          <p:cNvSpPr txBox="1"/>
          <p:nvPr>
            <p:ph idx="2" type="subTitle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l"/>
              <a:t>Week 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A Quick Revision</a:t>
            </a:r>
            <a:endParaRPr/>
          </a:p>
        </p:txBody>
      </p:sp>
      <p:sp>
        <p:nvSpPr>
          <p:cNvPr id="121" name="Google Shape;121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 1 / n</a:t>
            </a:r>
            <a:endParaRPr/>
          </a:p>
        </p:txBody>
      </p:sp>
      <p:sp>
        <p:nvSpPr>
          <p:cNvPr id="127" name="Google Shape;127;p3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In which layers does Ethernet operate?</a:t>
            </a:r>
            <a:endParaRPr b="1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Layer 1 (physical), since it is related signal transmission (remember the cables?)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Layer 2 (data link), since it connects physical devices (implements the LAN).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Name some typical cable types.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UTP: Unshielded Twisted Pair cables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STP: Shielded Twisted Pair cables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Coax: Coaxial Cables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Fibre optics</a:t>
            </a:r>
            <a:endParaRPr/>
          </a:p>
        </p:txBody>
      </p:sp>
      <p:sp>
        <p:nvSpPr>
          <p:cNvPr id="128" name="Google Shape;128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 2 / n</a:t>
            </a:r>
            <a:endParaRPr/>
          </a:p>
        </p:txBody>
      </p:sp>
      <p:sp>
        <p:nvSpPr>
          <p:cNvPr id="134" name="Google Shape;134;p4"/>
          <p:cNvSpPr txBox="1"/>
          <p:nvPr>
            <p:ph idx="1" type="body"/>
          </p:nvPr>
        </p:nvSpPr>
        <p:spPr>
          <a:xfrm>
            <a:off x="729450" y="1378000"/>
            <a:ext cx="76887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Compare UTP, STP, Coax and Fibre cables.</a:t>
            </a:r>
            <a:endParaRPr b="1"/>
          </a:p>
        </p:txBody>
      </p:sp>
      <p:sp>
        <p:nvSpPr>
          <p:cNvPr id="135" name="Google Shape;135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575" y="2115975"/>
            <a:ext cx="7972425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 3 / n</a:t>
            </a:r>
            <a:endParaRPr/>
          </a:p>
        </p:txBody>
      </p:sp>
      <p:sp>
        <p:nvSpPr>
          <p:cNvPr id="142" name="Google Shape;142;p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What are the LLC and MAC Layer 2 sublayers?</a:t>
            </a:r>
            <a:endParaRPr b="1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Logical Link Control (LLC):</a:t>
            </a:r>
            <a:endParaRPr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The “upper” sublayer of layer 2.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Connection handling between lower / upper layers.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Adds control info to help deliver the packet to destination.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Medium Access Control (MAC):</a:t>
            </a:r>
            <a:endParaRPr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The “lower” sublayer of layer 2.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Data encapsulation.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Media access control.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Mostly hardware.</a:t>
            </a:r>
            <a:endParaRPr b="1"/>
          </a:p>
        </p:txBody>
      </p:sp>
      <p:sp>
        <p:nvSpPr>
          <p:cNvPr id="143" name="Google Shape;143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 4 / n</a:t>
            </a:r>
            <a:endParaRPr/>
          </a:p>
        </p:txBody>
      </p:sp>
      <p:sp>
        <p:nvSpPr>
          <p:cNvPr id="149" name="Google Shape;149;p6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What does CSMA/CD stand for? How does it work?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CSMA/CD stands for Carrier Sense Multiple Access / Collision Detection. It works as follows: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Is there any signal carried by the medium (cable)?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If no → send data.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If yes → </a:t>
            </a:r>
            <a:r>
              <a:rPr b="1" lang="el">
                <a:solidFill>
                  <a:schemeClr val="accent3"/>
                </a:solidFill>
              </a:rPr>
              <a:t>collision!</a:t>
            </a:r>
            <a:endParaRPr>
              <a:solidFill>
                <a:schemeClr val="accent3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How to solve? → </a:t>
            </a:r>
            <a:r>
              <a:rPr b="1" lang="el">
                <a:solidFill>
                  <a:schemeClr val="dk1"/>
                </a:solidFill>
              </a:rPr>
              <a:t>Wait a random amount of time.</a:t>
            </a:r>
            <a:endParaRPr/>
          </a:p>
        </p:txBody>
      </p:sp>
      <p:sp>
        <p:nvSpPr>
          <p:cNvPr id="150" name="Google Shape;150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 5 / n</a:t>
            </a:r>
            <a:endParaRPr/>
          </a:p>
        </p:txBody>
      </p:sp>
      <p:sp>
        <p:nvSpPr>
          <p:cNvPr id="156" name="Google Shape;156;p7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What does CSMA/CA stand for? How does it work?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CSMA/CA = Carrier Sense Multiple Access / Collision Avoidance. It works as follows: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Is there any signal carried by the medium (cable)?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If no → send a notification that you want to use it.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If no one objects → send data.</a:t>
            </a:r>
            <a:endParaRPr/>
          </a:p>
        </p:txBody>
      </p:sp>
      <p:sp>
        <p:nvSpPr>
          <p:cNvPr id="157" name="Google Shape;157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 6 / n</a:t>
            </a:r>
            <a:endParaRPr/>
          </a:p>
        </p:txBody>
      </p:sp>
      <p:sp>
        <p:nvSpPr>
          <p:cNvPr id="163" name="Google Shape;163;p8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What is the structure of an Ethernet frame (bytes, headers etc)?</a:t>
            </a:r>
            <a:endParaRPr b="1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b="1"/>
          </a:p>
        </p:txBody>
      </p:sp>
      <p:sp>
        <p:nvSpPr>
          <p:cNvPr id="164" name="Google Shape;164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6600" y="2159375"/>
            <a:ext cx="5230810" cy="177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 7 / n</a:t>
            </a:r>
            <a:endParaRPr/>
          </a:p>
        </p:txBody>
      </p:sp>
      <p:sp>
        <p:nvSpPr>
          <p:cNvPr id="171" name="Google Shape;171;p9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Name some special MAC addresses and their purpose.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All zeros: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00000000 00000000:00000000 00000000:00000000 00000000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Placeholder → Address not known yet.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All ones: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11111111 11111111:11111111 11111111:11111111 11111111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Broadcast → Send to all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MAC starting with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01-00-5E</a:t>
            </a:r>
            <a:r>
              <a:rPr lang="el"/>
              <a:t> → Multicast</a:t>
            </a:r>
            <a:endParaRPr/>
          </a:p>
        </p:txBody>
      </p:sp>
      <p:sp>
        <p:nvSpPr>
          <p:cNvPr id="172" name="Google Shape;172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 8 / n</a:t>
            </a:r>
            <a:endParaRPr/>
          </a:p>
        </p:txBody>
      </p:sp>
      <p:sp>
        <p:nvSpPr>
          <p:cNvPr id="178" name="Google Shape;178;p10"/>
          <p:cNvSpPr txBox="1"/>
          <p:nvPr>
            <p:ph idx="1" type="body"/>
          </p:nvPr>
        </p:nvSpPr>
        <p:spPr>
          <a:xfrm>
            <a:off x="729450" y="1378000"/>
            <a:ext cx="7688700" cy="3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Compare MAC and IP Addresses.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MAC Address:</a:t>
            </a:r>
            <a:endParaRPr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Does not change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Physical address (assigned to NIC)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Assigned by Manufacturer (as per IEEE instructions)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IP Address:</a:t>
            </a:r>
            <a:endParaRPr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Can change (like your postal address)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Bases on host location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Logical address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Assigned by network admin each time it is required</a:t>
            </a:r>
            <a:endParaRPr/>
          </a:p>
        </p:txBody>
      </p:sp>
      <p:sp>
        <p:nvSpPr>
          <p:cNvPr id="179" name="Google Shape;179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last time… 9 / n</a:t>
            </a:r>
            <a:endParaRPr/>
          </a:p>
        </p:txBody>
      </p:sp>
      <p:sp>
        <p:nvSpPr>
          <p:cNvPr id="185" name="Google Shape;185;p11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How does ARP work?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Note down any incoming IP + MAC (for future use).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When you don’t know what to do:</a:t>
            </a:r>
            <a:endParaRPr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Broadcast incoming messages to all devices (known IP, “all ones” MAC).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If there is someone to respond → Note down their MAC.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If no response is received → Well, nothing to do, drop the packet.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Overall:</a:t>
            </a:r>
            <a:endParaRPr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If the destination IPv4 host is on the LAN, then the destination MAC is that of this device (@ this host).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If the destination IPv4 host is not on the LAN, the destination MAC is determined by the ARP process (table look-up).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If the ARP table does not include a valid entry, make a request (shout out) to get the MAC address related to that IP.</a:t>
            </a:r>
            <a:endParaRPr/>
          </a:p>
        </p:txBody>
      </p:sp>
      <p:sp>
        <p:nvSpPr>
          <p:cNvPr id="186" name="Google Shape;186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Addressing Addressing</a:t>
            </a:r>
            <a:endParaRPr/>
          </a:p>
        </p:txBody>
      </p:sp>
      <p:sp>
        <p:nvSpPr>
          <p:cNvPr id="192" name="Google Shape;192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Sending a Letter</a:t>
            </a:r>
            <a:endParaRPr/>
          </a:p>
        </p:txBody>
      </p:sp>
      <p:sp>
        <p:nvSpPr>
          <p:cNvPr id="198" name="Google Shape;198;p13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Alice wants to send a letter to Bob. To do so, she writes up the letter and goes to the post office. There, she drops the folder to the post box…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What Alice </a:t>
            </a:r>
            <a:r>
              <a:rPr b="1" lang="el">
                <a:solidFill>
                  <a:schemeClr val="dk1"/>
                </a:solidFill>
              </a:rPr>
              <a:t>does know</a:t>
            </a:r>
            <a:r>
              <a:rPr lang="el"/>
              <a:t>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That she has dropped the folder into the box - she has sent the letter.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What Alice </a:t>
            </a:r>
            <a:r>
              <a:rPr b="1" lang="el">
                <a:solidFill>
                  <a:schemeClr val="accent3"/>
                </a:solidFill>
              </a:rPr>
              <a:t>does not know</a:t>
            </a:r>
            <a:r>
              <a:rPr lang="el"/>
              <a:t>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Did the post office send it?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Did Bob receive it?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Did Bob read it?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Will Bob reply?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Will Bob’s potential reply arrive? When?</a:t>
            </a:r>
            <a:endParaRPr/>
          </a:p>
        </p:txBody>
      </p:sp>
      <p:sp>
        <p:nvSpPr>
          <p:cNvPr id="199" name="Google Shape;199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Sent a Letter?</a:t>
            </a:r>
            <a:endParaRPr/>
          </a:p>
        </p:txBody>
      </p:sp>
      <p:sp>
        <p:nvSpPr>
          <p:cNvPr id="205" name="Google Shape;205;p1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is known as </a:t>
            </a:r>
            <a:r>
              <a:rPr b="1" lang="el"/>
              <a:t>best effort delivery</a:t>
            </a:r>
            <a:r>
              <a:rPr lang="el"/>
              <a:t> - but, one’s best is not always “good enough”.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Bob(‘s address) might not even exist - dead, moved to another part of the globe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Alice (or the post office) does not check about such things.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There is no connection between Alice and Bob before they have exchanged letters → </a:t>
            </a:r>
            <a:r>
              <a:rPr b="1" lang="el"/>
              <a:t>connectionless communication</a:t>
            </a:r>
            <a:r>
              <a:rPr lang="el"/>
              <a:t>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is the almighty </a:t>
            </a:r>
            <a:r>
              <a:rPr b="1" lang="el"/>
              <a:t>IP</a:t>
            </a:r>
            <a:r>
              <a:rPr lang="el"/>
              <a:t>…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Unreliable, clumsy, much like a typical post office.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Yeah, but, why do we use it?</a:t>
            </a:r>
            <a:endParaRPr/>
          </a:p>
        </p:txBody>
      </p:sp>
      <p:sp>
        <p:nvSpPr>
          <p:cNvPr id="206" name="Google Shape;206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Precision does not (always) matter</a:t>
            </a:r>
            <a:endParaRPr/>
          </a:p>
        </p:txBody>
      </p:sp>
      <p:sp>
        <p:nvSpPr>
          <p:cNvPr id="212" name="Google Shape;212;p1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IP is </a:t>
            </a:r>
            <a:r>
              <a:rPr b="1" lang="el"/>
              <a:t>logical</a:t>
            </a:r>
            <a:r>
              <a:rPr lang="el"/>
              <a:t> or </a:t>
            </a:r>
            <a:r>
              <a:rPr b="1" lang="el"/>
              <a:t>physical</a:t>
            </a:r>
            <a:r>
              <a:rPr lang="el"/>
              <a:t> addressing?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l">
                <a:solidFill>
                  <a:schemeClr val="dk1"/>
                </a:solidFill>
              </a:rPr>
              <a:t>Logical!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IP lives in layer…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l">
                <a:solidFill>
                  <a:schemeClr val="dk1"/>
                </a:solidFill>
              </a:rPr>
              <a:t>3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Which means that IP does not care about physical media (+1 for IP).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Also, data is actually lost all the time (some times…) in telecommunications…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…so, IP occasionally losing some data is not that bad.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Moreover, sometimes data are critical to not get lost for some time…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…so, beyond that time interval, does it really matter?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There are 4 other layers above IP, so, they might come in handy…</a:t>
            </a:r>
            <a:endParaRPr/>
          </a:p>
        </p:txBody>
      </p:sp>
      <p:sp>
        <p:nvSpPr>
          <p:cNvPr id="213" name="Google Shape;213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IPv4 Packet Header</a:t>
            </a:r>
            <a:endParaRPr/>
          </a:p>
        </p:txBody>
      </p:sp>
      <p:sp>
        <p:nvSpPr>
          <p:cNvPr id="219" name="Google Shape;219;p16"/>
          <p:cNvSpPr txBox="1"/>
          <p:nvPr>
            <p:ph idx="1" type="body"/>
          </p:nvPr>
        </p:nvSpPr>
        <p:spPr>
          <a:xfrm>
            <a:off x="729450" y="1378000"/>
            <a:ext cx="76887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Encapsulation:</a:t>
            </a:r>
            <a:r>
              <a:rPr lang="el"/>
              <a:t> IP Packets = Segments (Layer 4) + IP Header.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Usually 20 Bytes (but things can get longer, up to 60)</a:t>
            </a:r>
            <a:endParaRPr/>
          </a:p>
        </p:txBody>
      </p:sp>
      <p:sp>
        <p:nvSpPr>
          <p:cNvPr id="220" name="Google Shape;22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221" name="Google Shape;2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463" y="2117800"/>
            <a:ext cx="5969067" cy="27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Play around with Wireshark!</a:t>
            </a:r>
            <a:endParaRPr/>
          </a:p>
        </p:txBody>
      </p:sp>
      <p:sp>
        <p:nvSpPr>
          <p:cNvPr id="227" name="Google Shape;22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228" name="Google Shape;2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2825" y="1314075"/>
            <a:ext cx="5838360" cy="373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The anatomy of an IPv4 Address</a:t>
            </a:r>
            <a:endParaRPr/>
          </a:p>
        </p:txBody>
      </p:sp>
      <p:sp>
        <p:nvSpPr>
          <p:cNvPr id="234" name="Google Shape;234;p18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00000000.00000000.00000000.00000000 → Four octets of bits (four Bytes)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Each octet ranges (in decimal) from 0 to 255 (i.e., 2^8 - 1).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Each IPv4 has two parts: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</a:t>
            </a:r>
            <a:r>
              <a:rPr b="1" lang="el"/>
              <a:t>network</a:t>
            </a:r>
            <a:r>
              <a:rPr lang="el"/>
              <a:t> part: LAN, Subnet etc.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</a:t>
            </a:r>
            <a:r>
              <a:rPr b="1" lang="el"/>
              <a:t>host</a:t>
            </a:r>
            <a:r>
              <a:rPr lang="el"/>
              <a:t> part: device interface within the network.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two parts are separated with the use of a subnet mask.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way we also determine the size of the network (how many devices we can connect).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Devices in the same network communicate directly (e.g., LAN), devices in different networks need the help of a…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…Layer 3 device (router, L3 switch).</a:t>
            </a:r>
            <a:endParaRPr/>
          </a:p>
        </p:txBody>
      </p:sp>
      <p:sp>
        <p:nvSpPr>
          <p:cNvPr id="235" name="Google Shape;235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Converting Addresses</a:t>
            </a:r>
            <a:endParaRPr/>
          </a:p>
        </p:txBody>
      </p:sp>
      <p:sp>
        <p:nvSpPr>
          <p:cNvPr id="241" name="Google Shape;241;p19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Convert this address from decimal to binary: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b="1" lang="el"/>
              <a:t>192.168.10.1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Brief reminder (decimal to binary):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Divide by two until you get 0.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Read the moduli of your divisions in reverse order.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Voilà!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You should get the following result: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b="1" lang="el"/>
              <a:t>11000000.10101000.00001010.00000001</a:t>
            </a:r>
            <a:endParaRPr b="1"/>
          </a:p>
        </p:txBody>
      </p:sp>
      <p:sp>
        <p:nvSpPr>
          <p:cNvPr id="242" name="Google Shape;242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(Reminder) Binary Operations: OR</a:t>
            </a:r>
            <a:endParaRPr/>
          </a:p>
        </p:txBody>
      </p:sp>
      <p:sp>
        <p:nvSpPr>
          <p:cNvPr id="248" name="Google Shape;248;p20"/>
          <p:cNvSpPr txBox="1"/>
          <p:nvPr>
            <p:ph idx="1" type="body"/>
          </p:nvPr>
        </p:nvSpPr>
        <p:spPr>
          <a:xfrm>
            <a:off x="729450" y="1378000"/>
            <a:ext cx="7688700" cy="22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Y OR 1 = 1</a:t>
            </a:r>
            <a:r>
              <a:rPr lang="el"/>
              <a:t>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Y OR 0 = Y</a:t>
            </a:r>
            <a:r>
              <a:rPr lang="el"/>
              <a:t>, i.e.: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0 OR 0 =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0 OR 1 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1 OR 0 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1 OR 1 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Essentially, an OR bitmask can turn a bit to 1 (turn on). Assume that we want to turn the first four bits of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10101101</a:t>
            </a:r>
            <a:r>
              <a:rPr lang="el"/>
              <a:t> to 1. Then:</a:t>
            </a:r>
            <a:endParaRPr/>
          </a:p>
        </p:txBody>
      </p:sp>
      <p:sp>
        <p:nvSpPr>
          <p:cNvPr id="249" name="Google Shape;249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pSp>
        <p:nvGrpSpPr>
          <p:cNvPr id="250" name="Google Shape;250;p20"/>
          <p:cNvGrpSpPr/>
          <p:nvPr/>
        </p:nvGrpSpPr>
        <p:grpSpPr>
          <a:xfrm>
            <a:off x="3280950" y="3627250"/>
            <a:ext cx="2169375" cy="1122600"/>
            <a:chOff x="3280950" y="3627250"/>
            <a:chExt cx="2169375" cy="1122600"/>
          </a:xfrm>
        </p:grpSpPr>
        <p:sp>
          <p:nvSpPr>
            <p:cNvPr id="251" name="Google Shape;251;p20"/>
            <p:cNvSpPr txBox="1"/>
            <p:nvPr/>
          </p:nvSpPr>
          <p:spPr>
            <a:xfrm>
              <a:off x="3280950" y="3627250"/>
              <a:ext cx="2020800" cy="11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marR="0" rtl="0" algn="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l" sz="1600" u="none" cap="none" strike="noStrike">
                  <a:solidFill>
                    <a:schemeClr val="accent3"/>
                  </a:solidFill>
                  <a:latin typeface="Consolas"/>
                  <a:ea typeface="Consolas"/>
                  <a:cs typeface="Consolas"/>
                  <a:sym typeface="Consolas"/>
                </a:rPr>
                <a:t>1010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1101</a:t>
              </a:r>
              <a:b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OR </a:t>
              </a:r>
              <a:r>
                <a:rPr b="1" i="0" lang="el" sz="1600" u="none" cap="none" strike="noStrike">
                  <a:solidFill>
                    <a:schemeClr val="accent3"/>
                  </a:solidFill>
                  <a:latin typeface="Consolas"/>
                  <a:ea typeface="Consolas"/>
                  <a:cs typeface="Consolas"/>
                  <a:sym typeface="Consolas"/>
                </a:rPr>
                <a:t>1111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0000</a:t>
              </a:r>
              <a:b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1" i="0" lang="el" sz="1600" u="none" cap="none" strike="noStrik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1111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1101</a:t>
              </a:r>
              <a:endParaRPr b="0" i="0" sz="13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52" name="Google Shape;252;p20"/>
            <p:cNvCxnSpPr/>
            <p:nvPr/>
          </p:nvCxnSpPr>
          <p:spPr>
            <a:xfrm flipH="1" rot="10800000">
              <a:off x="3748125" y="4260475"/>
              <a:ext cx="1702200" cy="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(Reminder) Binary Operations: AND</a:t>
            </a:r>
            <a:endParaRPr/>
          </a:p>
        </p:txBody>
      </p:sp>
      <p:sp>
        <p:nvSpPr>
          <p:cNvPr id="258" name="Google Shape;258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259" name="Google Shape;259;p21"/>
          <p:cNvSpPr txBox="1"/>
          <p:nvPr>
            <p:ph idx="1" type="body"/>
          </p:nvPr>
        </p:nvSpPr>
        <p:spPr>
          <a:xfrm>
            <a:off x="729450" y="1378000"/>
            <a:ext cx="7688700" cy="22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Y AND 1 = Y</a:t>
            </a:r>
            <a:r>
              <a:rPr lang="el"/>
              <a:t>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Y AND 0 = 0</a:t>
            </a:r>
            <a:r>
              <a:rPr lang="el"/>
              <a:t>, i.e.: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0 AND 0 =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0 AND 1 =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1 AND 0 =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1 AND 1 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Essentially, an AND bitmask can turn a bit to 0 (turn off). Assume that we want to turn the first four bits of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10101101</a:t>
            </a:r>
            <a:r>
              <a:rPr lang="el"/>
              <a:t> to 0. Then:</a:t>
            </a:r>
            <a:endParaRPr/>
          </a:p>
        </p:txBody>
      </p:sp>
      <p:grpSp>
        <p:nvGrpSpPr>
          <p:cNvPr id="260" name="Google Shape;260;p21"/>
          <p:cNvGrpSpPr/>
          <p:nvPr/>
        </p:nvGrpSpPr>
        <p:grpSpPr>
          <a:xfrm>
            <a:off x="3280950" y="3627250"/>
            <a:ext cx="2169375" cy="1122600"/>
            <a:chOff x="3280950" y="3627250"/>
            <a:chExt cx="2169375" cy="1122600"/>
          </a:xfrm>
        </p:grpSpPr>
        <p:sp>
          <p:nvSpPr>
            <p:cNvPr id="261" name="Google Shape;261;p21"/>
            <p:cNvSpPr txBox="1"/>
            <p:nvPr/>
          </p:nvSpPr>
          <p:spPr>
            <a:xfrm>
              <a:off x="3280950" y="3627250"/>
              <a:ext cx="2020800" cy="11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marR="0" rtl="0" algn="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l" sz="1600" u="none" cap="none" strike="noStrike">
                  <a:solidFill>
                    <a:schemeClr val="accent3"/>
                  </a:solidFill>
                  <a:latin typeface="Consolas"/>
                  <a:ea typeface="Consolas"/>
                  <a:cs typeface="Consolas"/>
                  <a:sym typeface="Consolas"/>
                </a:rPr>
                <a:t>1010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1101</a:t>
              </a:r>
              <a:b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AND </a:t>
              </a:r>
              <a:r>
                <a:rPr b="1" i="0" lang="el" sz="1600" u="none" cap="none" strike="noStrike">
                  <a:solidFill>
                    <a:schemeClr val="accent3"/>
                  </a:solidFill>
                  <a:latin typeface="Consolas"/>
                  <a:ea typeface="Consolas"/>
                  <a:cs typeface="Consolas"/>
                  <a:sym typeface="Consolas"/>
                </a:rPr>
                <a:t>0000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1111</a:t>
              </a:r>
              <a:b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1" i="0" lang="el" sz="1600" u="none" cap="none" strike="noStrik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0000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1101</a:t>
              </a:r>
              <a:endParaRPr b="0" i="0" sz="13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62" name="Google Shape;262;p21"/>
            <p:cNvCxnSpPr/>
            <p:nvPr/>
          </p:nvCxnSpPr>
          <p:spPr>
            <a:xfrm flipH="1" rot="10800000">
              <a:off x="3748125" y="4260475"/>
              <a:ext cx="1702200" cy="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(Reminder) Use case: Querying certain bits</a:t>
            </a:r>
            <a:endParaRPr/>
          </a:p>
        </p:txBody>
      </p:sp>
      <p:sp>
        <p:nvSpPr>
          <p:cNvPr id="268" name="Google Shape;268;p22"/>
          <p:cNvSpPr txBox="1"/>
          <p:nvPr>
            <p:ph idx="1" type="body"/>
          </p:nvPr>
        </p:nvSpPr>
        <p:spPr>
          <a:xfrm>
            <a:off x="729450" y="1378000"/>
            <a:ext cx="7688700" cy="2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Consider the following bitstring: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10011110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01110101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can we easily query the status of their sixth bit (i.e., whether they are on or off)?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By using an </a:t>
            </a:r>
            <a:r>
              <a:rPr b="1" lang="el"/>
              <a:t>AND</a:t>
            </a:r>
            <a:r>
              <a:rPr lang="el"/>
              <a:t> </a:t>
            </a:r>
            <a:r>
              <a:rPr b="1" lang="el"/>
              <a:t>bitmask</a:t>
            </a:r>
            <a:r>
              <a:rPr lang="el"/>
              <a:t> and then comparing to zero:</a:t>
            </a:r>
            <a:endParaRPr/>
          </a:p>
        </p:txBody>
      </p:sp>
      <p:sp>
        <p:nvSpPr>
          <p:cNvPr id="269" name="Google Shape;26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pSp>
        <p:nvGrpSpPr>
          <p:cNvPr id="270" name="Google Shape;270;p22"/>
          <p:cNvGrpSpPr/>
          <p:nvPr/>
        </p:nvGrpSpPr>
        <p:grpSpPr>
          <a:xfrm>
            <a:off x="1470250" y="3627250"/>
            <a:ext cx="2169375" cy="1122600"/>
            <a:chOff x="1470250" y="3627250"/>
            <a:chExt cx="2169375" cy="1122600"/>
          </a:xfrm>
        </p:grpSpPr>
        <p:sp>
          <p:nvSpPr>
            <p:cNvPr id="271" name="Google Shape;271;p22"/>
            <p:cNvSpPr txBox="1"/>
            <p:nvPr/>
          </p:nvSpPr>
          <p:spPr>
            <a:xfrm>
              <a:off x="1470250" y="3627250"/>
              <a:ext cx="2020800" cy="11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marR="0" rtl="0" algn="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r>
                <a:rPr b="1" i="0" lang="el" sz="1600" u="none" cap="none" strike="noStrike">
                  <a:solidFill>
                    <a:schemeClr val="accent3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11110</a:t>
              </a:r>
              <a:b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AND 00</a:t>
              </a:r>
              <a:r>
                <a:rPr b="1" i="0" lang="el" sz="1600" u="none" cap="none" strike="noStrike">
                  <a:solidFill>
                    <a:schemeClr val="accent3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00000</a:t>
              </a:r>
              <a:b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00</a:t>
              </a:r>
              <a:r>
                <a:rPr b="1" i="0" lang="el" sz="1600" u="none" cap="none" strike="noStrik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00000</a:t>
              </a:r>
              <a:endParaRPr b="0" i="0" sz="13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72" name="Google Shape;272;p22"/>
            <p:cNvCxnSpPr/>
            <p:nvPr/>
          </p:nvCxnSpPr>
          <p:spPr>
            <a:xfrm flipH="1" rot="10800000">
              <a:off x="1937425" y="4260475"/>
              <a:ext cx="1702200" cy="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3" name="Google Shape;273;p22"/>
          <p:cNvGrpSpPr/>
          <p:nvPr/>
        </p:nvGrpSpPr>
        <p:grpSpPr>
          <a:xfrm>
            <a:off x="5003275" y="3703675"/>
            <a:ext cx="2169375" cy="1122600"/>
            <a:chOff x="5003275" y="3703675"/>
            <a:chExt cx="2169375" cy="1122600"/>
          </a:xfrm>
        </p:grpSpPr>
        <p:sp>
          <p:nvSpPr>
            <p:cNvPr id="274" name="Google Shape;274;p22"/>
            <p:cNvSpPr txBox="1"/>
            <p:nvPr/>
          </p:nvSpPr>
          <p:spPr>
            <a:xfrm>
              <a:off x="5003275" y="3703675"/>
              <a:ext cx="2020800" cy="11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marR="0" rtl="0" algn="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01</a:t>
              </a:r>
              <a:r>
                <a:rPr b="1" i="0" lang="el" sz="1600" u="none" cap="none" strike="noStrike">
                  <a:solidFill>
                    <a:schemeClr val="accent3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10101</a:t>
              </a:r>
              <a:b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AND 00</a:t>
              </a:r>
              <a:r>
                <a:rPr b="1" i="0" lang="el" sz="1600" u="none" cap="none" strike="noStrike">
                  <a:solidFill>
                    <a:schemeClr val="accent3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00000</a:t>
              </a:r>
              <a:b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00</a:t>
              </a:r>
              <a:r>
                <a:rPr b="1" i="0" lang="el" sz="1600" u="none" cap="none" strike="noStrik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00000</a:t>
              </a:r>
              <a:endParaRPr b="0" i="0" sz="13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75" name="Google Shape;275;p22"/>
            <p:cNvCxnSpPr/>
            <p:nvPr/>
          </p:nvCxnSpPr>
          <p:spPr>
            <a:xfrm flipH="1" rot="10800000">
              <a:off x="5470450" y="4336900"/>
              <a:ext cx="1702200" cy="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Subnet Mask(ing)</a:t>
            </a:r>
            <a:endParaRPr/>
          </a:p>
        </p:txBody>
      </p:sp>
      <p:sp>
        <p:nvSpPr>
          <p:cNvPr id="281" name="Google Shape;281;p23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Of the four octets of an IP address, the first 1, 2, or 3 octects correspond to the “network” part.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instance, assume you have the following IP Address: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192.168.10.1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know that the network portion comprises of the first 3 octets. How can use extract it?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guessed correctly! (didn’t you?) Use a </a:t>
            </a:r>
            <a:r>
              <a:rPr b="1" lang="el"/>
              <a:t>mask + AND</a:t>
            </a:r>
            <a:r>
              <a:rPr lang="el"/>
              <a:t>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11000000.10101000.00001010.00000001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11111111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11111111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11111111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.00000000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b="1" lang="el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11000000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l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10101000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l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00001010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.00000000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pSp>
        <p:nvGrpSpPr>
          <p:cNvPr id="283" name="Google Shape;283;p23"/>
          <p:cNvGrpSpPr/>
          <p:nvPr/>
        </p:nvGrpSpPr>
        <p:grpSpPr>
          <a:xfrm>
            <a:off x="2045125" y="4063000"/>
            <a:ext cx="4835550" cy="481650"/>
            <a:chOff x="2045125" y="4063000"/>
            <a:chExt cx="4835550" cy="481650"/>
          </a:xfrm>
        </p:grpSpPr>
        <p:cxnSp>
          <p:nvCxnSpPr>
            <p:cNvPr id="284" name="Google Shape;284;p23"/>
            <p:cNvCxnSpPr/>
            <p:nvPr/>
          </p:nvCxnSpPr>
          <p:spPr>
            <a:xfrm>
              <a:off x="2090575" y="4535650"/>
              <a:ext cx="4790100" cy="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5" name="Google Shape;285;p23"/>
            <p:cNvSpPr txBox="1"/>
            <p:nvPr/>
          </p:nvSpPr>
          <p:spPr>
            <a:xfrm>
              <a:off x="2045125" y="4063000"/>
              <a:ext cx="548700" cy="21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l" sz="1600" u="none" cap="none" strike="noStrike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AND</a:t>
              </a:r>
              <a:endParaRPr b="1" i="0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Subnet Masks</a:t>
            </a:r>
            <a:endParaRPr/>
          </a:p>
        </p:txBody>
      </p:sp>
      <p:sp>
        <p:nvSpPr>
          <p:cNvPr id="291" name="Google Shape;291;p24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a </a:t>
            </a:r>
            <a:r>
              <a:rPr b="1" lang="el"/>
              <a:t>1-octet</a:t>
            </a:r>
            <a:r>
              <a:rPr lang="el"/>
              <a:t> network portion: 11111111.00000000.00000000.00000000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a </a:t>
            </a:r>
            <a:r>
              <a:rPr b="1" lang="el"/>
              <a:t>2-octet</a:t>
            </a:r>
            <a:r>
              <a:rPr lang="el"/>
              <a:t> network portion: 11111111.11111111.00000000.00000000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a </a:t>
            </a:r>
            <a:r>
              <a:rPr b="1" lang="el"/>
              <a:t>3-octet</a:t>
            </a:r>
            <a:r>
              <a:rPr lang="el"/>
              <a:t> network portion: 11111111.11111111.11111111.00000000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But, why be that verbose?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a </a:t>
            </a:r>
            <a:r>
              <a:rPr b="1" lang="el"/>
              <a:t>1-octet</a:t>
            </a:r>
            <a:r>
              <a:rPr lang="el"/>
              <a:t> network portion: 255.0.0.0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a </a:t>
            </a:r>
            <a:r>
              <a:rPr b="1" lang="el"/>
              <a:t>2-octet</a:t>
            </a:r>
            <a:r>
              <a:rPr lang="el"/>
              <a:t> network portion: 255.255.0.0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a </a:t>
            </a:r>
            <a:r>
              <a:rPr b="1" lang="el"/>
              <a:t>3-octet</a:t>
            </a:r>
            <a:r>
              <a:rPr lang="el"/>
              <a:t> network portion: 255.255.255.0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Even better: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a </a:t>
            </a:r>
            <a:r>
              <a:rPr b="1" lang="el"/>
              <a:t>1-octet</a:t>
            </a:r>
            <a:r>
              <a:rPr lang="el"/>
              <a:t> network portion: /8 → The number of “ones”.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a </a:t>
            </a:r>
            <a:r>
              <a:rPr b="1" lang="el"/>
              <a:t>2-octet</a:t>
            </a:r>
            <a:r>
              <a:rPr lang="el"/>
              <a:t> network portion: /16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a </a:t>
            </a:r>
            <a:r>
              <a:rPr b="1" lang="el"/>
              <a:t>3-octet</a:t>
            </a:r>
            <a:r>
              <a:rPr lang="el"/>
              <a:t> network portion: /24</a:t>
            </a:r>
            <a:endParaRPr/>
          </a:p>
        </p:txBody>
      </p:sp>
      <p:sp>
        <p:nvSpPr>
          <p:cNvPr id="292" name="Google Shape;292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Legacy Classful Addressing</a:t>
            </a:r>
            <a:endParaRPr/>
          </a:p>
        </p:txBody>
      </p:sp>
      <p:sp>
        <p:nvSpPr>
          <p:cNvPr id="298" name="Google Shape;298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299" name="Google Shape;299;p25"/>
          <p:cNvPicPr preferRelativeResize="0"/>
          <p:nvPr/>
        </p:nvPicPr>
        <p:blipFill rotWithShape="1">
          <a:blip r:embed="rId3">
            <a:alphaModFix/>
          </a:blip>
          <a:srcRect b="5530" l="0" r="0" t="23737"/>
          <a:stretch/>
        </p:blipFill>
        <p:spPr>
          <a:xfrm>
            <a:off x="417513" y="1327075"/>
            <a:ext cx="7093376" cy="3763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25"/>
          <p:cNvGrpSpPr/>
          <p:nvPr/>
        </p:nvGrpSpPr>
        <p:grpSpPr>
          <a:xfrm>
            <a:off x="6453675" y="3790300"/>
            <a:ext cx="1836000" cy="799950"/>
            <a:chOff x="6453675" y="3790300"/>
            <a:chExt cx="1836000" cy="799950"/>
          </a:xfrm>
        </p:grpSpPr>
        <p:cxnSp>
          <p:nvCxnSpPr>
            <p:cNvPr id="301" name="Google Shape;301;p25"/>
            <p:cNvCxnSpPr/>
            <p:nvPr/>
          </p:nvCxnSpPr>
          <p:spPr>
            <a:xfrm rot="10800000">
              <a:off x="6453675" y="3790300"/>
              <a:ext cx="808800" cy="4272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sp>
          <p:nvSpPr>
            <p:cNvPr id="302" name="Google Shape;302;p25"/>
            <p:cNvSpPr txBox="1"/>
            <p:nvPr/>
          </p:nvSpPr>
          <p:spPr>
            <a:xfrm>
              <a:off x="7262475" y="3926650"/>
              <a:ext cx="1027200" cy="663600"/>
            </a:xfrm>
            <a:prstGeom prst="rect">
              <a:avLst/>
            </a:prstGeom>
            <a:solidFill>
              <a:srgbClr val="FCE5CD"/>
            </a:solidFill>
            <a:ln cap="flat" cmpd="sng" w="19050">
              <a:solidFill>
                <a:schemeClr val="accent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l" sz="1600" u="none" cap="none" strike="noStrike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Why not </a:t>
              </a:r>
              <a:r>
                <a:rPr b="1" i="0" lang="el" sz="1600" u="none" cap="none" strike="noStrike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rPr>
                <a:t>256</a:t>
              </a:r>
              <a:r>
                <a:rPr b="0" i="0" lang="el" sz="1600" u="none" cap="none" strike="noStrike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?</a:t>
              </a:r>
              <a:endPara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Why not 256?</a:t>
            </a:r>
            <a:endParaRPr/>
          </a:p>
        </p:txBody>
      </p:sp>
      <p:sp>
        <p:nvSpPr>
          <p:cNvPr id="308" name="Google Shape;308;p26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“All zeros” → Used for network definition.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Hence, this is not an available host address.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“All ones” → Broadcast address.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Hence, this is not an available host address.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Now, 2 ^ 8 - 2 = 256 - 2 = </a:t>
            </a:r>
            <a:r>
              <a:rPr b="1" lang="el">
                <a:solidFill>
                  <a:schemeClr val="dk1"/>
                </a:solidFill>
              </a:rPr>
              <a:t>254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Calculate on your own: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For the following IPv4, which are the network, host, and broadcast addresses (assume a /24 subnet mask):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192.168.10.15</a:t>
            </a:r>
            <a:endParaRPr/>
          </a:p>
        </p:txBody>
      </p:sp>
      <p:sp>
        <p:nvSpPr>
          <p:cNvPr id="309" name="Google Shape;309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Tips and Tricks</a:t>
            </a:r>
            <a:endParaRPr/>
          </a:p>
        </p:txBody>
      </p:sp>
      <p:sp>
        <p:nvSpPr>
          <p:cNvPr id="315" name="Google Shape;315;p27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Is number (binary) 1011110101110101101001110001 even or odd?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Odd → since it ends with 1.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Is number (binary) 1111010111010110100111000100 even or odd?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Even → since it ends with 0.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Is a </a:t>
            </a:r>
            <a:r>
              <a:rPr b="1" lang="el"/>
              <a:t>broadcast</a:t>
            </a:r>
            <a:r>
              <a:rPr lang="el"/>
              <a:t> </a:t>
            </a:r>
            <a:r>
              <a:rPr b="1" lang="el"/>
              <a:t>address</a:t>
            </a:r>
            <a:r>
              <a:rPr lang="el"/>
              <a:t> even or odd?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Odd, since it always ends with ones.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Is the </a:t>
            </a:r>
            <a:r>
              <a:rPr b="1" lang="el"/>
              <a:t>last usable host address</a:t>
            </a:r>
            <a:r>
              <a:rPr lang="el"/>
              <a:t> even or odd?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Even, since it always is the </a:t>
            </a:r>
            <a:r>
              <a:rPr b="1" lang="el"/>
              <a:t>broadcast address minus 1</a:t>
            </a:r>
            <a:r>
              <a:rPr lang="el"/>
              <a:t>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Is the </a:t>
            </a:r>
            <a:r>
              <a:rPr b="1" lang="el"/>
              <a:t>network address</a:t>
            </a:r>
            <a:r>
              <a:rPr lang="el"/>
              <a:t> even or odd?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Even, since it always ends with zeros.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Is the </a:t>
            </a:r>
            <a:r>
              <a:rPr b="1" lang="el"/>
              <a:t>first usable host address</a:t>
            </a:r>
            <a:r>
              <a:rPr lang="el"/>
              <a:t> even or odd?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Odd, since it always is the </a:t>
            </a:r>
            <a:r>
              <a:rPr b="1" lang="el"/>
              <a:t>network address plus 1</a:t>
            </a:r>
            <a:r>
              <a:rPr lang="el"/>
              <a:t>.</a:t>
            </a:r>
            <a:endParaRPr/>
          </a:p>
        </p:txBody>
      </p:sp>
      <p:sp>
        <p:nvSpPr>
          <p:cNvPr id="316" name="Google Shape;316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More Tips and Tricks</a:t>
            </a:r>
            <a:endParaRPr/>
          </a:p>
        </p:txBody>
      </p:sp>
      <p:sp>
        <p:nvSpPr>
          <p:cNvPr id="322" name="Google Shape;322;p28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Is this a valid subnet mask?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255.127.0.0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Convert it to binary: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11111111.01111111.00000000.00000000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No, this is not valid! Subnet masks start with “ones” and end with “zeros”!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in decimal, the only odd number that can appear in decimal is 255 (elaborate on that and make sure you understand why!)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many numbers are there between 4 and 10? (both inclusive)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Seven! (7)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many numbers are there between 0 and 6? (both inclusive)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Seven! (7)</a:t>
            </a:r>
            <a:endParaRPr/>
          </a:p>
        </p:txBody>
      </p:sp>
      <p:sp>
        <p:nvSpPr>
          <p:cNvPr id="323" name="Google Shape;323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More on IPv4</a:t>
            </a:r>
            <a:endParaRPr/>
          </a:p>
        </p:txBody>
      </p:sp>
      <p:sp>
        <p:nvSpPr>
          <p:cNvPr id="329" name="Google Shape;329;p29"/>
          <p:cNvSpPr txBox="1"/>
          <p:nvPr>
            <p:ph idx="1" type="body"/>
          </p:nvPr>
        </p:nvSpPr>
        <p:spPr>
          <a:xfrm>
            <a:off x="729450" y="1378000"/>
            <a:ext cx="76887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Transmission: Uni-, Multi-, and Broad-cast.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Alice lives on a network and wants to communicate with Bob. She needs his </a:t>
            </a:r>
            <a:r>
              <a:rPr b="1" lang="el"/>
              <a:t>public address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Public IPv4: Unique identifier that allows direct access to a host.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Who keeps them? </a:t>
            </a:r>
            <a:r>
              <a:rPr lang="el" u="sng">
                <a:solidFill>
                  <a:schemeClr val="hlink"/>
                </a:solidFill>
                <a:hlinkClick r:id="rId3"/>
              </a:rPr>
              <a:t>IANA</a:t>
            </a:r>
            <a:r>
              <a:rPr lang="el"/>
              <a:t> (Internet Assigned Numbers Authority)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There are also 5 RIR (Regional Internet Registries).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Private IPv4 addresses (local, non-unique, change over time).</a:t>
            </a:r>
            <a:endParaRPr/>
          </a:p>
        </p:txBody>
      </p:sp>
      <p:sp>
        <p:nvSpPr>
          <p:cNvPr id="330" name="Google Shape;330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IPv4: Private IP</a:t>
            </a:r>
            <a:endParaRPr/>
          </a:p>
        </p:txBody>
      </p:sp>
      <p:sp>
        <p:nvSpPr>
          <p:cNvPr id="336" name="Google Shape;336;p30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Most common private ranges: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10.0.0.0 – 10.255.255.255 (10.0.0.0/8)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172.16.0.0 – 172.31.255.255 (172.16.0.0/12)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192.168.0.0 – 192.168.255.255 (192.168.0.0/16)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127.0.0.0/8 → Local host (“me”).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APIPA (Automatic Private IP Addressing):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169.254.1.0 – 169.254.254.255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More elegantly: 169.254.0.0/16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 device allocates this to itself when it does not receive a response from a DHCP server.</a:t>
            </a:r>
            <a:endParaRPr/>
          </a:p>
        </p:txBody>
      </p:sp>
      <p:sp>
        <p:nvSpPr>
          <p:cNvPr id="337" name="Google Shape;337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NAT, PAT, and… Trap</a:t>
            </a:r>
            <a:endParaRPr/>
          </a:p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Network Address Translation (NAT):</a:t>
            </a:r>
            <a:r>
              <a:rPr lang="el"/>
              <a:t> Converts private to public IPv4 (e.g., through a firewall or other devices).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Port Address Translation (PAT):</a:t>
            </a:r>
            <a:r>
              <a:rPr lang="el"/>
              <a:t> Converts </a:t>
            </a:r>
            <a:r>
              <a:rPr b="1" lang="el">
                <a:solidFill>
                  <a:schemeClr val="dk1"/>
                </a:solidFill>
              </a:rPr>
              <a:t>many</a:t>
            </a:r>
            <a:r>
              <a:rPr lang="el"/>
              <a:t> private IP </a:t>
            </a:r>
            <a:r>
              <a:rPr b="1" lang="el">
                <a:solidFill>
                  <a:schemeClr val="accent3"/>
                </a:solidFill>
              </a:rPr>
              <a:t>to one</a:t>
            </a:r>
            <a:r>
              <a:rPr lang="el"/>
              <a:t> public IP.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many IP are there?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256 * 256 * 256 * 256 = 2 ^ 32 = 4,294,967,296 ~ 4 billion.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many people are there?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At the moment, </a:t>
            </a:r>
            <a:r>
              <a:rPr lang="el" u="sng">
                <a:solidFill>
                  <a:schemeClr val="hlink"/>
                </a:solidFill>
                <a:hlinkClick r:id="rId3"/>
              </a:rPr>
              <a:t>roughly 8 billion</a:t>
            </a:r>
            <a:r>
              <a:rPr lang="el"/>
              <a:t>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IP depletion → Not enough IP for all of us.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to solve this problem?</a:t>
            </a:r>
            <a:endParaRPr/>
          </a:p>
        </p:txBody>
      </p:sp>
      <p:sp>
        <p:nvSpPr>
          <p:cNvPr id="344" name="Google Shape;344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IPv6</a:t>
            </a:r>
            <a:endParaRPr/>
          </a:p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5955875" y="1348500"/>
            <a:ext cx="2961000" cy="3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Like IPv4, just better.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340,000,000,000,000,000,000,000,000,000,000,000,000 addresses (340 + 36 zeros).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No need for NAT, Integrated security and many goods with IPv6.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IPv6 Packet Header (40 Bytes), 16 Bytes for addresses.</a:t>
            </a:r>
            <a:endParaRPr/>
          </a:p>
        </p:txBody>
      </p:sp>
      <p:sp>
        <p:nvSpPr>
          <p:cNvPr id="351" name="Google Shape;351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352" name="Google Shape;3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250" y="1348500"/>
            <a:ext cx="5301150" cy="3794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Examples</a:t>
            </a:r>
            <a:endParaRPr/>
          </a:p>
        </p:txBody>
      </p:sp>
      <p:sp>
        <p:nvSpPr>
          <p:cNvPr id="358" name="Google Shape;358;p33"/>
          <p:cNvSpPr txBox="1"/>
          <p:nvPr>
            <p:ph idx="1" type="body"/>
          </p:nvPr>
        </p:nvSpPr>
        <p:spPr>
          <a:xfrm>
            <a:off x="729450" y="1378000"/>
            <a:ext cx="76887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2001:0DB8:0000:1111:0000:0000:0000:0200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360" name="Google Shape;360;p33"/>
          <p:cNvSpPr/>
          <p:nvPr/>
        </p:nvSpPr>
        <p:spPr>
          <a:xfrm>
            <a:off x="5727050" y="1479700"/>
            <a:ext cx="480600" cy="236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4611000" y="1479700"/>
            <a:ext cx="241200" cy="236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5462900" y="1716100"/>
            <a:ext cx="1008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l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Section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" name="Google Shape;363;p33"/>
          <p:cNvSpPr txBox="1"/>
          <p:nvPr/>
        </p:nvSpPr>
        <p:spPr>
          <a:xfrm>
            <a:off x="4227150" y="1716100"/>
            <a:ext cx="1008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endParaRPr b="1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33"/>
          <p:cNvSpPr txBox="1"/>
          <p:nvPr/>
        </p:nvSpPr>
        <p:spPr>
          <a:xfrm>
            <a:off x="729450" y="2336000"/>
            <a:ext cx="7589700" cy="24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b="0" i="0" lang="el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8 sections of four hex digits each → 8 * 4 * 4 = 128 bits.</a:t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b="0" i="0" lang="el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Don’t use 2001:0DB8! (used in docs)</a:t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b="0" i="0" lang="el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 reality, IPv6 start with 2::/3 (001x xxxx xxxx xxxx xxxx:)</a:t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●"/>
            </a:pPr>
            <a:r>
              <a:rPr b="0" i="0" lang="el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Compressed formats:</a:t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○"/>
            </a:pPr>
            <a:r>
              <a:rPr b="0" i="0" lang="el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No leading zeros: </a:t>
            </a:r>
            <a:r>
              <a:rPr b="0" i="0" lang="el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2001:DB8:0:1111:0:0:0:200</a:t>
            </a:r>
            <a:endParaRPr b="0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○"/>
            </a:pPr>
            <a:r>
              <a:rPr b="0" i="0" lang="el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Compressed (v1): </a:t>
            </a:r>
            <a:r>
              <a:rPr b="0" i="0" lang="el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2001:DB8::1111:0:0:0:200</a:t>
            </a:r>
            <a:endParaRPr b="0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○"/>
            </a:pPr>
            <a:r>
              <a:rPr b="0" i="0" lang="el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Compressed (v2): </a:t>
            </a:r>
            <a:r>
              <a:rPr b="0" i="0" lang="el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2001:DB8:0:1111::200</a:t>
            </a:r>
            <a:endParaRPr b="0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○"/>
            </a:pPr>
            <a:r>
              <a:rPr b="0" i="0" lang="el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Use </a:t>
            </a:r>
            <a:r>
              <a:rPr b="0" i="0" lang="el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0" i="0" lang="el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only once! (But, why?)</a:t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○"/>
            </a:pPr>
            <a:r>
              <a:rPr b="0" i="0" lang="el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Try to read this to understand why: </a:t>
            </a:r>
            <a:r>
              <a:rPr b="0" i="0" lang="el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2001:DB8::1111::200</a:t>
            </a:r>
            <a:r>
              <a:rPr b="0" i="0" lang="el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IPv6 Particulars</a:t>
            </a:r>
            <a:endParaRPr/>
          </a:p>
        </p:txBody>
      </p:sp>
      <p:sp>
        <p:nvSpPr>
          <p:cNvPr id="370" name="Google Shape;370;p34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Transmission: Unicast and Multicast as with IPv4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Also </a:t>
            </a:r>
            <a:r>
              <a:rPr b="1" lang="el"/>
              <a:t>Anycast</a:t>
            </a:r>
            <a:r>
              <a:rPr lang="el"/>
              <a:t>, i.e., sharing with the first to answer.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For instance, you see a house on fire (not yours) and make a call to the Fire Brigade. Which of the following is more reasonable?</a:t>
            </a:r>
            <a:endParaRPr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“Hello, I would like to contact Ms Jane Doe for a certain incident at XYZ Street 123.”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“FIRE at XYZ Street 123!”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No broadcast!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Network prefix in IPv6: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Non-fixed length: anything between 0 and 128 bits.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Typically, /64.</a:t>
            </a:r>
            <a:endParaRPr/>
          </a:p>
        </p:txBody>
      </p:sp>
      <p:sp>
        <p:nvSpPr>
          <p:cNvPr id="371" name="Google Shape;371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ICMPv4 vs ICMPv6</a:t>
            </a:r>
            <a:endParaRPr/>
          </a:p>
        </p:txBody>
      </p:sp>
      <p:sp>
        <p:nvSpPr>
          <p:cNvPr id="377" name="Google Shape;377;p35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ICMP (Internet Control Messaging Protocol):</a:t>
            </a:r>
            <a:r>
              <a:rPr lang="el"/>
              <a:t> How to send error messages.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Similar messages for ICMPv4 and v6: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Host confirmation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Destination / Service Unreachable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Time exceeded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Route redirection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Ping: Send an echo packet (a packet that will be sent back once received) to make sure the target is there (much like poking someone to see if they are asleep).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Traceroute, the same except for error messages being shared by sender / target routers to identify a route.</a:t>
            </a:r>
            <a:endParaRPr/>
          </a:p>
        </p:txBody>
      </p:sp>
      <p:sp>
        <p:nvSpPr>
          <p:cNvPr id="378" name="Google Shape;378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today… 1 / n</a:t>
            </a:r>
            <a:endParaRPr/>
          </a:p>
        </p:txBody>
      </p:sp>
      <p:sp>
        <p:nvSpPr>
          <p:cNvPr id="384" name="Google Shape;384;p36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What do we mean by the term “connectionless communication”?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By the term connectionless communication we refer to a communication where no connection is being / has been established prior to two partners exchanging messages / data.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At which OSI layer does IP live in?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	Layer 3 (remember, it refers to logical addressing!)</a:t>
            </a:r>
            <a:endParaRPr/>
          </a:p>
        </p:txBody>
      </p:sp>
      <p:sp>
        <p:nvSpPr>
          <p:cNvPr id="385" name="Google Shape;385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today… 2 / n</a:t>
            </a:r>
            <a:endParaRPr/>
          </a:p>
        </p:txBody>
      </p:sp>
      <p:sp>
        <p:nvSpPr>
          <p:cNvPr id="391" name="Google Shape;391;p37"/>
          <p:cNvSpPr txBox="1"/>
          <p:nvPr>
            <p:ph idx="1" type="body"/>
          </p:nvPr>
        </p:nvSpPr>
        <p:spPr>
          <a:xfrm>
            <a:off x="729450" y="1378000"/>
            <a:ext cx="76887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Briefly describe the structure of an IPv4 header.</a:t>
            </a:r>
            <a:endParaRPr b="1"/>
          </a:p>
        </p:txBody>
      </p:sp>
      <p:sp>
        <p:nvSpPr>
          <p:cNvPr id="392" name="Google Shape;392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393" name="Google Shape;39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463" y="1936000"/>
            <a:ext cx="5969067" cy="27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today… 3 / n</a:t>
            </a:r>
            <a:endParaRPr/>
          </a:p>
        </p:txBody>
      </p:sp>
      <p:sp>
        <p:nvSpPr>
          <p:cNvPr id="399" name="Google Shape;399;p38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Convert the following IP from decimal to binary: 192.162.10.14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To convert the above, we convert each octet to its binary representation by repeatedly dividing by 2 and reading division moduli backwards. Thus, we get:</a:t>
            </a:r>
            <a:endParaRPr/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11000000.10100010.00001010.00001110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What are the network, host and broadcast addresses of 192.162.10.14/16?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/16 means we have a 16-bit (2 octet) subnet mask, i.e.: 255.255.0.0. AND-masking with that yields:</a:t>
            </a:r>
            <a:endParaRPr/>
          </a:p>
          <a:p>
            <a:pPr indent="-330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Network address: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11000000.10100010.00000000.00000000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l"/>
              <a:t>Host address: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 11000000.10100010.00001010.00001110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l"/>
              <a:t>Broadcast address: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 11000000.10100010.11111111.11111111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today… 4 / n</a:t>
            </a:r>
            <a:endParaRPr/>
          </a:p>
        </p:txBody>
      </p:sp>
      <p:sp>
        <p:nvSpPr>
          <p:cNvPr id="406" name="Google Shape;406;p39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Right or Wrong? IPv4 allows all three: unicast, multicast and broadcast.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	Right.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Right or Wrong? IPv4 allows all three: unicast, multicast and broadcast.	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b="1" lang="el"/>
              <a:t>	</a:t>
            </a:r>
            <a:r>
              <a:rPr lang="el"/>
              <a:t>Wrong. It does not allow broadcast. Instead, it allows for anycasting.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What is anycast?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Anycast is sharing a message with the first responder from a given set of target devices (i.e., we target anyone certain group).</a:t>
            </a:r>
            <a:endParaRPr/>
          </a:p>
        </p:txBody>
      </p:sp>
      <p:sp>
        <p:nvSpPr>
          <p:cNvPr id="407" name="Google Shape;407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today… 5 / n</a:t>
            </a:r>
            <a:endParaRPr/>
          </a:p>
        </p:txBody>
      </p:sp>
      <p:sp>
        <p:nvSpPr>
          <p:cNvPr id="413" name="Google Shape;413;p40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What are NAT and PAT?</a:t>
            </a:r>
            <a:endParaRPr b="1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Network Address Translation (NAT):</a:t>
            </a:r>
            <a:r>
              <a:rPr lang="el"/>
              <a:t> Converts private to public IPv4 (e.g., through a firewall or other devices).</a:t>
            </a:r>
            <a:endParaRPr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l"/>
              <a:t>Port Address Translation (PAT):</a:t>
            </a:r>
            <a:r>
              <a:rPr lang="el"/>
              <a:t> Converts </a:t>
            </a:r>
            <a:r>
              <a:rPr b="1" lang="el"/>
              <a:t>many</a:t>
            </a:r>
            <a:r>
              <a:rPr lang="el"/>
              <a:t> private IP </a:t>
            </a:r>
            <a:r>
              <a:rPr b="1" lang="el"/>
              <a:t>to one</a:t>
            </a:r>
            <a:r>
              <a:rPr lang="el"/>
              <a:t> public IP.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What are some typical ICMPv4/v6 messages?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	Some typical ICMPv4/v6 messages include:</a:t>
            </a:r>
            <a:endParaRPr/>
          </a:p>
          <a:p>
            <a:pPr indent="-330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Host confirmation</a:t>
            </a:r>
            <a:endParaRPr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Destination / Service Unreachable</a:t>
            </a:r>
            <a:endParaRPr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Time exceeded</a:t>
            </a:r>
            <a:endParaRPr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Route redirection</a:t>
            </a:r>
            <a:endParaRPr/>
          </a:p>
        </p:txBody>
      </p:sp>
      <p:sp>
        <p:nvSpPr>
          <p:cNvPr id="414" name="Google Shape;414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What we saw today… 6 / n</a:t>
            </a:r>
            <a:endParaRPr/>
          </a:p>
        </p:txBody>
      </p:sp>
      <p:sp>
        <p:nvSpPr>
          <p:cNvPr id="420" name="Google Shape;420;p41"/>
          <p:cNvSpPr txBox="1"/>
          <p:nvPr>
            <p:ph idx="1" type="body"/>
          </p:nvPr>
        </p:nvSpPr>
        <p:spPr>
          <a:xfrm>
            <a:off x="729450" y="13780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Briefly compare IPv6 and IPv4 packet headers.</a:t>
            </a:r>
            <a:endParaRPr b="1"/>
          </a:p>
        </p:txBody>
      </p:sp>
      <p:sp>
        <p:nvSpPr>
          <p:cNvPr id="421" name="Google Shape;421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422" name="Google Shape;42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4725" y="1808851"/>
            <a:ext cx="4658149" cy="333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Homework</a:t>
            </a:r>
            <a:endParaRPr/>
          </a:p>
        </p:txBody>
      </p:sp>
      <p:sp>
        <p:nvSpPr>
          <p:cNvPr id="428" name="Google Shape;428;p42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Study the following Wikipedia Lemma on IPv6: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https://en.wikipedia.org/wiki/IPv6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Based on that and </a:t>
            </a:r>
            <a:r>
              <a:rPr b="1" lang="el"/>
              <a:t>at least two</a:t>
            </a:r>
            <a:r>
              <a:rPr lang="el"/>
              <a:t> more independent resources, provide a 400-600 words essay comparing IPv4 and IPv6 on various axes (make your own meaningful choices).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Share your essays at: v.markos@mc-class.gr</a:t>
            </a:r>
            <a:endParaRPr/>
          </a:p>
        </p:txBody>
      </p:sp>
      <p:sp>
        <p:nvSpPr>
          <p:cNvPr id="429" name="Google Shape;429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Fun Time!</a:t>
            </a:r>
            <a:endParaRPr/>
          </a:p>
        </p:txBody>
      </p:sp>
      <p:sp>
        <p:nvSpPr>
          <p:cNvPr id="435" name="Google Shape;435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Pen and Paper</a:t>
            </a:r>
            <a:endParaRPr/>
          </a:p>
        </p:txBody>
      </p:sp>
      <p:sp>
        <p:nvSpPr>
          <p:cNvPr id="441" name="Google Shape;441;p4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Open your notebook or a blank sheet of paper.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Open ‘Derby Stuff &gt; Lab &gt; Week 7 Lab 1 Converting IPv4 Addresses to Binary_MC_2023.pdf’ and have fun!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Let’s check some stuff all together…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Open ‘Derby Stuff &gt; Lab &gt; Week 7 Lab 1 Converting IPv4 Addresses to Binary_MC_2023.pdf’ and have more fun!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Let’s check some stuff all together again…</a:t>
            </a:r>
            <a:endParaRPr/>
          </a:p>
        </p:txBody>
      </p:sp>
      <p:sp>
        <p:nvSpPr>
          <p:cNvPr id="442" name="Google Shape;442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Really interesting materials</a:t>
            </a:r>
            <a:endParaRPr/>
          </a:p>
        </p:txBody>
      </p:sp>
      <p:sp>
        <p:nvSpPr>
          <p:cNvPr id="448" name="Google Shape;448;p4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Check out this youtube playlist: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u="sng">
                <a:solidFill>
                  <a:schemeClr val="hlink"/>
                </a:solidFill>
                <a:hlinkClick r:id="rId3"/>
              </a:rPr>
              <a:t>https://www.youtube.com/watch?v=nlKu93Gb6GQ&amp;list=PLvUOx2WG6R7PlKlERb5zceXxHfC4P7gJn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Many projects that will look like your final assignment!</a:t>
            </a:r>
            <a:endParaRPr/>
          </a:p>
        </p:txBody>
      </p:sp>
      <p:sp>
        <p:nvSpPr>
          <p:cNvPr id="449" name="Google Shape;449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(Reminder) NetAcad Courses</a:t>
            </a:r>
            <a:endParaRPr/>
          </a:p>
        </p:txBody>
      </p:sp>
      <p:sp>
        <p:nvSpPr>
          <p:cNvPr id="455" name="Google Shape;455;p46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sz="1500"/>
              <a:t>In the “Download Packet Tracer” page, above the “Download” section, you can find </a:t>
            </a:r>
            <a:r>
              <a:rPr b="1" lang="el" sz="1500"/>
              <a:t>three interesting courses</a:t>
            </a:r>
            <a:r>
              <a:rPr lang="el" sz="1500"/>
              <a:t> (</a:t>
            </a:r>
            <a:r>
              <a:rPr i="1" lang="el" sz="1500"/>
              <a:t>interesting course:</a:t>
            </a:r>
            <a:r>
              <a:rPr lang="el" sz="1500"/>
              <a:t> </a:t>
            </a:r>
            <a:r>
              <a:rPr i="1" lang="el" sz="1500"/>
              <a:t>a course is characterised as “interesting” to inform someone that they should take it, without telling them to do so directly</a:t>
            </a:r>
            <a:r>
              <a:rPr lang="el" sz="1500"/>
              <a:t>):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l" sz="1500" u="sng">
                <a:solidFill>
                  <a:schemeClr val="hlink"/>
                </a:solidFill>
                <a:hlinkClick r:id="rId3"/>
              </a:rPr>
              <a:t>Getting Started with Cisco Packet Tracer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 u="sng">
                <a:solidFill>
                  <a:schemeClr val="hlink"/>
                </a:solidFill>
                <a:hlinkClick r:id="rId4"/>
              </a:rPr>
              <a:t>Exploring Networking with Cisco Packet Tracer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 u="sng">
                <a:solidFill>
                  <a:schemeClr val="hlink"/>
                </a:solidFill>
                <a:hlinkClick r:id="rId5"/>
              </a:rPr>
              <a:t>Exploring IoT with Cisco Packet Tracer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 sz="1500"/>
              <a:t>Also interesting is the following NetAcad course: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l" sz="1500" u="sng">
                <a:solidFill>
                  <a:schemeClr val="hlink"/>
                </a:solidFill>
                <a:hlinkClick r:id="rId6"/>
              </a:rPr>
              <a:t>Network Technician</a:t>
            </a:r>
            <a:endParaRPr sz="1500"/>
          </a:p>
        </p:txBody>
      </p:sp>
      <p:sp>
        <p:nvSpPr>
          <p:cNvPr id="456" name="Google Shape;456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l"/>
              <a:t>Any Questions?</a:t>
            </a:r>
            <a:endParaRPr/>
          </a:p>
        </p:txBody>
      </p:sp>
      <p:sp>
        <p:nvSpPr>
          <p:cNvPr id="462" name="Google Shape;462;p4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Don’t forget to fill-in the questionnaire! (look right)</a:t>
            </a:r>
            <a:endParaRPr/>
          </a:p>
        </p:txBody>
      </p:sp>
      <p:sp>
        <p:nvSpPr>
          <p:cNvPr id="463" name="Google Shape;463;p47"/>
          <p:cNvSpPr txBox="1"/>
          <p:nvPr/>
        </p:nvSpPr>
        <p:spPr>
          <a:xfrm>
            <a:off x="4749150" y="3960900"/>
            <a:ext cx="43098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l" sz="1600" u="sng" cap="none" strike="noStrike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https://forms.gle/6q2tuByroaan8kWH8</a:t>
            </a:r>
            <a:endParaRPr b="1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4" name="Google Shape;464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465" name="Google Shape;465;p47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8600" y="11430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